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4" r:id="rId1"/>
  </p:sldMasterIdLst>
  <p:sldIdLst>
    <p:sldId id="256" r:id="rId2"/>
    <p:sldId id="257" r:id="rId3"/>
    <p:sldId id="258" r:id="rId4"/>
    <p:sldId id="279" r:id="rId5"/>
    <p:sldId id="287" r:id="rId6"/>
    <p:sldId id="288" r:id="rId7"/>
    <p:sldId id="289" r:id="rId8"/>
    <p:sldId id="290" r:id="rId9"/>
    <p:sldId id="308" r:id="rId10"/>
    <p:sldId id="291" r:id="rId11"/>
    <p:sldId id="292" r:id="rId12"/>
    <p:sldId id="293" r:id="rId13"/>
    <p:sldId id="294" r:id="rId14"/>
    <p:sldId id="295" r:id="rId15"/>
    <p:sldId id="296" r:id="rId16"/>
    <p:sldId id="297" r:id="rId17"/>
    <p:sldId id="298" r:id="rId18"/>
    <p:sldId id="299" r:id="rId19"/>
    <p:sldId id="300" r:id="rId20"/>
    <p:sldId id="301" r:id="rId21"/>
    <p:sldId id="302" r:id="rId22"/>
    <p:sldId id="303" r:id="rId23"/>
    <p:sldId id="259" r:id="rId24"/>
    <p:sldId id="260" r:id="rId25"/>
    <p:sldId id="261" r:id="rId26"/>
    <p:sldId id="262" r:id="rId27"/>
    <p:sldId id="263" r:id="rId28"/>
    <p:sldId id="264" r:id="rId29"/>
    <p:sldId id="265" r:id="rId30"/>
    <p:sldId id="266" r:id="rId31"/>
    <p:sldId id="267" r:id="rId32"/>
    <p:sldId id="268" r:id="rId33"/>
    <p:sldId id="269" r:id="rId34"/>
    <p:sldId id="270" r:id="rId35"/>
    <p:sldId id="271" r:id="rId36"/>
    <p:sldId id="272" r:id="rId37"/>
    <p:sldId id="273" r:id="rId38"/>
    <p:sldId id="274" r:id="rId39"/>
    <p:sldId id="275" r:id="rId40"/>
    <p:sldId id="276" r:id="rId41"/>
    <p:sldId id="277" r:id="rId42"/>
    <p:sldId id="278" r:id="rId43"/>
    <p:sldId id="280" r:id="rId44"/>
    <p:sldId id="281" r:id="rId45"/>
    <p:sldId id="304" r:id="rId46"/>
    <p:sldId id="305" r:id="rId47"/>
    <p:sldId id="306" r:id="rId48"/>
    <p:sldId id="307" r:id="rId49"/>
    <p:sldId id="310" r:id="rId50"/>
    <p:sldId id="282" r:id="rId51"/>
    <p:sldId id="283" r:id="rId52"/>
    <p:sldId id="284" r:id="rId53"/>
    <p:sldId id="285" r:id="rId54"/>
    <p:sldId id="286" r:id="rId55"/>
    <p:sldId id="309" r:id="rId56"/>
    <p:sldId id="311" r:id="rId57"/>
    <p:sldId id="312" r:id="rId58"/>
    <p:sldId id="313" r:id="rId59"/>
    <p:sldId id="314" r:id="rId60"/>
    <p:sldId id="315" r:id="rId61"/>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8" d="100"/>
          <a:sy n="38" d="100"/>
        </p:scale>
        <p:origin x="48" y="9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lvl1pPr algn="l">
              <a:defRPr>
                <a:solidFill>
                  <a:schemeClr val="bg1"/>
                </a:solidFill>
              </a:defRPr>
            </a:lvl1pPr>
          </a:lstStyle>
          <a:p>
            <a:pPr indent="0">
              <a:buNone/>
            </a:pPr>
            <a:endParaRPr lang="en-US" sz="1800" b="0" strike="noStrike" spc="-1" dirty="0">
              <a:solidFill>
                <a:schemeClr val="dk1"/>
              </a:solidFill>
              <a:latin typeface="Open Sans Condensed"/>
            </a:endParaRPr>
          </a:p>
        </p:txBody>
      </p:sp>
      <p:sp>
        <p:nvSpPr>
          <p:cNvPr id="22"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lvl1pPr>
              <a:defRPr>
                <a:solidFill>
                  <a:schemeClr val="bg1"/>
                </a:solidFill>
              </a:defRPr>
            </a:lvl1pPr>
          </a:lstStyle>
          <a:p>
            <a:pPr indent="0">
              <a:lnSpc>
                <a:spcPct val="90000"/>
              </a:lnSpc>
              <a:spcBef>
                <a:spcPts val="1417"/>
              </a:spcBef>
              <a:buNone/>
            </a:pPr>
            <a:endParaRPr lang="en-US" sz="2800" b="0" strike="noStrike" spc="-1" dirty="0">
              <a:solidFill>
                <a:schemeClr val="lt1"/>
              </a:solidFill>
              <a:latin typeface="Open Sans Condensed"/>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DAB03601-DE62-4881-8930-6F75D3EEC746}"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dirty="0">
                <a:solidFill>
                  <a:schemeClr val="lt1"/>
                </a:solidFill>
                <a:latin typeface="Open Sans Condensed"/>
              </a:rPr>
              <a:t>Click to edit Master title style</a:t>
            </a:r>
            <a:endParaRPr lang="en-US" sz="4400" b="0" strike="noStrike" spc="-1" dirty="0">
              <a:solidFill>
                <a:schemeClr val="dk1"/>
              </a:solidFill>
              <a:latin typeface="Open Sans Condensed"/>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Edit Master text styles</a:t>
            </a:r>
          </a:p>
          <a:p>
            <a:pPr marL="685800" lvl="1" indent="-228600" algn="just" defTabSz="914400">
              <a:lnSpc>
                <a:spcPct val="90000"/>
              </a:lnSpc>
              <a:spcBef>
                <a:spcPts val="499"/>
              </a:spcBef>
              <a:buClr>
                <a:srgbClr val="FFFFFF"/>
              </a:buClr>
              <a:buFont typeface="Arial"/>
              <a:buChar char="•"/>
            </a:pPr>
            <a:r>
              <a:rPr lang="en-US" sz="2400" b="0" strike="noStrike" spc="-1" dirty="0">
                <a:solidFill>
                  <a:schemeClr val="lt1"/>
                </a:solidFill>
                <a:latin typeface="Open Sans Condensed"/>
              </a:rPr>
              <a:t>Second level</a:t>
            </a:r>
          </a:p>
          <a:p>
            <a:pPr marL="1143000" lvl="2" indent="-228600" algn="just" defTabSz="914400">
              <a:lnSpc>
                <a:spcPct val="90000"/>
              </a:lnSpc>
              <a:spcBef>
                <a:spcPts val="499"/>
              </a:spcBef>
              <a:buClr>
                <a:srgbClr val="FFFFFF"/>
              </a:buClr>
              <a:buFont typeface="Arial"/>
              <a:buChar char="•"/>
            </a:pPr>
            <a:r>
              <a:rPr lang="en-US" sz="2000" b="0" strike="noStrike" spc="-1" dirty="0">
                <a:solidFill>
                  <a:schemeClr val="lt1"/>
                </a:solidFill>
                <a:latin typeface="Open Sans Condensed"/>
              </a:rPr>
              <a:t>Third level</a:t>
            </a:r>
          </a:p>
          <a:p>
            <a:pPr marL="1600200" lvl="3" indent="-228600" algn="just" defTabSz="914400">
              <a:lnSpc>
                <a:spcPct val="90000"/>
              </a:lnSpc>
              <a:spcBef>
                <a:spcPts val="499"/>
              </a:spcBef>
              <a:buClr>
                <a:srgbClr val="FFFFFF"/>
              </a:buClr>
              <a:buFont typeface="Arial"/>
              <a:buChar char="•"/>
            </a:pPr>
            <a:r>
              <a:rPr lang="en-US" sz="1800" b="0" strike="noStrike" spc="-1" dirty="0">
                <a:solidFill>
                  <a:schemeClr val="lt1"/>
                </a:solidFill>
                <a:latin typeface="Open Sans Condensed"/>
              </a:rPr>
              <a:t>Fourth level</a:t>
            </a:r>
          </a:p>
          <a:p>
            <a:pPr marL="2057400" lvl="4" indent="-228600" algn="just" defTabSz="914400">
              <a:lnSpc>
                <a:spcPct val="90000"/>
              </a:lnSpc>
              <a:spcBef>
                <a:spcPts val="499"/>
              </a:spcBef>
              <a:buClr>
                <a:srgbClr val="FFFFFF"/>
              </a:buClr>
              <a:buFont typeface="Arial"/>
              <a:buChar char="•"/>
            </a:pPr>
            <a:r>
              <a:rPr lang="en-US" sz="1800" b="0" strike="noStrike" spc="-1" dirty="0">
                <a:solidFill>
                  <a:schemeClr val="lt1"/>
                </a:solidFill>
                <a:latin typeface="Open Sans Condensed"/>
              </a:rPr>
              <a:t>Fifth level</a:t>
            </a: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Open Sans Condensed"/>
              </a:defRPr>
            </a:lvl1pPr>
          </a:lstStyle>
          <a:p>
            <a:pPr indent="0" defTabSz="914400">
              <a:lnSpc>
                <a:spcPct val="100000"/>
              </a:lnSpc>
              <a:buNone/>
            </a:pPr>
            <a:r>
              <a:rPr lang="en-US" sz="1200" b="0" strike="noStrike" spc="-1">
                <a:solidFill>
                  <a:schemeClr val="dk1">
                    <a:tint val="75000"/>
                  </a:schemeClr>
                </a:solidFill>
                <a:latin typeface="Open Sans Condensed"/>
              </a:rPr>
              <a:t>&lt;date/time&gt;</a:t>
            </a:r>
            <a:endParaRPr lang="en-US" sz="1200" b="0" strike="noStrike" spc="-1">
              <a:solidFill>
                <a:srgbClr val="FFFFFF"/>
              </a:solidFill>
              <a:latin typeface="Times New Roman"/>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Open Sans Condensed"/>
              </a:defRPr>
            </a:lvl1pPr>
          </a:lstStyle>
          <a:p>
            <a:pPr indent="0" algn="r" defTabSz="914400">
              <a:lnSpc>
                <a:spcPct val="100000"/>
              </a:lnSpc>
              <a:buNone/>
            </a:pPr>
            <a:fld id="{B134E924-715A-4E33-AB18-5BCCF4C10A1B}" type="slidenum">
              <a:rPr lang="en-US" sz="1200" b="0" strike="noStrike" spc="-1">
                <a:solidFill>
                  <a:schemeClr val="dk1">
                    <a:tint val="75000"/>
                  </a:schemeClr>
                </a:solidFill>
                <a:latin typeface="Open Sans Condensed"/>
              </a:rPr>
              <a:t>‹#›</a:t>
            </a:fld>
            <a:endParaRPr lang="en-US" sz="12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hyperlink" Target="https://aiml.com/what-is-a-multilayer-perceptron-mlp/" TargetMode="Externa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endParaRPr lang="en-US" sz="4400" b="0" strike="noStrike" spc="-1" dirty="0">
              <a:solidFill>
                <a:schemeClr val="dk1"/>
              </a:solidFill>
              <a:latin typeface="Open Sans Condensed"/>
            </a:endParaRPr>
          </a:p>
        </p:txBody>
      </p:sp>
      <p:sp>
        <p:nvSpPr>
          <p:cNvPr id="66" name="PlaceHolder 2"/>
          <p:cNvSpPr>
            <a:spLocks noGrp="1"/>
          </p:cNvSpPr>
          <p:nvPr>
            <p:ph/>
          </p:nvPr>
        </p:nvSpPr>
        <p:spPr>
          <a:prstGeom prst="rect">
            <a:avLst/>
          </a:prstGeom>
          <a:noFill/>
          <a:ln w="0">
            <a:noFill/>
          </a:ln>
        </p:spPr>
        <p:txBody>
          <a:bodyPr lIns="91440" tIns="45720" rIns="91440" bIns="45720" anchor="t">
            <a:noAutofit/>
          </a:bodyPr>
          <a:lstStyle/>
          <a:p>
            <a:pPr indent="0" algn="just" defTabSz="914400">
              <a:lnSpc>
                <a:spcPct val="90000"/>
              </a:lnSpc>
              <a:spcBef>
                <a:spcPts val="1001"/>
              </a:spcBef>
              <a:buNone/>
              <a:tabLst>
                <a:tab pos="0" algn="l"/>
              </a:tabLst>
            </a:pPr>
            <a:endParaRPr lang="en-US" sz="2800" b="0" strike="noStrike" spc="-1" dirty="0">
              <a:solidFill>
                <a:schemeClr val="lt1"/>
              </a:solidFill>
              <a:latin typeface="Open Sans Condense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endParaRPr lang="en-US" sz="4400" b="0" strike="noStrike" spc="-1" dirty="0">
              <a:solidFill>
                <a:schemeClr val="dk1"/>
              </a:solidFill>
              <a:latin typeface="Open Sans Condensed"/>
            </a:endParaRPr>
          </a:p>
        </p:txBody>
      </p:sp>
      <p:sp>
        <p:nvSpPr>
          <p:cNvPr id="68" name="PlaceHolder 2"/>
          <p:cNvSpPr>
            <a:spLocks noGrp="1"/>
          </p:cNvSpPr>
          <p:nvPr>
            <p:ph/>
          </p:nvPr>
        </p:nvSpPr>
        <p:spPr>
          <a:prstGeom prst="rect">
            <a:avLst/>
          </a:prstGeom>
          <a:noFill/>
          <a:ln w="0">
            <a:noFill/>
          </a:ln>
        </p:spPr>
        <p:txBody>
          <a:bodyPr lIns="91440" tIns="45720" rIns="91440" bIns="45720" anchor="t">
            <a:noAutofit/>
          </a:bodyPr>
          <a:lstStyle/>
          <a:p>
            <a:pPr marL="514440" indent="-514440" algn="just" defTabSz="914400">
              <a:lnSpc>
                <a:spcPct val="90000"/>
              </a:lnSpc>
              <a:spcBef>
                <a:spcPts val="1001"/>
              </a:spcBef>
              <a:buClr>
                <a:srgbClr val="FFFFFF"/>
              </a:buClr>
              <a:buFont typeface="Open Sans Condensed"/>
              <a:buAutoNum type="arabicPeriod"/>
            </a:pPr>
            <a:endParaRPr lang="en-US" sz="2800" b="0" strike="noStrike" spc="-1" dirty="0">
              <a:solidFill>
                <a:schemeClr val="lt1"/>
              </a:solidFill>
              <a:latin typeface="Open Sans Condense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endParaRPr lang="en-US" sz="4400" b="0" strike="noStrike" spc="-1" dirty="0">
              <a:solidFill>
                <a:schemeClr val="dk1"/>
              </a:solidFill>
              <a:latin typeface="Open Sans Condensed"/>
            </a:endParaRPr>
          </a:p>
        </p:txBody>
      </p:sp>
      <p:sp>
        <p:nvSpPr>
          <p:cNvPr id="70" name="PlaceHolder 2"/>
          <p:cNvSpPr>
            <a:spLocks noGrp="1"/>
          </p:cNvSpPr>
          <p:nvPr>
            <p:ph/>
          </p:nvPr>
        </p:nvSpPr>
        <p:spPr>
          <a:prstGeom prst="rect">
            <a:avLst/>
          </a:prstGeom>
          <a:noFill/>
          <a:ln w="0">
            <a:noFill/>
          </a:ln>
        </p:spPr>
        <p:txBody>
          <a:bodyPr lIns="91440" tIns="45720" rIns="91440" bIns="45720" anchor="t">
            <a:noAutofit/>
          </a:bodyPr>
          <a:lstStyle/>
          <a:p>
            <a:pPr marL="514440" indent="-514440" algn="just" defTabSz="914400">
              <a:lnSpc>
                <a:spcPct val="90000"/>
              </a:lnSpc>
              <a:spcBef>
                <a:spcPts val="1001"/>
              </a:spcBef>
              <a:buClr>
                <a:srgbClr val="FFFFFF"/>
              </a:buClr>
              <a:buFont typeface="Open Sans Condensed"/>
              <a:buAutoNum type="arabicPeriod"/>
            </a:pPr>
            <a:endParaRPr lang="en-US" sz="2800" b="0" strike="noStrike" spc="-1" dirty="0">
              <a:solidFill>
                <a:schemeClr val="lt1"/>
              </a:solidFill>
              <a:latin typeface="Open Sans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A3B18-8E88-6E39-F932-E085DCD2A65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E6FAA7D-8DE7-6905-E1AB-BC94CBF11263}"/>
              </a:ext>
            </a:extLst>
          </p:cNvPr>
          <p:cNvSpPr>
            <a:spLocks noGrp="1"/>
          </p:cNvSpPr>
          <p:nvPr>
            <p:ph/>
          </p:nvPr>
        </p:nvSpPr>
        <p:spPr/>
        <p:txBody>
          <a:bodyPr>
            <a:normAutofit/>
          </a:bodyPr>
          <a:lstStyle/>
          <a:p>
            <a:r>
              <a:rPr lang="en-US" dirty="0"/>
              <a:t>The main purpose of univariate analysis is to describe the data and find patterns that exist within it.</a:t>
            </a:r>
          </a:p>
          <a:p>
            <a:r>
              <a:rPr lang="en-US" dirty="0"/>
              <a:t>it doesn’t deal with causes or relationships</a:t>
            </a:r>
          </a:p>
          <a:p>
            <a:r>
              <a:rPr lang="en-US" dirty="0"/>
              <a:t>Stem-and-leaf plots, which show all data values and the shape of the distribution.</a:t>
            </a:r>
          </a:p>
          <a:p>
            <a:r>
              <a:rPr lang="en-US" dirty="0"/>
              <a:t>Histograms, a bar plot in which each bar represents the frequency (count) or proportion (count/total count) of cases for a range of values.</a:t>
            </a:r>
          </a:p>
          <a:p>
            <a:r>
              <a:rPr lang="en-US" dirty="0"/>
              <a:t>Box plots, which graphically depict the five-number summary of minimum, first quartile, median, third quartile, and maximum.</a:t>
            </a:r>
          </a:p>
        </p:txBody>
      </p:sp>
    </p:spTree>
    <p:extLst>
      <p:ext uri="{BB962C8B-B14F-4D97-AF65-F5344CB8AC3E}">
        <p14:creationId xmlns:p14="http://schemas.microsoft.com/office/powerpoint/2010/main" val="3806886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513BA-CBCF-708C-CC6F-F5B98B6DA984}"/>
              </a:ext>
            </a:extLst>
          </p:cNvPr>
          <p:cNvSpPr>
            <a:spLocks noGrp="1"/>
          </p:cNvSpPr>
          <p:nvPr>
            <p:ph type="title"/>
          </p:nvPr>
        </p:nvSpPr>
        <p:spPr/>
        <p:txBody>
          <a:bodyPr/>
          <a:lstStyle/>
          <a:p>
            <a:r>
              <a:rPr lang="en-US" dirty="0"/>
              <a:t>Univariate Data Analysis</a:t>
            </a:r>
          </a:p>
        </p:txBody>
      </p:sp>
      <p:sp>
        <p:nvSpPr>
          <p:cNvPr id="3" name="Content Placeholder 2">
            <a:extLst>
              <a:ext uri="{FF2B5EF4-FFF2-40B4-BE49-F238E27FC236}">
                <a16:creationId xmlns:a16="http://schemas.microsoft.com/office/drawing/2014/main" id="{E624FF69-ED1C-5388-6B87-5CF6C6692F2A}"/>
              </a:ext>
            </a:extLst>
          </p:cNvPr>
          <p:cNvSpPr>
            <a:spLocks noGrp="1"/>
          </p:cNvSpPr>
          <p:nvPr>
            <p:ph/>
          </p:nvPr>
        </p:nvSpPr>
        <p:spPr/>
        <p:txBody>
          <a:bodyPr>
            <a:normAutofit/>
          </a:bodyPr>
          <a:lstStyle/>
          <a:p>
            <a:r>
              <a:rPr lang="en-US" dirty="0"/>
              <a:t>Univariate analysis focuses on studying one variable to understand its characteristics</a:t>
            </a:r>
          </a:p>
          <a:p>
            <a:r>
              <a:rPr lang="en-US" dirty="0"/>
              <a:t>It helps to describe data and find patterns within a single feature.</a:t>
            </a:r>
          </a:p>
          <a:p>
            <a:r>
              <a:rPr lang="en-US" dirty="0"/>
              <a:t> Various common methods like histograms are used to show data distribution, box plots to detect outliers and understand data spread and bar charts for categorical data.</a:t>
            </a:r>
          </a:p>
          <a:p>
            <a:r>
              <a:rPr lang="en-US" dirty="0"/>
              <a:t>Summary statistics like mean, median, mode, variance and standard deviation helps in describing the central tendency and spread of the data</a:t>
            </a:r>
          </a:p>
        </p:txBody>
      </p:sp>
    </p:spTree>
    <p:extLst>
      <p:ext uri="{BB962C8B-B14F-4D97-AF65-F5344CB8AC3E}">
        <p14:creationId xmlns:p14="http://schemas.microsoft.com/office/powerpoint/2010/main" val="378016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D5AD-DAB0-6B3B-60B8-E3D248E29229}"/>
              </a:ext>
            </a:extLst>
          </p:cNvPr>
          <p:cNvSpPr>
            <a:spLocks noGrp="1"/>
          </p:cNvSpPr>
          <p:nvPr>
            <p:ph type="title"/>
          </p:nvPr>
        </p:nvSpPr>
        <p:spPr/>
        <p:txBody>
          <a:bodyPr/>
          <a:lstStyle/>
          <a:p>
            <a:r>
              <a:rPr lang="en-US" dirty="0"/>
              <a:t>Bi-variate Analysis</a:t>
            </a:r>
          </a:p>
        </p:txBody>
      </p:sp>
      <p:sp>
        <p:nvSpPr>
          <p:cNvPr id="3" name="Content Placeholder 2">
            <a:extLst>
              <a:ext uri="{FF2B5EF4-FFF2-40B4-BE49-F238E27FC236}">
                <a16:creationId xmlns:a16="http://schemas.microsoft.com/office/drawing/2014/main" id="{002850AE-6C74-15AF-3BB9-FAAD5EAD9F86}"/>
              </a:ext>
            </a:extLst>
          </p:cNvPr>
          <p:cNvSpPr>
            <a:spLocks noGrp="1"/>
          </p:cNvSpPr>
          <p:nvPr>
            <p:ph/>
          </p:nvPr>
        </p:nvSpPr>
        <p:spPr/>
        <p:txBody>
          <a:bodyPr/>
          <a:lstStyle/>
          <a:p>
            <a:r>
              <a:rPr lang="en-US" dirty="0"/>
              <a:t>Bivariate Analysis focuses on identifying relationship between two variables to find connections, correlations and dependencies</a:t>
            </a:r>
          </a:p>
          <a:p>
            <a:r>
              <a:rPr lang="en-US" dirty="0"/>
              <a:t>It helps to understand how two variables interact with each other.</a:t>
            </a:r>
          </a:p>
        </p:txBody>
      </p:sp>
    </p:spTree>
    <p:extLst>
      <p:ext uri="{BB962C8B-B14F-4D97-AF65-F5344CB8AC3E}">
        <p14:creationId xmlns:p14="http://schemas.microsoft.com/office/powerpoint/2010/main" val="2170178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8F150-32BF-9F0D-9174-E9D44769EF7C}"/>
              </a:ext>
            </a:extLst>
          </p:cNvPr>
          <p:cNvSpPr>
            <a:spLocks noGrp="1"/>
          </p:cNvSpPr>
          <p:nvPr>
            <p:ph type="title"/>
          </p:nvPr>
        </p:nvSpPr>
        <p:spPr/>
        <p:txBody>
          <a:bodyPr/>
          <a:lstStyle/>
          <a:p>
            <a:r>
              <a:rPr lang="en-US" dirty="0"/>
              <a:t>Bivariate analysis techniques</a:t>
            </a:r>
          </a:p>
        </p:txBody>
      </p:sp>
      <p:sp>
        <p:nvSpPr>
          <p:cNvPr id="3" name="Content Placeholder 2">
            <a:extLst>
              <a:ext uri="{FF2B5EF4-FFF2-40B4-BE49-F238E27FC236}">
                <a16:creationId xmlns:a16="http://schemas.microsoft.com/office/drawing/2014/main" id="{C41B7184-0105-11E0-D06F-6E0B1C7D40B3}"/>
              </a:ext>
            </a:extLst>
          </p:cNvPr>
          <p:cNvSpPr>
            <a:spLocks noGrp="1"/>
          </p:cNvSpPr>
          <p:nvPr>
            <p:ph/>
          </p:nvPr>
        </p:nvSpPr>
        <p:spPr/>
        <p:txBody>
          <a:bodyPr/>
          <a:lstStyle/>
          <a:p>
            <a:r>
              <a:rPr lang="en-US" dirty="0"/>
              <a:t>Scatter Plots</a:t>
            </a:r>
          </a:p>
          <a:p>
            <a:r>
              <a:rPr lang="en-US" dirty="0"/>
              <a:t>Correlation coefficient</a:t>
            </a:r>
          </a:p>
          <a:p>
            <a:r>
              <a:rPr lang="en-US" dirty="0"/>
              <a:t>Cross tabulation or contingency tables</a:t>
            </a:r>
          </a:p>
          <a:p>
            <a:r>
              <a:rPr lang="en-US" dirty="0"/>
              <a:t>Line graph</a:t>
            </a:r>
          </a:p>
          <a:p>
            <a:r>
              <a:rPr lang="en-US" dirty="0"/>
              <a:t>Covariance</a:t>
            </a:r>
          </a:p>
        </p:txBody>
      </p:sp>
    </p:spTree>
    <p:extLst>
      <p:ext uri="{BB962C8B-B14F-4D97-AF65-F5344CB8AC3E}">
        <p14:creationId xmlns:p14="http://schemas.microsoft.com/office/powerpoint/2010/main" val="1946261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815F9-B793-5855-3A5E-A5CBE383C10C}"/>
              </a:ext>
            </a:extLst>
          </p:cNvPr>
          <p:cNvSpPr>
            <a:spLocks noGrp="1"/>
          </p:cNvSpPr>
          <p:nvPr>
            <p:ph type="title"/>
          </p:nvPr>
        </p:nvSpPr>
        <p:spPr/>
        <p:txBody>
          <a:bodyPr/>
          <a:lstStyle/>
          <a:p>
            <a:r>
              <a:rPr lang="en-US" dirty="0"/>
              <a:t>Scatter Plot</a:t>
            </a:r>
          </a:p>
        </p:txBody>
      </p:sp>
      <p:sp>
        <p:nvSpPr>
          <p:cNvPr id="3" name="Content Placeholder 2">
            <a:extLst>
              <a:ext uri="{FF2B5EF4-FFF2-40B4-BE49-F238E27FC236}">
                <a16:creationId xmlns:a16="http://schemas.microsoft.com/office/drawing/2014/main" id="{9FC1877F-6808-167C-FCF8-F7F7161F57C1}"/>
              </a:ext>
            </a:extLst>
          </p:cNvPr>
          <p:cNvSpPr>
            <a:spLocks noGrp="1"/>
          </p:cNvSpPr>
          <p:nvPr>
            <p:ph/>
          </p:nvPr>
        </p:nvSpPr>
        <p:spPr/>
        <p:txBody>
          <a:bodyPr/>
          <a:lstStyle/>
          <a:p>
            <a:r>
              <a:rPr lang="en-US" dirty="0"/>
              <a:t>These visualizations plot person facts points as dots on a graph, with one variable represented on each axis.</a:t>
            </a:r>
          </a:p>
          <a:p>
            <a:r>
              <a:rPr lang="en-US" dirty="0"/>
              <a:t>Scatter plots which visualize the relationship between two continuous variables.</a:t>
            </a:r>
          </a:p>
        </p:txBody>
      </p:sp>
    </p:spTree>
    <p:extLst>
      <p:ext uri="{BB962C8B-B14F-4D97-AF65-F5344CB8AC3E}">
        <p14:creationId xmlns:p14="http://schemas.microsoft.com/office/powerpoint/2010/main" val="3581170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D84DF-F923-8044-0F83-BF20524A1ED2}"/>
              </a:ext>
            </a:extLst>
          </p:cNvPr>
          <p:cNvSpPr>
            <a:spLocks noGrp="1"/>
          </p:cNvSpPr>
          <p:nvPr>
            <p:ph type="title"/>
          </p:nvPr>
        </p:nvSpPr>
        <p:spPr/>
        <p:txBody>
          <a:bodyPr/>
          <a:lstStyle/>
          <a:p>
            <a:r>
              <a:rPr lang="en-US" dirty="0"/>
              <a:t>Scatter Plot Cont..</a:t>
            </a:r>
          </a:p>
        </p:txBody>
      </p:sp>
      <p:sp>
        <p:nvSpPr>
          <p:cNvPr id="3" name="Content Placeholder 2">
            <a:extLst>
              <a:ext uri="{FF2B5EF4-FFF2-40B4-BE49-F238E27FC236}">
                <a16:creationId xmlns:a16="http://schemas.microsoft.com/office/drawing/2014/main" id="{858109A2-9CD2-BFAF-B045-4597C0F7ADBA}"/>
              </a:ext>
            </a:extLst>
          </p:cNvPr>
          <p:cNvSpPr>
            <a:spLocks noGrp="1"/>
          </p:cNvSpPr>
          <p:nvPr>
            <p:ph/>
          </p:nvPr>
        </p:nvSpPr>
        <p:spPr/>
        <p:txBody>
          <a:bodyPr/>
          <a:lstStyle/>
          <a:p>
            <a:r>
              <a:rPr lang="en-US" dirty="0"/>
              <a:t>This scatter plot shows most IQ values clustered around 95–110 while the points near 72 and 150 stand out clearly as outliers compared to the rest of the data.</a:t>
            </a:r>
          </a:p>
        </p:txBody>
      </p:sp>
      <p:pic>
        <p:nvPicPr>
          <p:cNvPr id="6146" name="Picture 2" descr="Scatter_plot_outlier">
            <a:extLst>
              <a:ext uri="{FF2B5EF4-FFF2-40B4-BE49-F238E27FC236}">
                <a16:creationId xmlns:a16="http://schemas.microsoft.com/office/drawing/2014/main" id="{433BDF59-A020-B439-BDD3-B374F5760B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0053" y="3135165"/>
            <a:ext cx="4149212" cy="3281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5884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46ED5-CA33-485E-32D3-28E0BE654EC8}"/>
              </a:ext>
            </a:extLst>
          </p:cNvPr>
          <p:cNvSpPr>
            <a:spLocks noGrp="1"/>
          </p:cNvSpPr>
          <p:nvPr>
            <p:ph type="title"/>
          </p:nvPr>
        </p:nvSpPr>
        <p:spPr/>
        <p:txBody>
          <a:bodyPr/>
          <a:lstStyle/>
          <a:p>
            <a:r>
              <a:rPr lang="en-US" dirty="0"/>
              <a:t>Correlation coefficient</a:t>
            </a:r>
          </a:p>
        </p:txBody>
      </p:sp>
      <p:sp>
        <p:nvSpPr>
          <p:cNvPr id="3" name="Content Placeholder 2">
            <a:extLst>
              <a:ext uri="{FF2B5EF4-FFF2-40B4-BE49-F238E27FC236}">
                <a16:creationId xmlns:a16="http://schemas.microsoft.com/office/drawing/2014/main" id="{98960746-81FB-CE72-E6E1-68FC8FBA3343}"/>
              </a:ext>
            </a:extLst>
          </p:cNvPr>
          <p:cNvSpPr>
            <a:spLocks noGrp="1"/>
          </p:cNvSpPr>
          <p:nvPr>
            <p:ph/>
          </p:nvPr>
        </p:nvSpPr>
        <p:spPr/>
        <p:txBody>
          <a:bodyPr/>
          <a:lstStyle/>
          <a:p>
            <a:r>
              <a:rPr lang="en-US" dirty="0"/>
              <a:t>Correlation coefficient measures how strongly two variables are related which commonly use Pearson's correlation for linear relationships.</a:t>
            </a:r>
          </a:p>
        </p:txBody>
      </p:sp>
    </p:spTree>
    <p:extLst>
      <p:ext uri="{BB962C8B-B14F-4D97-AF65-F5344CB8AC3E}">
        <p14:creationId xmlns:p14="http://schemas.microsoft.com/office/powerpoint/2010/main" val="528391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0B933-4DCA-7BD5-CFA1-DDDC0D5A29B4}"/>
              </a:ext>
            </a:extLst>
          </p:cNvPr>
          <p:cNvSpPr>
            <a:spLocks noGrp="1"/>
          </p:cNvSpPr>
          <p:nvPr>
            <p:ph type="title"/>
          </p:nvPr>
        </p:nvSpPr>
        <p:spPr/>
        <p:txBody>
          <a:bodyPr/>
          <a:lstStyle/>
          <a:p>
            <a:r>
              <a:rPr lang="en-US" dirty="0"/>
              <a:t>Cross Tabulation </a:t>
            </a:r>
          </a:p>
        </p:txBody>
      </p:sp>
      <p:sp>
        <p:nvSpPr>
          <p:cNvPr id="3" name="Content Placeholder 2">
            <a:extLst>
              <a:ext uri="{FF2B5EF4-FFF2-40B4-BE49-F238E27FC236}">
                <a16:creationId xmlns:a16="http://schemas.microsoft.com/office/drawing/2014/main" id="{C6FCE40F-FB0B-5680-FB5B-0449B8F161C5}"/>
              </a:ext>
            </a:extLst>
          </p:cNvPr>
          <p:cNvSpPr>
            <a:spLocks noGrp="1"/>
          </p:cNvSpPr>
          <p:nvPr>
            <p:ph/>
          </p:nvPr>
        </p:nvSpPr>
        <p:spPr/>
        <p:txBody>
          <a:bodyPr/>
          <a:lstStyle/>
          <a:p>
            <a:r>
              <a:rPr lang="en-US" dirty="0"/>
              <a:t>Cross-tabulation or contingency tables shows the frequency distribution of two categorical variables and help to understand their relationship.</a:t>
            </a:r>
          </a:p>
        </p:txBody>
      </p:sp>
    </p:spTree>
    <p:extLst>
      <p:ext uri="{BB962C8B-B14F-4D97-AF65-F5344CB8AC3E}">
        <p14:creationId xmlns:p14="http://schemas.microsoft.com/office/powerpoint/2010/main" val="2736240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23999-5774-C643-7DCE-CD569FBB838D}"/>
              </a:ext>
            </a:extLst>
          </p:cNvPr>
          <p:cNvSpPr>
            <a:spLocks noGrp="1"/>
          </p:cNvSpPr>
          <p:nvPr>
            <p:ph type="title"/>
          </p:nvPr>
        </p:nvSpPr>
        <p:spPr/>
        <p:txBody>
          <a:bodyPr/>
          <a:lstStyle/>
          <a:p>
            <a:r>
              <a:rPr lang="en-US" dirty="0"/>
              <a:t>Line Graph</a:t>
            </a:r>
          </a:p>
        </p:txBody>
      </p:sp>
      <p:sp>
        <p:nvSpPr>
          <p:cNvPr id="3" name="Content Placeholder 2">
            <a:extLst>
              <a:ext uri="{FF2B5EF4-FFF2-40B4-BE49-F238E27FC236}">
                <a16:creationId xmlns:a16="http://schemas.microsoft.com/office/drawing/2014/main" id="{3D7854F4-EAB0-7BC5-83B4-105D47425A60}"/>
              </a:ext>
            </a:extLst>
          </p:cNvPr>
          <p:cNvSpPr>
            <a:spLocks noGrp="1"/>
          </p:cNvSpPr>
          <p:nvPr>
            <p:ph/>
          </p:nvPr>
        </p:nvSpPr>
        <p:spPr/>
        <p:txBody>
          <a:bodyPr/>
          <a:lstStyle/>
          <a:p>
            <a:r>
              <a:rPr lang="en-US" dirty="0"/>
              <a:t>Line graphs are useful for comparing two variables over time in time series data to identify trends or patterns.</a:t>
            </a:r>
          </a:p>
        </p:txBody>
      </p:sp>
    </p:spTree>
    <p:extLst>
      <p:ext uri="{BB962C8B-B14F-4D97-AF65-F5344CB8AC3E}">
        <p14:creationId xmlns:p14="http://schemas.microsoft.com/office/powerpoint/2010/main" val="3194297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80B93-1E92-CE33-0A13-A0FD4B3563D0}"/>
              </a:ext>
            </a:extLst>
          </p:cNvPr>
          <p:cNvSpPr>
            <a:spLocks noGrp="1"/>
          </p:cNvSpPr>
          <p:nvPr>
            <p:ph type="title"/>
          </p:nvPr>
        </p:nvSpPr>
        <p:spPr/>
        <p:txBody>
          <a:bodyPr/>
          <a:lstStyle/>
          <a:p>
            <a:r>
              <a:rPr lang="en-US" dirty="0"/>
              <a:t>Covariance</a:t>
            </a:r>
          </a:p>
        </p:txBody>
      </p:sp>
      <p:sp>
        <p:nvSpPr>
          <p:cNvPr id="3" name="Content Placeholder 2">
            <a:extLst>
              <a:ext uri="{FF2B5EF4-FFF2-40B4-BE49-F238E27FC236}">
                <a16:creationId xmlns:a16="http://schemas.microsoft.com/office/drawing/2014/main" id="{CD31CE59-7C60-B5ED-1001-E266E6EE24C8}"/>
              </a:ext>
            </a:extLst>
          </p:cNvPr>
          <p:cNvSpPr>
            <a:spLocks noGrp="1"/>
          </p:cNvSpPr>
          <p:nvPr>
            <p:ph/>
          </p:nvPr>
        </p:nvSpPr>
        <p:spPr/>
        <p:txBody>
          <a:bodyPr/>
          <a:lstStyle/>
          <a:p>
            <a:r>
              <a:rPr lang="en-US" dirty="0"/>
              <a:t>Covariance measures how two variables change together but it is paired with the correlation coefficient for a clearer and more standardized understanding of the relationship.</a:t>
            </a:r>
          </a:p>
        </p:txBody>
      </p:sp>
    </p:spTree>
    <p:extLst>
      <p:ext uri="{BB962C8B-B14F-4D97-AF65-F5344CB8AC3E}">
        <p14:creationId xmlns:p14="http://schemas.microsoft.com/office/powerpoint/2010/main" val="3418849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ECF31-6C39-2EF6-729F-ECACE37183A9}"/>
              </a:ext>
            </a:extLst>
          </p:cNvPr>
          <p:cNvSpPr>
            <a:spLocks noGrp="1"/>
          </p:cNvSpPr>
          <p:nvPr>
            <p:ph type="title"/>
          </p:nvPr>
        </p:nvSpPr>
        <p:spPr/>
        <p:txBody>
          <a:bodyPr/>
          <a:lstStyle/>
          <a:p>
            <a:r>
              <a:rPr lang="en-US" dirty="0"/>
              <a:t>Multivariate Analysis</a:t>
            </a:r>
          </a:p>
        </p:txBody>
      </p:sp>
      <p:sp>
        <p:nvSpPr>
          <p:cNvPr id="3" name="Content Placeholder 2">
            <a:extLst>
              <a:ext uri="{FF2B5EF4-FFF2-40B4-BE49-F238E27FC236}">
                <a16:creationId xmlns:a16="http://schemas.microsoft.com/office/drawing/2014/main" id="{4CA40E44-0F9F-4FE8-7F1B-9DBAE36E6B66}"/>
              </a:ext>
            </a:extLst>
          </p:cNvPr>
          <p:cNvSpPr>
            <a:spLocks noGrp="1"/>
          </p:cNvSpPr>
          <p:nvPr>
            <p:ph/>
          </p:nvPr>
        </p:nvSpPr>
        <p:spPr/>
        <p:txBody>
          <a:bodyPr/>
          <a:lstStyle/>
          <a:p>
            <a:r>
              <a:rPr lang="en-US" dirty="0"/>
              <a:t>Multivariate Analysis identify relationships between two or more variables in the dataset and aims to understand how variables interact with one another which is important for statistical modeling techniques.</a:t>
            </a:r>
          </a:p>
        </p:txBody>
      </p:sp>
    </p:spTree>
    <p:extLst>
      <p:ext uri="{BB962C8B-B14F-4D97-AF65-F5344CB8AC3E}">
        <p14:creationId xmlns:p14="http://schemas.microsoft.com/office/powerpoint/2010/main" val="864898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52691-F350-55E8-E3B8-E90781BAE3E5}"/>
              </a:ext>
            </a:extLst>
          </p:cNvPr>
          <p:cNvSpPr>
            <a:spLocks noGrp="1"/>
          </p:cNvSpPr>
          <p:nvPr>
            <p:ph type="title"/>
          </p:nvPr>
        </p:nvSpPr>
        <p:spPr/>
        <p:txBody>
          <a:bodyPr/>
          <a:lstStyle/>
          <a:p>
            <a:r>
              <a:rPr lang="en-US" dirty="0"/>
              <a:t>Multivariate Analysis Techniques</a:t>
            </a:r>
          </a:p>
        </p:txBody>
      </p:sp>
      <p:sp>
        <p:nvSpPr>
          <p:cNvPr id="3" name="Content Placeholder 2">
            <a:extLst>
              <a:ext uri="{FF2B5EF4-FFF2-40B4-BE49-F238E27FC236}">
                <a16:creationId xmlns:a16="http://schemas.microsoft.com/office/drawing/2014/main" id="{70C8A5EA-BCFB-8CA2-C2E4-C3E2EC1063EC}"/>
              </a:ext>
            </a:extLst>
          </p:cNvPr>
          <p:cNvSpPr>
            <a:spLocks noGrp="1"/>
          </p:cNvSpPr>
          <p:nvPr>
            <p:ph/>
          </p:nvPr>
        </p:nvSpPr>
        <p:spPr/>
        <p:txBody>
          <a:bodyPr/>
          <a:lstStyle/>
          <a:p>
            <a:r>
              <a:rPr lang="en-US" dirty="0"/>
              <a:t>Pair Plot</a:t>
            </a:r>
          </a:p>
          <a:p>
            <a:r>
              <a:rPr lang="en-US" dirty="0"/>
              <a:t>Principal Component Analysis</a:t>
            </a:r>
          </a:p>
          <a:p>
            <a:r>
              <a:rPr lang="en-US" dirty="0"/>
              <a:t>Spatial Analysis</a:t>
            </a:r>
          </a:p>
          <a:p>
            <a:r>
              <a:rPr lang="en-US" dirty="0"/>
              <a:t>Time Series Analysis</a:t>
            </a:r>
          </a:p>
        </p:txBody>
      </p:sp>
    </p:spTree>
    <p:extLst>
      <p:ext uri="{BB962C8B-B14F-4D97-AF65-F5344CB8AC3E}">
        <p14:creationId xmlns:p14="http://schemas.microsoft.com/office/powerpoint/2010/main" val="2197912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DD98F-F312-71AB-7157-D1C9A255401E}"/>
              </a:ext>
            </a:extLst>
          </p:cNvPr>
          <p:cNvSpPr>
            <a:spLocks noGrp="1"/>
          </p:cNvSpPr>
          <p:nvPr>
            <p:ph type="title"/>
          </p:nvPr>
        </p:nvSpPr>
        <p:spPr/>
        <p:txBody>
          <a:bodyPr/>
          <a:lstStyle/>
          <a:p>
            <a:r>
              <a:rPr lang="en-US" dirty="0"/>
              <a:t>Pair Plot</a:t>
            </a:r>
          </a:p>
        </p:txBody>
      </p:sp>
      <p:sp>
        <p:nvSpPr>
          <p:cNvPr id="3" name="Content Placeholder 2">
            <a:extLst>
              <a:ext uri="{FF2B5EF4-FFF2-40B4-BE49-F238E27FC236}">
                <a16:creationId xmlns:a16="http://schemas.microsoft.com/office/drawing/2014/main" id="{947DC495-F5D7-AE0F-7D8E-51FDC23D428F}"/>
              </a:ext>
            </a:extLst>
          </p:cNvPr>
          <p:cNvSpPr>
            <a:spLocks noGrp="1"/>
          </p:cNvSpPr>
          <p:nvPr>
            <p:ph/>
          </p:nvPr>
        </p:nvSpPr>
        <p:spPr/>
        <p:txBody>
          <a:bodyPr/>
          <a:lstStyle/>
          <a:p>
            <a:r>
              <a:rPr lang="en-US" dirty="0"/>
              <a:t> shows the relationships between multiple variables at once and helps in understanding how they interact</a:t>
            </a:r>
          </a:p>
        </p:txBody>
      </p:sp>
    </p:spTree>
    <p:extLst>
      <p:ext uri="{BB962C8B-B14F-4D97-AF65-F5344CB8AC3E}">
        <p14:creationId xmlns:p14="http://schemas.microsoft.com/office/powerpoint/2010/main" val="1915888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D4D4C-99BC-38C0-1368-67005617921B}"/>
              </a:ext>
            </a:extLst>
          </p:cNvPr>
          <p:cNvSpPr>
            <a:spLocks noGrp="1"/>
          </p:cNvSpPr>
          <p:nvPr>
            <p:ph type="title"/>
          </p:nvPr>
        </p:nvSpPr>
        <p:spPr/>
        <p:txBody>
          <a:bodyPr/>
          <a:lstStyle/>
          <a:p>
            <a:r>
              <a:rPr lang="en-US" dirty="0"/>
              <a:t>Principal Component Analysis</a:t>
            </a:r>
          </a:p>
        </p:txBody>
      </p:sp>
      <p:sp>
        <p:nvSpPr>
          <p:cNvPr id="3" name="Content Placeholder 2">
            <a:extLst>
              <a:ext uri="{FF2B5EF4-FFF2-40B4-BE49-F238E27FC236}">
                <a16:creationId xmlns:a16="http://schemas.microsoft.com/office/drawing/2014/main" id="{4C7CC2B9-8D9B-78F8-1E4E-BCE86DCF6FDC}"/>
              </a:ext>
            </a:extLst>
          </p:cNvPr>
          <p:cNvSpPr>
            <a:spLocks noGrp="1"/>
          </p:cNvSpPr>
          <p:nvPr>
            <p:ph/>
          </p:nvPr>
        </p:nvSpPr>
        <p:spPr/>
        <p:txBody>
          <a:bodyPr/>
          <a:lstStyle/>
          <a:p>
            <a:r>
              <a:rPr lang="en-US" dirty="0"/>
              <a:t>reduces the complexity of large datasets by simplifying them while keeping the most important information</a:t>
            </a:r>
          </a:p>
        </p:txBody>
      </p:sp>
    </p:spTree>
    <p:extLst>
      <p:ext uri="{BB962C8B-B14F-4D97-AF65-F5344CB8AC3E}">
        <p14:creationId xmlns:p14="http://schemas.microsoft.com/office/powerpoint/2010/main" val="3732795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EBE63-136B-1B13-6FC8-1BA7AB6B831F}"/>
              </a:ext>
            </a:extLst>
          </p:cNvPr>
          <p:cNvSpPr>
            <a:spLocks noGrp="1"/>
          </p:cNvSpPr>
          <p:nvPr>
            <p:ph type="title"/>
          </p:nvPr>
        </p:nvSpPr>
        <p:spPr/>
        <p:txBody>
          <a:bodyPr/>
          <a:lstStyle/>
          <a:p>
            <a:r>
              <a:rPr lang="en-US" dirty="0"/>
              <a:t>Spatial Analysis</a:t>
            </a:r>
          </a:p>
        </p:txBody>
      </p:sp>
      <p:sp>
        <p:nvSpPr>
          <p:cNvPr id="4" name="Content Placeholder 3">
            <a:extLst>
              <a:ext uri="{FF2B5EF4-FFF2-40B4-BE49-F238E27FC236}">
                <a16:creationId xmlns:a16="http://schemas.microsoft.com/office/drawing/2014/main" id="{CE0A4503-5CF0-A3B3-40CA-27D7098B04F4}"/>
              </a:ext>
            </a:extLst>
          </p:cNvPr>
          <p:cNvSpPr>
            <a:spLocks noGrp="1"/>
          </p:cNvSpPr>
          <p:nvPr>
            <p:ph/>
          </p:nvPr>
        </p:nvSpPr>
        <p:spPr/>
        <p:txBody>
          <a:bodyPr/>
          <a:lstStyle/>
          <a:p>
            <a:endParaRPr lang="en-US"/>
          </a:p>
        </p:txBody>
      </p:sp>
    </p:spTree>
    <p:extLst>
      <p:ext uri="{BB962C8B-B14F-4D97-AF65-F5344CB8AC3E}">
        <p14:creationId xmlns:p14="http://schemas.microsoft.com/office/powerpoint/2010/main" val="542125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1900E-D3D1-45E0-57D0-69E6C1E9522C}"/>
              </a:ext>
            </a:extLst>
          </p:cNvPr>
          <p:cNvSpPr>
            <a:spLocks noGrp="1"/>
          </p:cNvSpPr>
          <p:nvPr>
            <p:ph type="title"/>
          </p:nvPr>
        </p:nvSpPr>
        <p:spPr/>
        <p:txBody>
          <a:bodyPr/>
          <a:lstStyle/>
          <a:p>
            <a:r>
              <a:rPr lang="en-US" dirty="0"/>
              <a:t>Time Series Analysis</a:t>
            </a:r>
          </a:p>
        </p:txBody>
      </p:sp>
      <p:sp>
        <p:nvSpPr>
          <p:cNvPr id="3" name="Content Placeholder 2">
            <a:extLst>
              <a:ext uri="{FF2B5EF4-FFF2-40B4-BE49-F238E27FC236}">
                <a16:creationId xmlns:a16="http://schemas.microsoft.com/office/drawing/2014/main" id="{BB776445-054B-2143-3A68-2E2D53F70E33}"/>
              </a:ext>
            </a:extLst>
          </p:cNvPr>
          <p:cNvSpPr>
            <a:spLocks noGrp="1"/>
          </p:cNvSpPr>
          <p:nvPr>
            <p:ph/>
          </p:nvPr>
        </p:nvSpPr>
        <p:spPr/>
        <p:txBody>
          <a:bodyPr/>
          <a:lstStyle/>
          <a:p>
            <a:r>
              <a:rPr lang="en-US" dirty="0"/>
              <a:t>used for datasets that involve time-based data and it involves understanding and modeling patterns and trends over time. Common techniques include line plots, autocorrelation analysis, moving averages and ARIMA models.</a:t>
            </a:r>
          </a:p>
        </p:txBody>
      </p:sp>
    </p:spTree>
    <p:extLst>
      <p:ext uri="{BB962C8B-B14F-4D97-AF65-F5344CB8AC3E}">
        <p14:creationId xmlns:p14="http://schemas.microsoft.com/office/powerpoint/2010/main" val="78308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421D7-E25F-06DD-3932-A5337D565387}"/>
              </a:ext>
            </a:extLst>
          </p:cNvPr>
          <p:cNvSpPr>
            <a:spLocks noGrp="1"/>
          </p:cNvSpPr>
          <p:nvPr>
            <p:ph type="title"/>
          </p:nvPr>
        </p:nvSpPr>
        <p:spPr/>
        <p:txBody>
          <a:bodyPr/>
          <a:lstStyle/>
          <a:p>
            <a:r>
              <a:rPr lang="en-US" dirty="0"/>
              <a:t>Violin Plots</a:t>
            </a:r>
          </a:p>
        </p:txBody>
      </p:sp>
      <p:sp>
        <p:nvSpPr>
          <p:cNvPr id="4" name="Content Placeholder 3">
            <a:extLst>
              <a:ext uri="{FF2B5EF4-FFF2-40B4-BE49-F238E27FC236}">
                <a16:creationId xmlns:a16="http://schemas.microsoft.com/office/drawing/2014/main" id="{0529A1FE-3936-0B8F-0A79-418E50992ABF}"/>
              </a:ext>
            </a:extLst>
          </p:cNvPr>
          <p:cNvSpPr>
            <a:spLocks noGrp="1"/>
          </p:cNvSpPr>
          <p:nvPr>
            <p:ph/>
          </p:nvPr>
        </p:nvSpPr>
        <p:spPr/>
        <p:txBody>
          <a:bodyPr/>
          <a:lstStyle/>
          <a:p>
            <a:endParaRPr lang="en-US"/>
          </a:p>
        </p:txBody>
      </p:sp>
    </p:spTree>
    <p:extLst>
      <p:ext uri="{BB962C8B-B14F-4D97-AF65-F5344CB8AC3E}">
        <p14:creationId xmlns:p14="http://schemas.microsoft.com/office/powerpoint/2010/main" val="39317774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EA2F3-58A1-1F29-22BD-60C1B00BF3E7}"/>
              </a:ext>
            </a:extLst>
          </p:cNvPr>
          <p:cNvSpPr>
            <a:spLocks noGrp="1"/>
          </p:cNvSpPr>
          <p:nvPr>
            <p:ph type="title"/>
          </p:nvPr>
        </p:nvSpPr>
        <p:spPr/>
        <p:txBody>
          <a:bodyPr/>
          <a:lstStyle/>
          <a:p>
            <a:r>
              <a:rPr lang="en-US" dirty="0"/>
              <a:t>Pearson’s correlation coefficients</a:t>
            </a:r>
          </a:p>
        </p:txBody>
      </p:sp>
      <p:sp>
        <p:nvSpPr>
          <p:cNvPr id="4" name="Content Placeholder 3">
            <a:extLst>
              <a:ext uri="{FF2B5EF4-FFF2-40B4-BE49-F238E27FC236}">
                <a16:creationId xmlns:a16="http://schemas.microsoft.com/office/drawing/2014/main" id="{A22B5657-08B2-D157-7AD1-22C9602232CD}"/>
              </a:ext>
            </a:extLst>
          </p:cNvPr>
          <p:cNvSpPr>
            <a:spLocks noGrp="1"/>
          </p:cNvSpPr>
          <p:nvPr>
            <p:ph/>
          </p:nvPr>
        </p:nvSpPr>
        <p:spPr/>
        <p:txBody>
          <a:bodyPr/>
          <a:lstStyle/>
          <a:p>
            <a:endParaRPr lang="en-US"/>
          </a:p>
        </p:txBody>
      </p:sp>
    </p:spTree>
    <p:extLst>
      <p:ext uri="{BB962C8B-B14F-4D97-AF65-F5344CB8AC3E}">
        <p14:creationId xmlns:p14="http://schemas.microsoft.com/office/powerpoint/2010/main" val="13455810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87844-ABB8-8DA3-5606-5097009EE884}"/>
              </a:ext>
            </a:extLst>
          </p:cNvPr>
          <p:cNvSpPr>
            <a:spLocks noGrp="1"/>
          </p:cNvSpPr>
          <p:nvPr>
            <p:ph type="title"/>
          </p:nvPr>
        </p:nvSpPr>
        <p:spPr/>
        <p:txBody>
          <a:bodyPr/>
          <a:lstStyle/>
          <a:p>
            <a:r>
              <a:rPr lang="en-US" dirty="0"/>
              <a:t>Spearman’s rank correlation</a:t>
            </a:r>
          </a:p>
        </p:txBody>
      </p:sp>
      <p:sp>
        <p:nvSpPr>
          <p:cNvPr id="4" name="Content Placeholder 3">
            <a:extLst>
              <a:ext uri="{FF2B5EF4-FFF2-40B4-BE49-F238E27FC236}">
                <a16:creationId xmlns:a16="http://schemas.microsoft.com/office/drawing/2014/main" id="{52002BA6-AF04-2C05-7EF2-577CD13D9DEE}"/>
              </a:ext>
            </a:extLst>
          </p:cNvPr>
          <p:cNvSpPr>
            <a:spLocks noGrp="1"/>
          </p:cNvSpPr>
          <p:nvPr>
            <p:ph/>
          </p:nvPr>
        </p:nvSpPr>
        <p:spPr/>
        <p:txBody>
          <a:bodyPr/>
          <a:lstStyle/>
          <a:p>
            <a:endParaRPr lang="en-US"/>
          </a:p>
        </p:txBody>
      </p:sp>
    </p:spTree>
    <p:extLst>
      <p:ext uri="{BB962C8B-B14F-4D97-AF65-F5344CB8AC3E}">
        <p14:creationId xmlns:p14="http://schemas.microsoft.com/office/powerpoint/2010/main" val="17759288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prstGeom prst="rect">
            <a:avLst/>
          </a:prstGeom>
          <a:noFill/>
          <a:ln w="0">
            <a:noFill/>
          </a:ln>
        </p:spPr>
        <p:txBody>
          <a:bodyPr lIns="91440" tIns="45720" rIns="91440" bIns="45720" anchor="b">
            <a:noAutofit/>
          </a:bodyPr>
          <a:lstStyle/>
          <a:p>
            <a:pPr indent="0" defTabSz="914400">
              <a:lnSpc>
                <a:spcPct val="90000"/>
              </a:lnSpc>
              <a:buNone/>
            </a:pPr>
            <a:r>
              <a:rPr lang="en-US" sz="6000" b="0" strike="noStrike" spc="-1">
                <a:solidFill>
                  <a:schemeClr val="lt1"/>
                </a:solidFill>
                <a:latin typeface="Open Sans Condensed"/>
              </a:rPr>
              <a:t>Lab 05</a:t>
            </a:r>
            <a:endParaRPr lang="en-US" sz="6000" b="0" strike="noStrike" spc="-1">
              <a:solidFill>
                <a:schemeClr val="dk1"/>
              </a:solidFill>
              <a:latin typeface="Open Sans Condensed"/>
            </a:endParaRPr>
          </a:p>
        </p:txBody>
      </p:sp>
      <p:sp>
        <p:nvSpPr>
          <p:cNvPr id="2" name="Content Placeholder 1">
            <a:extLst>
              <a:ext uri="{FF2B5EF4-FFF2-40B4-BE49-F238E27FC236}">
                <a16:creationId xmlns:a16="http://schemas.microsoft.com/office/drawing/2014/main" id="{38492838-0AF4-A03B-7031-69D9C2C4A500}"/>
              </a:ext>
            </a:extLst>
          </p:cNvPr>
          <p:cNvSpPr>
            <a:spLocks noGrp="1"/>
          </p:cNvSpPr>
          <p:nvPr>
            <p:ph/>
          </p:nvPr>
        </p:nvSpPr>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a:solidFill>
                  <a:schemeClr val="lt1"/>
                </a:solidFill>
                <a:latin typeface="Open Sans Condensed"/>
              </a:rPr>
              <a:t>What is a Perceptron?</a:t>
            </a:r>
            <a:endParaRPr lang="en-US" sz="4400" b="0" strike="noStrike" spc="-1">
              <a:solidFill>
                <a:schemeClr val="dk1"/>
              </a:solidFill>
              <a:latin typeface="Open Sans Condensed"/>
            </a:endParaRPr>
          </a:p>
        </p:txBody>
      </p:sp>
      <p:sp>
        <p:nvSpPr>
          <p:cNvPr id="74" name="PlaceHolder 2"/>
          <p:cNvSpPr>
            <a:spLocks noGrp="1"/>
          </p:cNvSpPr>
          <p:nvPr>
            <p:ph/>
          </p:nvPr>
        </p:nvSpPr>
        <p:spPr>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A Perceptron is the simplest type of artificial neuron and the foundation of neural networks. It takes multiple inputs, applies weights, sums them, and passes the result through an activation function to produce an output (0 or 1). </a:t>
            </a:r>
          </a:p>
          <a:p>
            <a:pPr indent="0" algn="just" defTabSz="914400">
              <a:lnSpc>
                <a:spcPct val="90000"/>
              </a:lnSpc>
              <a:spcBef>
                <a:spcPts val="1001"/>
              </a:spcBef>
              <a:buNone/>
            </a:pPr>
            <a:endParaRPr lang="en-US" sz="2800" b="0" strike="noStrike" spc="-1">
              <a:solidFill>
                <a:schemeClr val="lt1"/>
              </a:solidFill>
              <a:latin typeface="Open Sans Condense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a:solidFill>
                  <a:schemeClr val="lt1"/>
                </a:solidFill>
                <a:latin typeface="Open Sans Condensed"/>
              </a:rPr>
              <a:t>Single Layer Perceptron</a:t>
            </a:r>
            <a:endParaRPr lang="en-US" sz="4400" b="0" strike="noStrike" spc="-1">
              <a:solidFill>
                <a:schemeClr val="dk1"/>
              </a:solidFill>
              <a:latin typeface="Open Sans Condensed"/>
            </a:endParaRPr>
          </a:p>
        </p:txBody>
      </p:sp>
      <p:sp>
        <p:nvSpPr>
          <p:cNvPr id="2" name="Content Placeholder 1">
            <a:extLst>
              <a:ext uri="{FF2B5EF4-FFF2-40B4-BE49-F238E27FC236}">
                <a16:creationId xmlns:a16="http://schemas.microsoft.com/office/drawing/2014/main" id="{F2236321-A02F-D8B6-CFBD-76594CBD0BFB}"/>
              </a:ext>
            </a:extLst>
          </p:cNvPr>
          <p:cNvSpPr>
            <a:spLocks noGrp="1"/>
          </p:cNvSpPr>
          <p:nvPr>
            <p:ph/>
          </p:nvPr>
        </p:nvSpPr>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a:solidFill>
                  <a:schemeClr val="lt1"/>
                </a:solidFill>
                <a:latin typeface="Open Sans Condensed"/>
              </a:rPr>
              <a:t>Mathematical Model of Perceptron</a:t>
            </a:r>
            <a:endParaRPr lang="en-US" sz="4400" b="0" strike="noStrike" spc="-1">
              <a:solidFill>
                <a:schemeClr val="dk1"/>
              </a:solidFill>
              <a:latin typeface="Open Sans Condensed"/>
            </a:endParaRPr>
          </a:p>
        </p:txBody>
      </p:sp>
      <p:sp>
        <p:nvSpPr>
          <p:cNvPr id="2" name="Content Placeholder 1">
            <a:extLst>
              <a:ext uri="{FF2B5EF4-FFF2-40B4-BE49-F238E27FC236}">
                <a16:creationId xmlns:a16="http://schemas.microsoft.com/office/drawing/2014/main" id="{846929A0-DEF4-2470-8DB5-3DB086D96143}"/>
              </a:ext>
            </a:extLst>
          </p:cNvPr>
          <p:cNvSpPr>
            <a:spLocks noGrp="1"/>
          </p:cNvSpPr>
          <p:nvPr>
            <p:ph/>
          </p:nvPr>
        </p:nvSpPr>
        <p:spPr/>
        <p:txBody>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a:solidFill>
                  <a:schemeClr val="lt1"/>
                </a:solidFill>
                <a:latin typeface="Open Sans Condensed"/>
              </a:rPr>
              <a:t>A Multilayer Perceptron (MLP)</a:t>
            </a:r>
            <a:endParaRPr lang="en-US" sz="4400" b="0" strike="noStrike" spc="-1">
              <a:solidFill>
                <a:schemeClr val="dk1"/>
              </a:solidFill>
              <a:latin typeface="Open Sans Condensed"/>
            </a:endParaRPr>
          </a:p>
        </p:txBody>
      </p:sp>
      <p:sp>
        <p:nvSpPr>
          <p:cNvPr id="80" name="PlaceHolder 2"/>
          <p:cNvSpPr>
            <a:spLocks noGrp="1"/>
          </p:cNvSpPr>
          <p:nvPr>
            <p:ph/>
          </p:nvPr>
        </p:nvSpPr>
        <p:spPr>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A multilayer perceptron (MLP) is a type of feedforward neural network used for tasks like image and speech recognition.</a:t>
            </a:r>
          </a:p>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It consists of an input layer, one or more hidden layers and an output layer where each node in a layer is fully connected to every node in the next layer.</a:t>
            </a:r>
          </a:p>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MLPs use nonlinear activation function to learn complex, non-linear relationships in data through a process called backpropagation, which adjusts connection weights to minimize errors.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6F5D6-A9DC-E85B-7A12-2B1A155F21D4}"/>
              </a:ext>
            </a:extLst>
          </p:cNvPr>
          <p:cNvSpPr>
            <a:spLocks noGrp="1"/>
          </p:cNvSpPr>
          <p:nvPr>
            <p:ph type="title"/>
          </p:nvPr>
        </p:nvSpPr>
        <p:spPr/>
        <p:txBody>
          <a:bodyPr/>
          <a:lstStyle/>
          <a:p>
            <a:endParaRPr lang="en-US"/>
          </a:p>
        </p:txBody>
      </p:sp>
      <p:sp>
        <p:nvSpPr>
          <p:cNvPr id="82" name="Content Placeholder 4"/>
          <p:cNvSpPr/>
          <p:nvPr/>
        </p:nvSpPr>
        <p:spPr>
          <a:xfrm>
            <a:off x="2278080" y="1825560"/>
            <a:ext cx="7635600" cy="4350960"/>
          </a:xfrm>
          <a:prstGeom prst="roundRect">
            <a:avLst>
              <a:gd name="adj" fmla="val 7743"/>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 name="Content Placeholder 2">
            <a:extLst>
              <a:ext uri="{FF2B5EF4-FFF2-40B4-BE49-F238E27FC236}">
                <a16:creationId xmlns:a16="http://schemas.microsoft.com/office/drawing/2014/main" id="{23A83C66-8B02-7A61-B21F-2666667F1B58}"/>
              </a:ext>
            </a:extLst>
          </p:cNvPr>
          <p:cNvSpPr>
            <a:spLocks noGrp="1"/>
          </p:cNvSpPr>
          <p:nvPr>
            <p:ph/>
          </p:nvPr>
        </p:nvSpPr>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a:solidFill>
                  <a:schemeClr val="lt1"/>
                </a:solidFill>
                <a:latin typeface="Open Sans Condensed"/>
              </a:rPr>
              <a:t>Key components of MLP</a:t>
            </a:r>
            <a:endParaRPr lang="en-US" sz="4400" b="0" strike="noStrike" spc="-1">
              <a:solidFill>
                <a:schemeClr val="dk1"/>
              </a:solidFill>
              <a:latin typeface="Open Sans Condensed"/>
            </a:endParaRPr>
          </a:p>
        </p:txBody>
      </p:sp>
      <p:sp>
        <p:nvSpPr>
          <p:cNvPr id="84" name="PlaceHolder 2"/>
          <p:cNvSpPr>
            <a:spLocks noGrp="1"/>
          </p:cNvSpPr>
          <p:nvPr>
            <p:ph/>
          </p:nvPr>
        </p:nvSpPr>
        <p:spPr>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Input Layer</a:t>
            </a:r>
          </a:p>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Weighted Connection and Biases</a:t>
            </a:r>
          </a:p>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Hidden Layers</a:t>
            </a:r>
          </a:p>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Activation Function</a:t>
            </a:r>
          </a:p>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Forward Propagation</a:t>
            </a:r>
          </a:p>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Output Layer</a:t>
            </a:r>
          </a:p>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Backpropagation and learning</a:t>
            </a:r>
          </a:p>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Iteration and Convergence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a:solidFill>
                  <a:schemeClr val="lt1"/>
                </a:solidFill>
                <a:latin typeface="Open Sans Condensed"/>
              </a:rPr>
              <a:t>Input Layer</a:t>
            </a:r>
            <a:endParaRPr lang="en-US" sz="4400" b="0" strike="noStrike" spc="-1">
              <a:solidFill>
                <a:schemeClr val="dk1"/>
              </a:solidFill>
              <a:latin typeface="Open Sans Condensed"/>
            </a:endParaRPr>
          </a:p>
        </p:txBody>
      </p:sp>
      <p:sp>
        <p:nvSpPr>
          <p:cNvPr id="86" name="PlaceHolder 2"/>
          <p:cNvSpPr>
            <a:spLocks noGrp="1"/>
          </p:cNvSpPr>
          <p:nvPr>
            <p:ph/>
          </p:nvPr>
        </p:nvSpPr>
        <p:spPr>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The process starts with the input layer, which receives the input data. Each neuron in this layer represents a feature of the input data.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a:solidFill>
                  <a:schemeClr val="lt1"/>
                </a:solidFill>
                <a:latin typeface="Open Sans Condensed"/>
              </a:rPr>
              <a:t>Weighted Connections and Biases</a:t>
            </a:r>
            <a:endParaRPr lang="en-US" sz="4400" b="0" strike="noStrike" spc="-1">
              <a:solidFill>
                <a:schemeClr val="dk1"/>
              </a:solidFill>
              <a:latin typeface="Open Sans Condensed"/>
            </a:endParaRPr>
          </a:p>
        </p:txBody>
      </p:sp>
      <p:sp>
        <p:nvSpPr>
          <p:cNvPr id="88" name="PlaceHolder 2"/>
          <p:cNvSpPr>
            <a:spLocks noGrp="1"/>
          </p:cNvSpPr>
          <p:nvPr>
            <p:ph/>
          </p:nvPr>
        </p:nvSpPr>
        <p:spPr>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Connections between neurons have associated weights, which are learned during the training process.</a:t>
            </a:r>
          </a:p>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These weights determine the strength of the connections and play a crucial role in the network's ability to capture patterns in the data. </a:t>
            </a:r>
          </a:p>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In addition, each neuron, in the hidden and output layers has an associated bias term, which allows for fine-tuning and shifting the activation </a:t>
            </a:r>
            <a:r>
              <a:rPr lang="en-US" sz="2800" b="0" strike="noStrike" spc="-1" dirty="0" err="1">
                <a:solidFill>
                  <a:schemeClr val="lt1"/>
                </a:solidFill>
                <a:latin typeface="Open Sans Condensed"/>
              </a:rPr>
              <a:t>functionʼs</a:t>
            </a:r>
            <a:r>
              <a:rPr lang="en-US" sz="2800" b="0" strike="noStrike" spc="-1" dirty="0">
                <a:solidFill>
                  <a:schemeClr val="lt1"/>
                </a:solidFill>
                <a:latin typeface="Open Sans Condensed"/>
              </a:rPr>
              <a:t> threshold. </a:t>
            </a:r>
          </a:p>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These weights and biases are parameters that the neural network learns during training.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a:solidFill>
                  <a:schemeClr val="lt1"/>
                </a:solidFill>
                <a:latin typeface="Open Sans Condensed"/>
              </a:rPr>
              <a:t>Hidden Layers</a:t>
            </a:r>
            <a:endParaRPr lang="en-US" sz="4400" b="0" strike="noStrike" spc="-1">
              <a:solidFill>
                <a:schemeClr val="dk1"/>
              </a:solidFill>
              <a:latin typeface="Open Sans Condensed"/>
            </a:endParaRPr>
          </a:p>
        </p:txBody>
      </p:sp>
      <p:sp>
        <p:nvSpPr>
          <p:cNvPr id="90" name="PlaceHolder 2"/>
          <p:cNvSpPr>
            <a:spLocks noGrp="1"/>
          </p:cNvSpPr>
          <p:nvPr>
            <p:ph/>
          </p:nvPr>
        </p:nvSpPr>
        <p:spPr>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After the input layer, there are one or more hidden layers. </a:t>
            </a:r>
          </a:p>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The neurons in these layers perform computations on the inputs. </a:t>
            </a:r>
          </a:p>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The output of each neuron is calculated by applying a weighted sum of its inputs (from the previous layer), adding a bias, and then passing this sum through an activation function.</a:t>
            </a:r>
          </a:p>
          <a:p>
            <a:pPr indent="0" algn="just" defTabSz="914400">
              <a:lnSpc>
                <a:spcPct val="90000"/>
              </a:lnSpc>
              <a:spcBef>
                <a:spcPts val="1001"/>
              </a:spcBef>
              <a:buNone/>
            </a:pPr>
            <a:endParaRPr lang="en-US" sz="2800" b="0" strike="noStrike" spc="-1" dirty="0">
              <a:solidFill>
                <a:schemeClr val="lt1"/>
              </a:solidFill>
              <a:latin typeface="Open Sans Condense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9C40B-9D69-8C79-7932-E8451B8623FB}"/>
              </a:ext>
            </a:extLst>
          </p:cNvPr>
          <p:cNvSpPr>
            <a:spLocks noGrp="1"/>
          </p:cNvSpPr>
          <p:nvPr>
            <p:ph type="title"/>
          </p:nvPr>
        </p:nvSpPr>
        <p:spPr/>
        <p:txBody>
          <a:bodyPr/>
          <a:lstStyle/>
          <a:p>
            <a:endParaRPr lang="en-US"/>
          </a:p>
        </p:txBody>
      </p:sp>
      <p:sp>
        <p:nvSpPr>
          <p:cNvPr id="92" name="Picture 2"/>
          <p:cNvSpPr/>
          <p:nvPr/>
        </p:nvSpPr>
        <p:spPr>
          <a:xfrm>
            <a:off x="2689560" y="1825560"/>
            <a:ext cx="6812640" cy="4350960"/>
          </a:xfrm>
          <a:prstGeom prst="roundRect">
            <a:avLst>
              <a:gd name="adj" fmla="val 5926"/>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 name="Content Placeholder 2">
            <a:extLst>
              <a:ext uri="{FF2B5EF4-FFF2-40B4-BE49-F238E27FC236}">
                <a16:creationId xmlns:a16="http://schemas.microsoft.com/office/drawing/2014/main" id="{D5233D50-8FF3-BB5D-F58E-685F0A193744}"/>
              </a:ext>
            </a:extLst>
          </p:cNvPr>
          <p:cNvSpPr>
            <a:spLocks noGrp="1"/>
          </p:cNvSpPr>
          <p:nvPr>
            <p:ph/>
          </p:nvPr>
        </p:nvSpPr>
        <p:spPr/>
        <p:txBody>
          <a:bodyP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a:solidFill>
                  <a:schemeClr val="lt1"/>
                </a:solidFill>
                <a:latin typeface="Open Sans Condensed"/>
              </a:rPr>
              <a:t>Activation Function</a:t>
            </a:r>
            <a:endParaRPr lang="en-US" sz="4400" b="0" strike="noStrike" spc="-1">
              <a:solidFill>
                <a:schemeClr val="dk1"/>
              </a:solidFill>
              <a:latin typeface="Open Sans Condensed"/>
            </a:endParaRPr>
          </a:p>
        </p:txBody>
      </p:sp>
      <p:sp>
        <p:nvSpPr>
          <p:cNvPr id="94" name="PlaceHolder 2"/>
          <p:cNvSpPr>
            <a:spLocks noGrp="1"/>
          </p:cNvSpPr>
          <p:nvPr>
            <p:ph/>
          </p:nvPr>
        </p:nvSpPr>
        <p:spPr>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The activation function is crucial as it introduces non-linearity into the model, </a:t>
            </a:r>
          </a:p>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allowing it to learn more complex patterns. </a:t>
            </a:r>
          </a:p>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Common activation functions include sigmoid, tanh, and ReLU (Rectified Linear Unit).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a:solidFill>
                  <a:schemeClr val="lt1"/>
                </a:solidFill>
                <a:latin typeface="Open Sans Condensed"/>
              </a:rPr>
              <a:t>Forward Propagation</a:t>
            </a:r>
            <a:endParaRPr lang="en-US" sz="4400" b="0" strike="noStrike" spc="-1">
              <a:solidFill>
                <a:schemeClr val="dk1"/>
              </a:solidFill>
              <a:latin typeface="Open Sans Condensed"/>
            </a:endParaRPr>
          </a:p>
        </p:txBody>
      </p:sp>
      <p:sp>
        <p:nvSpPr>
          <p:cNvPr id="96" name="PlaceHolder 2"/>
          <p:cNvSpPr>
            <a:spLocks noGrp="1"/>
          </p:cNvSpPr>
          <p:nvPr>
            <p:ph/>
          </p:nvPr>
        </p:nvSpPr>
        <p:spPr>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The process from the input layer through the hidden layers to the output layer is called forward propagation. </a:t>
            </a:r>
          </a:p>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In each layer, the aforementioned steps (weighted sum, bias addition, activation function) are applied to compute the layer’s output. </a:t>
            </a:r>
          </a:p>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In an MLP, information flows in one direction, from the input layer through the hidden layers to the output layer. </a:t>
            </a:r>
          </a:p>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There are no feedback loops or recurrent connections, hence the name feedforward architecture.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DD878-333A-E059-43F0-FB57B624088E}"/>
              </a:ext>
            </a:extLst>
          </p:cNvPr>
          <p:cNvSpPr>
            <a:spLocks noGrp="1"/>
          </p:cNvSpPr>
          <p:nvPr>
            <p:ph type="title"/>
          </p:nvPr>
        </p:nvSpPr>
        <p:spPr/>
        <p:txBody>
          <a:bodyPr/>
          <a:lstStyle/>
          <a:p>
            <a:endParaRPr lang="en-US"/>
          </a:p>
        </p:txBody>
      </p:sp>
      <p:sp>
        <p:nvSpPr>
          <p:cNvPr id="98" name="Content Placeholder 4"/>
          <p:cNvSpPr/>
          <p:nvPr/>
        </p:nvSpPr>
        <p:spPr>
          <a:xfrm>
            <a:off x="1395720" y="1825560"/>
            <a:ext cx="9399960" cy="4350960"/>
          </a:xfrm>
          <a:prstGeom prst="roundRect">
            <a:avLst>
              <a:gd name="adj" fmla="val 4292"/>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 name="Content Placeholder 2">
            <a:extLst>
              <a:ext uri="{FF2B5EF4-FFF2-40B4-BE49-F238E27FC236}">
                <a16:creationId xmlns:a16="http://schemas.microsoft.com/office/drawing/2014/main" id="{408BD3BC-58F6-436D-9181-474BF79040EF}"/>
              </a:ext>
            </a:extLst>
          </p:cNvPr>
          <p:cNvSpPr>
            <a:spLocks noGrp="1"/>
          </p:cNvSpPr>
          <p:nvPr>
            <p:ph/>
          </p:nvPr>
        </p:nvSpPr>
        <p:spPr/>
        <p:txBody>
          <a:bodyPr/>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a:solidFill>
                  <a:schemeClr val="lt1"/>
                </a:solidFill>
                <a:latin typeface="Open Sans Condensed"/>
              </a:rPr>
              <a:t>Output Layer</a:t>
            </a:r>
            <a:endParaRPr lang="en-US" sz="4400" b="0" strike="noStrike" spc="-1">
              <a:solidFill>
                <a:schemeClr val="dk1"/>
              </a:solidFill>
              <a:latin typeface="Open Sans Condensed"/>
            </a:endParaRPr>
          </a:p>
        </p:txBody>
      </p:sp>
      <p:sp>
        <p:nvSpPr>
          <p:cNvPr id="100" name="PlaceHolder 2"/>
          <p:cNvSpPr>
            <a:spLocks noGrp="1"/>
          </p:cNvSpPr>
          <p:nvPr>
            <p:ph/>
          </p:nvPr>
        </p:nvSpPr>
        <p:spPr>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The final layer is the output layer. </a:t>
            </a:r>
          </a:p>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In a classification task, this layer often uses a </a:t>
            </a:r>
            <a:r>
              <a:rPr lang="en-US" sz="2800" b="0" strike="noStrike" spc="-1" dirty="0" err="1">
                <a:solidFill>
                  <a:schemeClr val="lt1"/>
                </a:solidFill>
                <a:latin typeface="Open Sans Condensed"/>
              </a:rPr>
              <a:t>softmax</a:t>
            </a:r>
            <a:r>
              <a:rPr lang="en-US" sz="2800" b="0" strike="noStrike" spc="-1" dirty="0">
                <a:solidFill>
                  <a:schemeClr val="lt1"/>
                </a:solidFill>
                <a:latin typeface="Open Sans Condensed"/>
              </a:rPr>
              <a:t> function if the task is multi-class classification, or a sigmoid function for binary classification. </a:t>
            </a:r>
          </a:p>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For regression tasks, no activation function might be applied in the output layer.</a:t>
            </a:r>
          </a:p>
          <a:p>
            <a:pPr indent="0" algn="just" defTabSz="914400">
              <a:lnSpc>
                <a:spcPct val="90000"/>
              </a:lnSpc>
              <a:spcBef>
                <a:spcPts val="1001"/>
              </a:spcBef>
              <a:buNone/>
            </a:pPr>
            <a:endParaRPr lang="en-US" sz="2800" b="0" strike="noStrike" spc="-1" dirty="0">
              <a:solidFill>
                <a:schemeClr val="lt1"/>
              </a:solidFill>
              <a:latin typeface="Open Sans Condense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a:solidFill>
                  <a:schemeClr val="lt1"/>
                </a:solidFill>
                <a:latin typeface="Open Sans Condensed"/>
              </a:rPr>
              <a:t>Backpropagation and Learning</a:t>
            </a:r>
            <a:endParaRPr lang="en-US" sz="4400" b="0" strike="noStrike" spc="-1">
              <a:solidFill>
                <a:schemeClr val="dk1"/>
              </a:solidFill>
              <a:latin typeface="Open Sans Condensed"/>
            </a:endParaRPr>
          </a:p>
        </p:txBody>
      </p:sp>
      <p:sp>
        <p:nvSpPr>
          <p:cNvPr id="102" name="PlaceHolder 2"/>
          <p:cNvSpPr>
            <a:spLocks noGrp="1"/>
          </p:cNvSpPr>
          <p:nvPr>
            <p:ph/>
          </p:nvPr>
        </p:nvSpPr>
        <p:spPr>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 Once a forward pass through the network is completed, the output is compared to the true value to calculate the error. </a:t>
            </a:r>
          </a:p>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The error is then propagated back through the network (backpropagation), adjusting the weights and biases to minimize the error. </a:t>
            </a:r>
          </a:p>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Backpropagation is typically done using optimization algorithms, such as stochastic gradient descent (SGD) and its variants.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FD727-5BA1-887F-BF80-98B09FD4202A}"/>
              </a:ext>
            </a:extLst>
          </p:cNvPr>
          <p:cNvSpPr>
            <a:spLocks noGrp="1"/>
          </p:cNvSpPr>
          <p:nvPr>
            <p:ph type="title"/>
          </p:nvPr>
        </p:nvSpPr>
        <p:spPr/>
        <p:txBody>
          <a:bodyPr/>
          <a:lstStyle/>
          <a:p>
            <a:endParaRPr lang="en-US"/>
          </a:p>
        </p:txBody>
      </p:sp>
      <p:sp>
        <p:nvSpPr>
          <p:cNvPr id="104" name="Picture 2"/>
          <p:cNvSpPr/>
          <p:nvPr/>
        </p:nvSpPr>
        <p:spPr>
          <a:xfrm>
            <a:off x="3262320" y="1825560"/>
            <a:ext cx="5666760" cy="4350960"/>
          </a:xfrm>
          <a:prstGeom prst="roundRect">
            <a:avLst>
              <a:gd name="adj" fmla="val 3591"/>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 name="Content Placeholder 2">
            <a:extLst>
              <a:ext uri="{FF2B5EF4-FFF2-40B4-BE49-F238E27FC236}">
                <a16:creationId xmlns:a16="http://schemas.microsoft.com/office/drawing/2014/main" id="{7B3215BC-A0AE-D9E1-6FB8-939401053FD1}"/>
              </a:ext>
            </a:extLst>
          </p:cNvPr>
          <p:cNvSpPr>
            <a:spLocks noGrp="1"/>
          </p:cNvSpPr>
          <p:nvPr>
            <p:ph/>
          </p:nvPr>
        </p:nvSpPr>
        <p:spPr/>
        <p:txBody>
          <a:bodyPr/>
          <a:lstStyle/>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a:solidFill>
                  <a:schemeClr val="lt1"/>
                </a:solidFill>
                <a:latin typeface="Open Sans Condensed"/>
              </a:rPr>
              <a:t>Iteration and Convergence</a:t>
            </a:r>
            <a:endParaRPr lang="en-US" sz="4400" b="0" strike="noStrike" spc="-1">
              <a:solidFill>
                <a:schemeClr val="dk1"/>
              </a:solidFill>
              <a:latin typeface="Open Sans Condensed"/>
            </a:endParaRPr>
          </a:p>
        </p:txBody>
      </p:sp>
      <p:sp>
        <p:nvSpPr>
          <p:cNvPr id="106" name="PlaceHolder 2"/>
          <p:cNvSpPr>
            <a:spLocks noGrp="1"/>
          </p:cNvSpPr>
          <p:nvPr>
            <p:ph/>
          </p:nvPr>
        </p:nvSpPr>
        <p:spPr>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The process of forward propagation, error calculation, backpropagation, and parameter update is repeated for many iterations over the training data. </a:t>
            </a:r>
          </a:p>
          <a:p>
            <a:pPr marL="228600" indent="-228600" algn="just" defTabSz="914400">
              <a:lnSpc>
                <a:spcPct val="90000"/>
              </a:lnSpc>
              <a:spcBef>
                <a:spcPts val="1001"/>
              </a:spcBef>
              <a:buClr>
                <a:srgbClr val="FFFFFF"/>
              </a:buClr>
              <a:buFont typeface="Arial"/>
              <a:buChar char="•"/>
            </a:pPr>
            <a:r>
              <a:rPr lang="en-US" sz="2800" b="0" strike="noStrike" spc="-1" dirty="0">
                <a:solidFill>
                  <a:schemeClr val="lt1"/>
                </a:solidFill>
                <a:latin typeface="Open Sans Condensed"/>
              </a:rPr>
              <a:t>Gradually, the network learns to reduce the error, and the weights and biases converge to values that make the network capable of making accurate predictions or approximations.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a:solidFill>
                  <a:schemeClr val="lt1"/>
                </a:solidFill>
                <a:latin typeface="Open Sans Condensed"/>
              </a:rPr>
              <a:t>Applications of MLP</a:t>
            </a:r>
            <a:endParaRPr lang="en-US" sz="4400" b="0" strike="noStrike" spc="-1">
              <a:solidFill>
                <a:schemeClr val="dk1"/>
              </a:solidFill>
              <a:latin typeface="Open Sans Condensed"/>
            </a:endParaRPr>
          </a:p>
        </p:txBody>
      </p:sp>
      <p:sp>
        <p:nvSpPr>
          <p:cNvPr id="108" name="PlaceHolder 2"/>
          <p:cNvSpPr>
            <a:spLocks noGrp="1"/>
          </p:cNvSpPr>
          <p:nvPr>
            <p:ph/>
          </p:nvPr>
        </p:nvSpPr>
        <p:spPr>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Classification</a:t>
            </a:r>
          </a:p>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Regression</a:t>
            </a:r>
          </a:p>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NLP Tasks</a:t>
            </a:r>
          </a:p>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Anomaly Detection</a:t>
            </a:r>
          </a:p>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Speech Recognition</a:t>
            </a:r>
          </a:p>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Computer Vision</a:t>
            </a:r>
          </a:p>
          <a:p>
            <a:pPr marL="228600" indent="-228600" algn="just" defTabSz="914400">
              <a:lnSpc>
                <a:spcPct val="90000"/>
              </a:lnSpc>
              <a:spcBef>
                <a:spcPts val="1001"/>
              </a:spcBef>
              <a:buClr>
                <a:srgbClr val="FFFFFF"/>
              </a:buClr>
              <a:buFont typeface="Arial"/>
              <a:buChar char="•"/>
            </a:pPr>
            <a:r>
              <a:rPr lang="en-US" sz="2800" b="0" strike="noStrike" spc="-1">
                <a:solidFill>
                  <a:schemeClr val="lt1"/>
                </a:solidFill>
                <a:latin typeface="Open Sans Condensed"/>
              </a:rPr>
              <a:t>Data Analytics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type="title"/>
          </p:nvPr>
        </p:nvSpPr>
        <p:spPr>
          <a:prstGeom prst="rect">
            <a:avLst/>
          </a:prstGeom>
          <a:noFill/>
          <a:ln w="0">
            <a:noFill/>
          </a:ln>
        </p:spPr>
        <p:txBody>
          <a:bodyPr lIns="91440" tIns="45720" rIns="91440" bIns="45720" anchor="ctr">
            <a:noAutofit/>
          </a:bodyPr>
          <a:lstStyle/>
          <a:p>
            <a:pPr indent="0" algn="just" defTabSz="914400">
              <a:lnSpc>
                <a:spcPct val="90000"/>
              </a:lnSpc>
              <a:buNone/>
            </a:pPr>
            <a:r>
              <a:rPr lang="en-US" sz="4400" b="0" strike="noStrike" spc="-1">
                <a:solidFill>
                  <a:schemeClr val="lt1"/>
                </a:solidFill>
                <a:latin typeface="Open Sans Condensed"/>
              </a:rPr>
              <a:t>Source</a:t>
            </a:r>
            <a:endParaRPr lang="en-US" sz="4400" b="0" strike="noStrike" spc="-1">
              <a:solidFill>
                <a:schemeClr val="dk1"/>
              </a:solidFill>
              <a:latin typeface="Open Sans Condensed"/>
            </a:endParaRPr>
          </a:p>
        </p:txBody>
      </p:sp>
      <p:sp>
        <p:nvSpPr>
          <p:cNvPr id="110" name="PlaceHolder 2"/>
          <p:cNvSpPr>
            <a:spLocks noGrp="1"/>
          </p:cNvSpPr>
          <p:nvPr>
            <p:ph/>
          </p:nvPr>
        </p:nvSpPr>
        <p:spPr>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ED7D31"/>
              </a:buClr>
              <a:buFont typeface="Arial"/>
              <a:buChar char="•"/>
            </a:pPr>
            <a:r>
              <a:rPr lang="en-US" sz="2800" b="0" u="sng" strike="noStrike" spc="-1">
                <a:solidFill>
                  <a:schemeClr val="accent2"/>
                </a:solidFill>
                <a:uFillTx/>
                <a:latin typeface="Open Sans Condensed"/>
                <a:hlinkClick r:id="rId2"/>
              </a:rPr>
              <a:t>https://aiml.com/what-is-a-multilayer-perceptron-mlp/</a:t>
            </a:r>
            <a:endParaRPr lang="en-US" sz="2800" b="0" strike="noStrike" spc="-1">
              <a:solidFill>
                <a:schemeClr val="lt1"/>
              </a:solidFill>
              <a:latin typeface="Open Sans Condensed"/>
            </a:endParaRPr>
          </a:p>
          <a:p>
            <a:pPr indent="0" algn="just" defTabSz="914400">
              <a:lnSpc>
                <a:spcPct val="90000"/>
              </a:lnSpc>
              <a:spcBef>
                <a:spcPts val="1001"/>
              </a:spcBef>
              <a:buNone/>
            </a:pPr>
            <a:endParaRPr lang="en-US" sz="2800" b="0" strike="noStrike" spc="-1">
              <a:solidFill>
                <a:schemeClr val="lt1"/>
              </a:solidFill>
              <a:latin typeface="Open Sans Condense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B1954-DDB0-9560-5EC4-4D5B6F33183A}"/>
              </a:ext>
            </a:extLst>
          </p:cNvPr>
          <p:cNvSpPr>
            <a:spLocks noGrp="1"/>
          </p:cNvSpPr>
          <p:nvPr>
            <p:ph type="title"/>
          </p:nvPr>
        </p:nvSpPr>
        <p:spPr/>
        <p:txBody>
          <a:bodyPr/>
          <a:lstStyle/>
          <a:p>
            <a:r>
              <a:rPr lang="en-US" dirty="0"/>
              <a:t>What are outlier?</a:t>
            </a:r>
          </a:p>
        </p:txBody>
      </p:sp>
      <p:sp>
        <p:nvSpPr>
          <p:cNvPr id="3" name="Content Placeholder 2">
            <a:extLst>
              <a:ext uri="{FF2B5EF4-FFF2-40B4-BE49-F238E27FC236}">
                <a16:creationId xmlns:a16="http://schemas.microsoft.com/office/drawing/2014/main" id="{26DC0F7C-762B-3E0B-A2F2-1AC646B4903A}"/>
              </a:ext>
            </a:extLst>
          </p:cNvPr>
          <p:cNvSpPr>
            <a:spLocks noGrp="1"/>
          </p:cNvSpPr>
          <p:nvPr>
            <p:ph/>
          </p:nvPr>
        </p:nvSpPr>
        <p:spPr/>
        <p:txBody>
          <a:bodyPr/>
          <a:lstStyle/>
          <a:p>
            <a:r>
              <a:rPr lang="en-US" dirty="0"/>
              <a:t>Outliers are data points that significantly differ from other observations in a dataset, appearing as unusually high or low values that don't follow the general pattern</a:t>
            </a:r>
          </a:p>
        </p:txBody>
      </p:sp>
      <p:pic>
        <p:nvPicPr>
          <p:cNvPr id="1026" name="Picture 2">
            <a:extLst>
              <a:ext uri="{FF2B5EF4-FFF2-40B4-BE49-F238E27FC236}">
                <a16:creationId xmlns:a16="http://schemas.microsoft.com/office/drawing/2014/main" id="{0F292151-1811-18B5-1A7D-C65AF63792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140" y="3333904"/>
            <a:ext cx="2857500" cy="233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86445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3D77C-7371-BBD3-A2CC-B21BF4D47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754EF7-AA16-A4D8-B88C-5E73C2B9EA6C}"/>
              </a:ext>
            </a:extLst>
          </p:cNvPr>
          <p:cNvSpPr>
            <a:spLocks noGrp="1"/>
          </p:cNvSpPr>
          <p:nvPr>
            <p:ph type="title"/>
          </p:nvPr>
        </p:nvSpPr>
        <p:spPr/>
        <p:txBody>
          <a:bodyPr/>
          <a:lstStyle/>
          <a:p>
            <a:r>
              <a:rPr lang="en-US" dirty="0"/>
              <a:t>What are outlier?</a:t>
            </a:r>
          </a:p>
        </p:txBody>
      </p:sp>
      <p:sp>
        <p:nvSpPr>
          <p:cNvPr id="4" name="Content Placeholder 3">
            <a:extLst>
              <a:ext uri="{FF2B5EF4-FFF2-40B4-BE49-F238E27FC236}">
                <a16:creationId xmlns:a16="http://schemas.microsoft.com/office/drawing/2014/main" id="{D5EE7192-9842-127C-9541-D21C58BE4514}"/>
              </a:ext>
            </a:extLst>
          </p:cNvPr>
          <p:cNvSpPr>
            <a:spLocks noGrp="1"/>
          </p:cNvSpPr>
          <p:nvPr>
            <p:ph/>
          </p:nvPr>
        </p:nvSpPr>
        <p:spPr/>
        <p:txBody>
          <a:bodyPr>
            <a:normAutofit lnSpcReduction="10000"/>
          </a:bodyPr>
          <a:lstStyle/>
          <a:p>
            <a:r>
              <a:rPr lang="en-US" dirty="0"/>
              <a:t>They can be caused by measurement or execution errors</a:t>
            </a:r>
          </a:p>
          <a:p>
            <a:r>
              <a:rPr lang="en-US" dirty="0"/>
              <a:t>Outlier analysis or outlier mining</a:t>
            </a:r>
          </a:p>
          <a:p>
            <a:r>
              <a:rPr lang="en-US" dirty="0"/>
              <a:t>An outlier cannot be termed as a noise or error.</a:t>
            </a:r>
          </a:p>
          <a:p>
            <a:r>
              <a:rPr lang="en-US" dirty="0"/>
              <a:t>Outliers can skew results, but they can also highlight fraud (finance), critical patient conditions (healthcare), or new discoveries. </a:t>
            </a:r>
          </a:p>
          <a:p>
            <a:r>
              <a:rPr lang="en-US" dirty="0"/>
              <a:t>IQR Method: Points beyond \(Q3+1.5\times IQR\) or \(Q1-1.5\times IQR\) are outliers.</a:t>
            </a:r>
          </a:p>
          <a:p>
            <a:r>
              <a:rPr lang="en-US" dirty="0"/>
              <a:t>Z-Score: Points far from the mean (e.g., &gt;3 or &lt; -3 standard deviations). </a:t>
            </a:r>
          </a:p>
        </p:txBody>
      </p:sp>
    </p:spTree>
    <p:extLst>
      <p:ext uri="{BB962C8B-B14F-4D97-AF65-F5344CB8AC3E}">
        <p14:creationId xmlns:p14="http://schemas.microsoft.com/office/powerpoint/2010/main" val="17419627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347DE-870B-3EB0-0CA8-3A16FD594AA8}"/>
              </a:ext>
            </a:extLst>
          </p:cNvPr>
          <p:cNvSpPr>
            <a:spLocks noGrp="1"/>
          </p:cNvSpPr>
          <p:nvPr>
            <p:ph type="title"/>
          </p:nvPr>
        </p:nvSpPr>
        <p:spPr/>
        <p:txBody>
          <a:bodyPr/>
          <a:lstStyle/>
          <a:p>
            <a:r>
              <a:rPr lang="en-US" dirty="0"/>
              <a:t>Why Outliers Occur?</a:t>
            </a:r>
          </a:p>
        </p:txBody>
      </p:sp>
      <p:sp>
        <p:nvSpPr>
          <p:cNvPr id="3" name="Content Placeholder 2">
            <a:extLst>
              <a:ext uri="{FF2B5EF4-FFF2-40B4-BE49-F238E27FC236}">
                <a16:creationId xmlns:a16="http://schemas.microsoft.com/office/drawing/2014/main" id="{C37D5513-85AB-716E-F518-376F16545159}"/>
              </a:ext>
            </a:extLst>
          </p:cNvPr>
          <p:cNvSpPr>
            <a:spLocks noGrp="1"/>
          </p:cNvSpPr>
          <p:nvPr>
            <p:ph/>
          </p:nvPr>
        </p:nvSpPr>
        <p:spPr/>
        <p:txBody>
          <a:bodyPr/>
          <a:lstStyle/>
          <a:p>
            <a:r>
              <a:rPr lang="en-US" dirty="0"/>
              <a:t>Data Entry Errors</a:t>
            </a:r>
          </a:p>
          <a:p>
            <a:r>
              <a:rPr lang="en-US" dirty="0"/>
              <a:t>Measurement Errors</a:t>
            </a:r>
          </a:p>
          <a:p>
            <a:r>
              <a:rPr lang="en-US" dirty="0"/>
              <a:t>Experimental Errors</a:t>
            </a:r>
          </a:p>
          <a:p>
            <a:r>
              <a:rPr lang="en-US" dirty="0"/>
              <a:t>Intentional Outliers</a:t>
            </a:r>
          </a:p>
          <a:p>
            <a:r>
              <a:rPr lang="en-US" dirty="0"/>
              <a:t>Data Processing Errors</a:t>
            </a:r>
          </a:p>
          <a:p>
            <a:r>
              <a:rPr lang="en-US" dirty="0"/>
              <a:t>Natural Variation</a:t>
            </a:r>
          </a:p>
        </p:txBody>
      </p:sp>
    </p:spTree>
    <p:extLst>
      <p:ext uri="{BB962C8B-B14F-4D97-AF65-F5344CB8AC3E}">
        <p14:creationId xmlns:p14="http://schemas.microsoft.com/office/powerpoint/2010/main" val="8610867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1AAB4-40E8-7E31-730A-E6C66498643B}"/>
              </a:ext>
            </a:extLst>
          </p:cNvPr>
          <p:cNvSpPr>
            <a:spLocks noGrp="1"/>
          </p:cNvSpPr>
          <p:nvPr>
            <p:ph type="title"/>
          </p:nvPr>
        </p:nvSpPr>
        <p:spPr/>
        <p:txBody>
          <a:bodyPr/>
          <a:lstStyle/>
          <a:p>
            <a:r>
              <a:rPr lang="en-US" dirty="0"/>
              <a:t>Why Removing Outliers is Necessary?</a:t>
            </a:r>
          </a:p>
        </p:txBody>
      </p:sp>
      <p:sp>
        <p:nvSpPr>
          <p:cNvPr id="3" name="Content Placeholder 2">
            <a:extLst>
              <a:ext uri="{FF2B5EF4-FFF2-40B4-BE49-F238E27FC236}">
                <a16:creationId xmlns:a16="http://schemas.microsoft.com/office/drawing/2014/main" id="{0851F130-7C02-480B-E43B-C256E378ADD1}"/>
              </a:ext>
            </a:extLst>
          </p:cNvPr>
          <p:cNvSpPr>
            <a:spLocks noGrp="1"/>
          </p:cNvSpPr>
          <p:nvPr>
            <p:ph/>
          </p:nvPr>
        </p:nvSpPr>
        <p:spPr/>
        <p:txBody>
          <a:bodyPr>
            <a:normAutofit/>
          </a:bodyPr>
          <a:lstStyle/>
          <a:p>
            <a:r>
              <a:rPr lang="en-US" dirty="0"/>
              <a:t>Impact On Analysis</a:t>
            </a:r>
          </a:p>
          <a:p>
            <a:r>
              <a:rPr lang="en-US" dirty="0"/>
              <a:t>Outliers can heavily distort statistical measures like the mean, variance and correlation leading to biased or misleading results.</a:t>
            </a:r>
          </a:p>
          <a:p>
            <a:r>
              <a:rPr lang="en-US" dirty="0"/>
              <a:t>Removing extreme values helps the analysis represent the central trend and typical behavior of the dataset more accurately.</a:t>
            </a:r>
          </a:p>
        </p:txBody>
      </p:sp>
    </p:spTree>
    <p:extLst>
      <p:ext uri="{BB962C8B-B14F-4D97-AF65-F5344CB8AC3E}">
        <p14:creationId xmlns:p14="http://schemas.microsoft.com/office/powerpoint/2010/main" val="25692262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9AFAC-6B56-3922-54C6-EC3CA9014963}"/>
              </a:ext>
            </a:extLst>
          </p:cNvPr>
          <p:cNvSpPr>
            <a:spLocks noGrp="1"/>
          </p:cNvSpPr>
          <p:nvPr>
            <p:ph type="title"/>
          </p:nvPr>
        </p:nvSpPr>
        <p:spPr/>
        <p:txBody>
          <a:bodyPr/>
          <a:lstStyle/>
          <a:p>
            <a:r>
              <a:rPr lang="en-US" dirty="0"/>
              <a:t>Why Removing Outliers Is Necessary?</a:t>
            </a:r>
          </a:p>
        </p:txBody>
      </p:sp>
      <p:sp>
        <p:nvSpPr>
          <p:cNvPr id="3" name="Content Placeholder 2">
            <a:extLst>
              <a:ext uri="{FF2B5EF4-FFF2-40B4-BE49-F238E27FC236}">
                <a16:creationId xmlns:a16="http://schemas.microsoft.com/office/drawing/2014/main" id="{418AB575-4EBF-BBE4-0075-4396422192E6}"/>
              </a:ext>
            </a:extLst>
          </p:cNvPr>
          <p:cNvSpPr>
            <a:spLocks noGrp="1"/>
          </p:cNvSpPr>
          <p:nvPr>
            <p:ph/>
          </p:nvPr>
        </p:nvSpPr>
        <p:spPr/>
        <p:txBody>
          <a:bodyPr/>
          <a:lstStyle/>
          <a:p>
            <a:r>
              <a:rPr lang="en-US" dirty="0"/>
              <a:t>Statistical Validity</a:t>
            </a:r>
          </a:p>
          <a:p>
            <a:r>
              <a:rPr lang="en-US" dirty="0"/>
              <a:t>Outliers can weaken the reliability of hypothesis testing and reduce the performance of predictive models.</a:t>
            </a:r>
          </a:p>
          <a:p>
            <a:r>
              <a:rPr lang="en-US" dirty="0"/>
              <a:t>Proper handling of outliers improves model stability, accuracy and the trustworthiness of statistical conclusions.</a:t>
            </a:r>
          </a:p>
        </p:txBody>
      </p:sp>
    </p:spTree>
    <p:extLst>
      <p:ext uri="{BB962C8B-B14F-4D97-AF65-F5344CB8AC3E}">
        <p14:creationId xmlns:p14="http://schemas.microsoft.com/office/powerpoint/2010/main" val="14244961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3F861-EB5E-3182-6CC8-DC5D2943E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8FE4C-B294-F3B6-380A-9DEDA0AF1F5C}"/>
              </a:ext>
            </a:extLst>
          </p:cNvPr>
          <p:cNvSpPr>
            <a:spLocks noGrp="1"/>
          </p:cNvSpPr>
          <p:nvPr>
            <p:ph type="title"/>
          </p:nvPr>
        </p:nvSpPr>
        <p:spPr/>
        <p:txBody>
          <a:bodyPr/>
          <a:lstStyle/>
          <a:p>
            <a:r>
              <a:rPr lang="en-US" dirty="0"/>
              <a:t>Why Removing Outliers Is Necessary?</a:t>
            </a:r>
          </a:p>
        </p:txBody>
      </p:sp>
      <p:sp>
        <p:nvSpPr>
          <p:cNvPr id="3" name="Content Placeholder 2">
            <a:extLst>
              <a:ext uri="{FF2B5EF4-FFF2-40B4-BE49-F238E27FC236}">
                <a16:creationId xmlns:a16="http://schemas.microsoft.com/office/drawing/2014/main" id="{3B30C4F1-D7E9-1E31-1C41-354997F844CA}"/>
              </a:ext>
            </a:extLst>
          </p:cNvPr>
          <p:cNvSpPr>
            <a:spLocks noGrp="1"/>
          </p:cNvSpPr>
          <p:nvPr>
            <p:ph/>
          </p:nvPr>
        </p:nvSpPr>
        <p:spPr/>
        <p:txBody>
          <a:bodyPr/>
          <a:lstStyle/>
          <a:p>
            <a:r>
              <a:rPr lang="en-US" dirty="0"/>
              <a:t>Model Performance and Interpretability</a:t>
            </a:r>
          </a:p>
          <a:p>
            <a:r>
              <a:rPr lang="en-US" dirty="0"/>
              <a:t>Outliers may cause machine learning models to overfit or learn incorrect patterns from rare extreme values.</a:t>
            </a:r>
          </a:p>
          <a:p>
            <a:r>
              <a:rPr lang="en-US" dirty="0"/>
              <a:t>Eliminating irrelevant outliers makes models easier to interpret and enhances their generalization to new data.</a:t>
            </a:r>
          </a:p>
        </p:txBody>
      </p:sp>
    </p:spTree>
    <p:extLst>
      <p:ext uri="{BB962C8B-B14F-4D97-AF65-F5344CB8AC3E}">
        <p14:creationId xmlns:p14="http://schemas.microsoft.com/office/powerpoint/2010/main" val="2410976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330DA-A790-DF78-5C52-F3DD203C9C69}"/>
              </a:ext>
            </a:extLst>
          </p:cNvPr>
          <p:cNvSpPr>
            <a:spLocks noGrp="1"/>
          </p:cNvSpPr>
          <p:nvPr>
            <p:ph type="title"/>
          </p:nvPr>
        </p:nvSpPr>
        <p:spPr/>
        <p:txBody>
          <a:bodyPr/>
          <a:lstStyle/>
          <a:p>
            <a:r>
              <a:rPr lang="en-US" dirty="0"/>
              <a:t>Outliers Identification using Statistical Methods</a:t>
            </a:r>
          </a:p>
        </p:txBody>
      </p:sp>
      <p:sp>
        <p:nvSpPr>
          <p:cNvPr id="3" name="Content Placeholder 2">
            <a:extLst>
              <a:ext uri="{FF2B5EF4-FFF2-40B4-BE49-F238E27FC236}">
                <a16:creationId xmlns:a16="http://schemas.microsoft.com/office/drawing/2014/main" id="{B7C0F9E1-A129-4CB7-638C-453706BE62FA}"/>
              </a:ext>
            </a:extLst>
          </p:cNvPr>
          <p:cNvSpPr>
            <a:spLocks noGrp="1"/>
          </p:cNvSpPr>
          <p:nvPr>
            <p:ph/>
          </p:nvPr>
        </p:nvSpPr>
        <p:spPr/>
        <p:txBody>
          <a:bodyPr/>
          <a:lstStyle/>
          <a:p>
            <a:r>
              <a:rPr lang="en-US" dirty="0"/>
              <a:t>Statistical methods identify outliers by measuring how far data points deviate from the overall distribution using mathematical thresholds.</a:t>
            </a:r>
          </a:p>
        </p:txBody>
      </p:sp>
    </p:spTree>
    <p:extLst>
      <p:ext uri="{BB962C8B-B14F-4D97-AF65-F5344CB8AC3E}">
        <p14:creationId xmlns:p14="http://schemas.microsoft.com/office/powerpoint/2010/main" val="10381079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AA2D5-3E82-51EA-16AF-7F40A4B0D1B8}"/>
              </a:ext>
            </a:extLst>
          </p:cNvPr>
          <p:cNvSpPr>
            <a:spLocks noGrp="1"/>
          </p:cNvSpPr>
          <p:nvPr>
            <p:ph type="title"/>
          </p:nvPr>
        </p:nvSpPr>
        <p:spPr/>
        <p:txBody>
          <a:bodyPr/>
          <a:lstStyle/>
          <a:p>
            <a:r>
              <a:rPr lang="en-US" dirty="0"/>
              <a:t>Types of outliers</a:t>
            </a:r>
          </a:p>
        </p:txBody>
      </p:sp>
      <p:sp>
        <p:nvSpPr>
          <p:cNvPr id="3" name="Content Placeholder 2">
            <a:extLst>
              <a:ext uri="{FF2B5EF4-FFF2-40B4-BE49-F238E27FC236}">
                <a16:creationId xmlns:a16="http://schemas.microsoft.com/office/drawing/2014/main" id="{E1151BF5-9C0F-F3A6-ECD1-D576A3E917F3}"/>
              </a:ext>
            </a:extLst>
          </p:cNvPr>
          <p:cNvSpPr>
            <a:spLocks noGrp="1"/>
          </p:cNvSpPr>
          <p:nvPr>
            <p:ph/>
          </p:nvPr>
        </p:nvSpPr>
        <p:spPr/>
        <p:txBody>
          <a:bodyPr/>
          <a:lstStyle/>
          <a:p>
            <a:pPr marL="514350" indent="-514350">
              <a:buFont typeface="+mj-lt"/>
              <a:buAutoNum type="arabicPeriod"/>
            </a:pPr>
            <a:r>
              <a:rPr lang="en-US" dirty="0"/>
              <a:t>Global (or Point) Outliers</a:t>
            </a:r>
          </a:p>
          <a:p>
            <a:pPr marL="514350" indent="-514350">
              <a:buFont typeface="+mj-lt"/>
              <a:buAutoNum type="arabicPeriod"/>
            </a:pPr>
            <a:r>
              <a:rPr lang="en-US" dirty="0"/>
              <a:t>Collective Outliers</a:t>
            </a:r>
          </a:p>
          <a:p>
            <a:pPr marL="514350" indent="-514350">
              <a:buFont typeface="+mj-lt"/>
              <a:buAutoNum type="arabicPeriod"/>
            </a:pPr>
            <a:r>
              <a:rPr lang="en-US" dirty="0"/>
              <a:t>Contextual (or Conditional) Outliers</a:t>
            </a:r>
          </a:p>
        </p:txBody>
      </p:sp>
    </p:spTree>
    <p:extLst>
      <p:ext uri="{BB962C8B-B14F-4D97-AF65-F5344CB8AC3E}">
        <p14:creationId xmlns:p14="http://schemas.microsoft.com/office/powerpoint/2010/main" val="17802220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A4890-CF5B-FEA8-45EC-34E3CD1FD3B7}"/>
              </a:ext>
            </a:extLst>
          </p:cNvPr>
          <p:cNvSpPr>
            <a:spLocks noGrp="1"/>
          </p:cNvSpPr>
          <p:nvPr>
            <p:ph type="title"/>
          </p:nvPr>
        </p:nvSpPr>
        <p:spPr/>
        <p:txBody>
          <a:bodyPr/>
          <a:lstStyle/>
          <a:p>
            <a:r>
              <a:rPr lang="en-US" dirty="0"/>
              <a:t>What is Global Outliers?</a:t>
            </a:r>
          </a:p>
        </p:txBody>
      </p:sp>
      <p:sp>
        <p:nvSpPr>
          <p:cNvPr id="3" name="Content Placeholder 2">
            <a:extLst>
              <a:ext uri="{FF2B5EF4-FFF2-40B4-BE49-F238E27FC236}">
                <a16:creationId xmlns:a16="http://schemas.microsoft.com/office/drawing/2014/main" id="{62BDAF1E-469E-F388-6309-9653D9BA38C9}"/>
              </a:ext>
            </a:extLst>
          </p:cNvPr>
          <p:cNvSpPr>
            <a:spLocks noGrp="1"/>
          </p:cNvSpPr>
          <p:nvPr>
            <p:ph/>
          </p:nvPr>
        </p:nvSpPr>
        <p:spPr/>
        <p:txBody>
          <a:bodyPr>
            <a:normAutofit/>
          </a:bodyPr>
          <a:lstStyle/>
          <a:p>
            <a:r>
              <a:rPr lang="en-US" dirty="0"/>
              <a:t>Global outliers are data points that deviate significantly from the overall distribution of a dataset.</a:t>
            </a:r>
          </a:p>
          <a:p>
            <a:r>
              <a:rPr lang="en-US" dirty="0"/>
              <a:t>Errors in data collection, measurement errors, or truly unusual events can result in global outliers.</a:t>
            </a:r>
          </a:p>
          <a:p>
            <a:r>
              <a:rPr lang="en-US" dirty="0"/>
              <a:t>Techniques include statistical methods (e.g., z-score, </a:t>
            </a:r>
            <a:r>
              <a:rPr lang="en-US" dirty="0" err="1"/>
              <a:t>Mahalanobis</a:t>
            </a:r>
            <a:r>
              <a:rPr lang="en-US" dirty="0"/>
              <a:t> distance), machine learning algorithms (e.g., isolation forest, one-class SVM), and data visualization techniques.</a:t>
            </a:r>
          </a:p>
        </p:txBody>
      </p:sp>
      <p:pic>
        <p:nvPicPr>
          <p:cNvPr id="2050" name="Picture 2">
            <a:extLst>
              <a:ext uri="{FF2B5EF4-FFF2-40B4-BE49-F238E27FC236}">
                <a16:creationId xmlns:a16="http://schemas.microsoft.com/office/drawing/2014/main" id="{C0667CA8-8316-547B-1FA5-7917237873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15485" y="4444949"/>
            <a:ext cx="2857500" cy="233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54521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F3A6C-77C8-805A-4373-1B1EF3CBECA4}"/>
              </a:ext>
            </a:extLst>
          </p:cNvPr>
          <p:cNvSpPr>
            <a:spLocks noGrp="1"/>
          </p:cNvSpPr>
          <p:nvPr>
            <p:ph type="title"/>
          </p:nvPr>
        </p:nvSpPr>
        <p:spPr/>
        <p:txBody>
          <a:bodyPr/>
          <a:lstStyle/>
          <a:p>
            <a:r>
              <a:rPr lang="en-US" dirty="0"/>
              <a:t>Collective Outliers</a:t>
            </a:r>
          </a:p>
        </p:txBody>
      </p:sp>
      <p:sp>
        <p:nvSpPr>
          <p:cNvPr id="3" name="Content Placeholder 2">
            <a:extLst>
              <a:ext uri="{FF2B5EF4-FFF2-40B4-BE49-F238E27FC236}">
                <a16:creationId xmlns:a16="http://schemas.microsoft.com/office/drawing/2014/main" id="{CD71D82B-4CE9-EADA-015C-C59A04E2BCE1}"/>
              </a:ext>
            </a:extLst>
          </p:cNvPr>
          <p:cNvSpPr>
            <a:spLocks noGrp="1"/>
          </p:cNvSpPr>
          <p:nvPr>
            <p:ph/>
          </p:nvPr>
        </p:nvSpPr>
        <p:spPr/>
        <p:txBody>
          <a:bodyPr>
            <a:normAutofit/>
          </a:bodyPr>
          <a:lstStyle/>
          <a:p>
            <a:r>
              <a:rPr lang="en-US" dirty="0"/>
              <a:t>Collective outliers are groups of data points that collectively deviate significantly from the overall distribution of a dataset.</a:t>
            </a:r>
          </a:p>
          <a:p>
            <a:r>
              <a:rPr lang="en-US" dirty="0"/>
              <a:t>Collective outliers may not be outliers when considered individually, but as a group, they exhibit unusual behavior.</a:t>
            </a:r>
          </a:p>
          <a:p>
            <a:r>
              <a:rPr lang="en-US" dirty="0"/>
              <a:t>Techniques for detecting collective outliers include clustering algorithms, density-based methods, and subspace-based approaches</a:t>
            </a:r>
          </a:p>
        </p:txBody>
      </p:sp>
      <p:pic>
        <p:nvPicPr>
          <p:cNvPr id="3074" name="Picture 2">
            <a:extLst>
              <a:ext uri="{FF2B5EF4-FFF2-40B4-BE49-F238E27FC236}">
                <a16:creationId xmlns:a16="http://schemas.microsoft.com/office/drawing/2014/main" id="{B5704654-D4EA-2BDB-7084-9C6BCC7FA8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9469" y="4477672"/>
            <a:ext cx="2857500" cy="2228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2213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BAAB7-EC57-F0DD-8E51-9C6568F441D9}"/>
              </a:ext>
            </a:extLst>
          </p:cNvPr>
          <p:cNvSpPr>
            <a:spLocks noGrp="1"/>
          </p:cNvSpPr>
          <p:nvPr>
            <p:ph type="title"/>
          </p:nvPr>
        </p:nvSpPr>
        <p:spPr/>
        <p:txBody>
          <a:bodyPr/>
          <a:lstStyle/>
          <a:p>
            <a:r>
              <a:rPr lang="en-US" dirty="0"/>
              <a:t>Contextual Outliers</a:t>
            </a:r>
          </a:p>
        </p:txBody>
      </p:sp>
      <p:sp>
        <p:nvSpPr>
          <p:cNvPr id="3" name="Content Placeholder 2">
            <a:extLst>
              <a:ext uri="{FF2B5EF4-FFF2-40B4-BE49-F238E27FC236}">
                <a16:creationId xmlns:a16="http://schemas.microsoft.com/office/drawing/2014/main" id="{289C2BF7-B4B2-2D34-BF6A-2454D968B603}"/>
              </a:ext>
            </a:extLst>
          </p:cNvPr>
          <p:cNvSpPr>
            <a:spLocks noGrp="1"/>
          </p:cNvSpPr>
          <p:nvPr>
            <p:ph/>
          </p:nvPr>
        </p:nvSpPr>
        <p:spPr/>
        <p:txBody>
          <a:bodyPr>
            <a:normAutofit/>
          </a:bodyPr>
          <a:lstStyle/>
          <a:p>
            <a:r>
              <a:rPr lang="en-US" dirty="0"/>
              <a:t>Contextual outliers are data points that deviate significantly from the expected behavior within a specific context or subgroup.</a:t>
            </a:r>
          </a:p>
          <a:p>
            <a:r>
              <a:rPr lang="en-US" dirty="0"/>
              <a:t>Techniques for detecting contextual outliers include contextual clustering, contextual anomaly detection, and context-aware machine learning approaches.</a:t>
            </a:r>
          </a:p>
          <a:p>
            <a:r>
              <a:rPr lang="en-US" dirty="0"/>
              <a:t>Contextual information such as time, location, or other relevant factors are crucial in identifying contextual outliers.</a:t>
            </a:r>
          </a:p>
        </p:txBody>
      </p:sp>
      <p:pic>
        <p:nvPicPr>
          <p:cNvPr id="4098" name="Picture 2">
            <a:extLst>
              <a:ext uri="{FF2B5EF4-FFF2-40B4-BE49-F238E27FC236}">
                <a16:creationId xmlns:a16="http://schemas.microsoft.com/office/drawing/2014/main" id="{04B5809F-ABDC-70EC-641C-31DF38D8A5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4749" y="4879245"/>
            <a:ext cx="3991896" cy="19173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0109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D2C56-2A54-9830-D3F7-08AE0239711C}"/>
              </a:ext>
            </a:extLst>
          </p:cNvPr>
          <p:cNvSpPr>
            <a:spLocks noGrp="1"/>
          </p:cNvSpPr>
          <p:nvPr>
            <p:ph type="title"/>
          </p:nvPr>
        </p:nvSpPr>
        <p:spPr/>
        <p:txBody>
          <a:bodyPr/>
          <a:lstStyle/>
          <a:p>
            <a:r>
              <a:rPr lang="en-US" dirty="0"/>
              <a:t>Box Plots</a:t>
            </a:r>
          </a:p>
        </p:txBody>
      </p:sp>
      <p:sp>
        <p:nvSpPr>
          <p:cNvPr id="3" name="Content Placeholder 2">
            <a:extLst>
              <a:ext uri="{FF2B5EF4-FFF2-40B4-BE49-F238E27FC236}">
                <a16:creationId xmlns:a16="http://schemas.microsoft.com/office/drawing/2014/main" id="{B237140C-7197-E6AD-725F-33896983BA5B}"/>
              </a:ext>
            </a:extLst>
          </p:cNvPr>
          <p:cNvSpPr>
            <a:spLocks noGrp="1"/>
          </p:cNvSpPr>
          <p:nvPr>
            <p:ph/>
          </p:nvPr>
        </p:nvSpPr>
        <p:spPr/>
        <p:txBody>
          <a:bodyPr>
            <a:normAutofit/>
          </a:bodyPr>
          <a:lstStyle/>
          <a:p>
            <a:r>
              <a:rPr lang="en-US" dirty="0"/>
              <a:t>Box plots visually summarize the distribution of a dataset using the median, quartiles and interquartile range (IQR).</a:t>
            </a:r>
          </a:p>
          <a:p>
            <a:r>
              <a:rPr lang="en-US" dirty="0"/>
              <a:t>Any data points lying beyond the whiskers typically defined as 1.5 times the IQR from the first or third quartile are considered potential outliers.</a:t>
            </a:r>
          </a:p>
          <a:p>
            <a:r>
              <a:rPr lang="en-US" dirty="0"/>
              <a:t>The box plot shows outliers as points beyond the whiskers, with 72 and 150 indicating unusually low and high IQ values.</a:t>
            </a:r>
          </a:p>
        </p:txBody>
      </p:sp>
      <p:pic>
        <p:nvPicPr>
          <p:cNvPr id="5122" name="Picture 2" descr="Box_plot_outlier">
            <a:extLst>
              <a:ext uri="{FF2B5EF4-FFF2-40B4-BE49-F238E27FC236}">
                <a16:creationId xmlns:a16="http://schemas.microsoft.com/office/drawing/2014/main" id="{2C7B8AB5-8087-8A30-85EC-AEF0B996FC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75122" y="4903444"/>
            <a:ext cx="2241756" cy="1954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37565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49E9D-E644-E7CF-4FE1-5CE9E9FF6895}"/>
              </a:ext>
            </a:extLst>
          </p:cNvPr>
          <p:cNvSpPr>
            <a:spLocks noGrp="1"/>
          </p:cNvSpPr>
          <p:nvPr>
            <p:ph type="title"/>
          </p:nvPr>
        </p:nvSpPr>
        <p:spPr/>
        <p:txBody>
          <a:bodyPr/>
          <a:lstStyle/>
          <a:p>
            <a:r>
              <a:rPr lang="en-US" dirty="0"/>
              <a:t>Z-Score</a:t>
            </a:r>
          </a:p>
        </p:txBody>
      </p:sp>
      <p:sp>
        <p:nvSpPr>
          <p:cNvPr id="3" name="Content Placeholder 2">
            <a:extLst>
              <a:ext uri="{FF2B5EF4-FFF2-40B4-BE49-F238E27FC236}">
                <a16:creationId xmlns:a16="http://schemas.microsoft.com/office/drawing/2014/main" id="{D4654212-DA02-EFEF-12E9-4AE337D9A9ED}"/>
              </a:ext>
            </a:extLst>
          </p:cNvPr>
          <p:cNvSpPr>
            <a:spLocks noGrp="1"/>
          </p:cNvSpPr>
          <p:nvPr>
            <p:ph/>
          </p:nvPr>
        </p:nvSpPr>
        <p:spPr/>
        <p:txBody>
          <a:bodyPr>
            <a:normAutofit/>
          </a:bodyPr>
          <a:lstStyle/>
          <a:p>
            <a:r>
              <a:rPr lang="en-US" dirty="0"/>
              <a:t>The Z-score method measures how many standard deviations a data point is from the mean of the dataset.</a:t>
            </a:r>
          </a:p>
          <a:p>
            <a:r>
              <a:rPr lang="en-US" dirty="0"/>
              <a:t>Values with Z-scores greater than +3 or less than −3 are commonly treated as outliers making this approach suitable for normally distributed data.</a:t>
            </a:r>
          </a:p>
          <a:p>
            <a:r>
              <a:rPr lang="en-US" dirty="0"/>
              <a:t>The output shows that IQ values 30 and 250 lie far from the mean with Z-scores beyond ±3.</a:t>
            </a:r>
          </a:p>
          <a:p>
            <a:r>
              <a:rPr lang="en-US" dirty="0"/>
              <a:t>This indicates they are extreme outliers significantly different from the rest of the data.</a:t>
            </a:r>
          </a:p>
        </p:txBody>
      </p:sp>
      <p:pic>
        <p:nvPicPr>
          <p:cNvPr id="4" name="Picture 3">
            <a:extLst>
              <a:ext uri="{FF2B5EF4-FFF2-40B4-BE49-F238E27FC236}">
                <a16:creationId xmlns:a16="http://schemas.microsoft.com/office/drawing/2014/main" id="{6B3E66E9-4D5B-520A-CFEE-AA49736D85A7}"/>
              </a:ext>
            </a:extLst>
          </p:cNvPr>
          <p:cNvPicPr>
            <a:picLocks noChangeAspect="1"/>
          </p:cNvPicPr>
          <p:nvPr/>
        </p:nvPicPr>
        <p:blipFill>
          <a:blip r:embed="rId2"/>
          <a:stretch>
            <a:fillRect/>
          </a:stretch>
        </p:blipFill>
        <p:spPr>
          <a:xfrm>
            <a:off x="4919201" y="5695507"/>
            <a:ext cx="2019300" cy="962025"/>
          </a:xfrm>
          <a:prstGeom prst="rect">
            <a:avLst/>
          </a:prstGeom>
        </p:spPr>
      </p:pic>
    </p:spTree>
    <p:extLst>
      <p:ext uri="{BB962C8B-B14F-4D97-AF65-F5344CB8AC3E}">
        <p14:creationId xmlns:p14="http://schemas.microsoft.com/office/powerpoint/2010/main" val="8018544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2A81D-664F-8BC4-97DE-6909978891E6}"/>
              </a:ext>
            </a:extLst>
          </p:cNvPr>
          <p:cNvSpPr>
            <a:spLocks noGrp="1"/>
          </p:cNvSpPr>
          <p:nvPr>
            <p:ph type="title"/>
          </p:nvPr>
        </p:nvSpPr>
        <p:spPr/>
        <p:txBody>
          <a:bodyPr/>
          <a:lstStyle/>
          <a:p>
            <a:r>
              <a:rPr lang="en-US" dirty="0"/>
              <a:t>IQR Method</a:t>
            </a:r>
          </a:p>
        </p:txBody>
      </p:sp>
      <p:sp>
        <p:nvSpPr>
          <p:cNvPr id="3" name="Content Placeholder 2">
            <a:extLst>
              <a:ext uri="{FF2B5EF4-FFF2-40B4-BE49-F238E27FC236}">
                <a16:creationId xmlns:a16="http://schemas.microsoft.com/office/drawing/2014/main" id="{9C5DC6D8-FA8F-4B96-1591-D922576455CA}"/>
              </a:ext>
            </a:extLst>
          </p:cNvPr>
          <p:cNvSpPr>
            <a:spLocks noGrp="1"/>
          </p:cNvSpPr>
          <p:nvPr>
            <p:ph/>
          </p:nvPr>
        </p:nvSpPr>
        <p:spPr/>
        <p:txBody>
          <a:bodyPr/>
          <a:lstStyle/>
          <a:p>
            <a:r>
              <a:rPr lang="en-US" dirty="0"/>
              <a:t>The IQR method defines outliers as values that fall below Q1 − 1.5 × IQR or above Q3 + 1.5 × IQR. Since it does not assume a normal distribution this technique is robust and widely used in real-world datasets.</a:t>
            </a:r>
          </a:p>
        </p:txBody>
      </p:sp>
      <p:pic>
        <p:nvPicPr>
          <p:cNvPr id="7170" name="Picture 2" descr="Zscore_outlier">
            <a:extLst>
              <a:ext uri="{FF2B5EF4-FFF2-40B4-BE49-F238E27FC236}">
                <a16:creationId xmlns:a16="http://schemas.microsoft.com/office/drawing/2014/main" id="{739BF788-62F6-AEAB-415B-6DB8BFBC0B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6350" y="4403162"/>
            <a:ext cx="2019300" cy="962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8571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BE147-D472-EFA3-3657-92FEA88ACEB0}"/>
              </a:ext>
            </a:extLst>
          </p:cNvPr>
          <p:cNvSpPr>
            <a:spLocks noGrp="1"/>
          </p:cNvSpPr>
          <p:nvPr>
            <p:ph type="title"/>
          </p:nvPr>
        </p:nvSpPr>
        <p:spPr/>
        <p:txBody>
          <a:bodyPr/>
          <a:lstStyle/>
          <a:p>
            <a:r>
              <a:rPr lang="en-US" dirty="0"/>
              <a:t>How to handle Outliers in data?</a:t>
            </a:r>
          </a:p>
        </p:txBody>
      </p:sp>
      <p:sp>
        <p:nvSpPr>
          <p:cNvPr id="3" name="Content Placeholder 2">
            <a:extLst>
              <a:ext uri="{FF2B5EF4-FFF2-40B4-BE49-F238E27FC236}">
                <a16:creationId xmlns:a16="http://schemas.microsoft.com/office/drawing/2014/main" id="{0BC21856-27F8-BCE8-8CEF-AD71E4B24107}"/>
              </a:ext>
            </a:extLst>
          </p:cNvPr>
          <p:cNvSpPr>
            <a:spLocks noGrp="1"/>
          </p:cNvSpPr>
          <p:nvPr>
            <p:ph/>
          </p:nvPr>
        </p:nvSpPr>
        <p:spPr/>
        <p:txBody>
          <a:bodyPr/>
          <a:lstStyle/>
          <a:p>
            <a:r>
              <a:rPr lang="en-US" dirty="0"/>
              <a:t>Removal (Trimming)</a:t>
            </a:r>
          </a:p>
          <a:p>
            <a:r>
              <a:rPr lang="en-US" dirty="0"/>
              <a:t>Caping or Flooring (Quantile-Based Treatment)</a:t>
            </a:r>
          </a:p>
          <a:p>
            <a:r>
              <a:rPr lang="en-US" dirty="0"/>
              <a:t>Mean/Median Imputation</a:t>
            </a:r>
          </a:p>
          <a:p>
            <a:r>
              <a:rPr lang="en-US" dirty="0"/>
              <a:t>Transformation</a:t>
            </a:r>
          </a:p>
        </p:txBody>
      </p:sp>
    </p:spTree>
    <p:extLst>
      <p:ext uri="{BB962C8B-B14F-4D97-AF65-F5344CB8AC3E}">
        <p14:creationId xmlns:p14="http://schemas.microsoft.com/office/powerpoint/2010/main" val="19351681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A1B3E-C858-BC0D-B8A3-66A88B69C80E}"/>
              </a:ext>
            </a:extLst>
          </p:cNvPr>
          <p:cNvSpPr>
            <a:spLocks noGrp="1"/>
          </p:cNvSpPr>
          <p:nvPr>
            <p:ph type="title"/>
          </p:nvPr>
        </p:nvSpPr>
        <p:spPr/>
        <p:txBody>
          <a:bodyPr/>
          <a:lstStyle/>
          <a:p>
            <a:r>
              <a:rPr lang="en-US" dirty="0"/>
              <a:t>When to Drop of Keep Outliers</a:t>
            </a:r>
          </a:p>
        </p:txBody>
      </p:sp>
      <p:sp>
        <p:nvSpPr>
          <p:cNvPr id="4" name="Content Placeholder 3">
            <a:extLst>
              <a:ext uri="{FF2B5EF4-FFF2-40B4-BE49-F238E27FC236}">
                <a16:creationId xmlns:a16="http://schemas.microsoft.com/office/drawing/2014/main" id="{183B9D24-9295-EE1A-0137-B19BB61B93CB}"/>
              </a:ext>
            </a:extLst>
          </p:cNvPr>
          <p:cNvSpPr>
            <a:spLocks noGrp="1"/>
          </p:cNvSpPr>
          <p:nvPr>
            <p:ph/>
          </p:nvPr>
        </p:nvSpPr>
        <p:spPr/>
        <p:txBody>
          <a:bodyPr/>
          <a:lstStyle/>
          <a:p>
            <a:endParaRPr lang="en-US"/>
          </a:p>
        </p:txBody>
      </p:sp>
    </p:spTree>
    <p:extLst>
      <p:ext uri="{BB962C8B-B14F-4D97-AF65-F5344CB8AC3E}">
        <p14:creationId xmlns:p14="http://schemas.microsoft.com/office/powerpoint/2010/main" val="25072508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A0DAD-EA62-EE36-0784-23CFC5BB1430}"/>
              </a:ext>
            </a:extLst>
          </p:cNvPr>
          <p:cNvSpPr>
            <a:spLocks noGrp="1"/>
          </p:cNvSpPr>
          <p:nvPr>
            <p:ph type="title"/>
          </p:nvPr>
        </p:nvSpPr>
        <p:spPr/>
        <p:txBody>
          <a:bodyPr/>
          <a:lstStyle/>
          <a:p>
            <a:r>
              <a:rPr lang="en-US" dirty="0"/>
              <a:t>When you should drop outliers</a:t>
            </a:r>
          </a:p>
        </p:txBody>
      </p:sp>
      <p:sp>
        <p:nvSpPr>
          <p:cNvPr id="3" name="Content Placeholder 2">
            <a:extLst>
              <a:ext uri="{FF2B5EF4-FFF2-40B4-BE49-F238E27FC236}">
                <a16:creationId xmlns:a16="http://schemas.microsoft.com/office/drawing/2014/main" id="{4E45DF1B-7B1E-CC6B-CB3A-91202006B7ED}"/>
              </a:ext>
            </a:extLst>
          </p:cNvPr>
          <p:cNvSpPr>
            <a:spLocks noGrp="1"/>
          </p:cNvSpPr>
          <p:nvPr>
            <p:ph/>
          </p:nvPr>
        </p:nvSpPr>
        <p:spPr/>
        <p:txBody>
          <a:bodyPr/>
          <a:lstStyle/>
          <a:p>
            <a:r>
              <a:rPr lang="en-US" dirty="0"/>
              <a:t>When the values is clearly incorrect</a:t>
            </a:r>
          </a:p>
          <a:p>
            <a:r>
              <a:rPr lang="en-US" dirty="0"/>
              <a:t>When you have a large dataset</a:t>
            </a:r>
          </a:p>
          <a:p>
            <a:r>
              <a:rPr lang="en-US" dirty="0"/>
              <a:t>When verification is possible</a:t>
            </a:r>
          </a:p>
        </p:txBody>
      </p:sp>
    </p:spTree>
    <p:extLst>
      <p:ext uri="{BB962C8B-B14F-4D97-AF65-F5344CB8AC3E}">
        <p14:creationId xmlns:p14="http://schemas.microsoft.com/office/powerpoint/2010/main" val="28013593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E4CD-1069-6765-9539-9C8F1C557D93}"/>
              </a:ext>
            </a:extLst>
          </p:cNvPr>
          <p:cNvSpPr>
            <a:spLocks noGrp="1"/>
          </p:cNvSpPr>
          <p:nvPr>
            <p:ph type="title"/>
          </p:nvPr>
        </p:nvSpPr>
        <p:spPr/>
        <p:txBody>
          <a:bodyPr/>
          <a:lstStyle/>
          <a:p>
            <a:r>
              <a:rPr lang="en-US" dirty="0"/>
              <a:t>When you should not drop outliers</a:t>
            </a:r>
          </a:p>
        </p:txBody>
      </p:sp>
      <p:sp>
        <p:nvSpPr>
          <p:cNvPr id="3" name="Content Placeholder 2">
            <a:extLst>
              <a:ext uri="{FF2B5EF4-FFF2-40B4-BE49-F238E27FC236}">
                <a16:creationId xmlns:a16="http://schemas.microsoft.com/office/drawing/2014/main" id="{C1EE82CB-29CE-91B0-F266-C0C0E3359AA2}"/>
              </a:ext>
            </a:extLst>
          </p:cNvPr>
          <p:cNvSpPr>
            <a:spLocks noGrp="1"/>
          </p:cNvSpPr>
          <p:nvPr>
            <p:ph/>
          </p:nvPr>
        </p:nvSpPr>
        <p:spPr/>
        <p:txBody>
          <a:bodyPr/>
          <a:lstStyle/>
          <a:p>
            <a:r>
              <a:rPr lang="en-US" dirty="0"/>
              <a:t>When results are critical or high-risk</a:t>
            </a:r>
          </a:p>
          <a:p>
            <a:r>
              <a:rPr lang="en-US" dirty="0"/>
              <a:t>When many outliers are present</a:t>
            </a:r>
          </a:p>
          <a:p>
            <a:r>
              <a:rPr lang="en-US" dirty="0"/>
              <a:t>When outliers represent </a:t>
            </a:r>
            <a:r>
              <a:rPr lang="en-US"/>
              <a:t>real phenomena</a:t>
            </a:r>
          </a:p>
        </p:txBody>
      </p:sp>
    </p:spTree>
    <p:extLst>
      <p:ext uri="{BB962C8B-B14F-4D97-AF65-F5344CB8AC3E}">
        <p14:creationId xmlns:p14="http://schemas.microsoft.com/office/powerpoint/2010/main" val="2131309804"/>
      </p:ext>
    </p:extLst>
  </p:cSld>
  <p:clrMapOvr>
    <a:masterClrMapping/>
  </p:clrMapOvr>
</p:sld>
</file>

<file path=ppt/theme/theme1.xml><?xml version="1.0" encoding="utf-8"?>
<a:theme xmlns:a="http://schemas.openxmlformats.org/drawingml/2006/main" name="BGLowFOREHigh(text)">
  <a:themeElements>
    <a:clrScheme name="Text 1">
      <a:dk1>
        <a:srgbClr val="1F1F1F"/>
      </a:dk1>
      <a:lt1>
        <a:srgbClr val="FFFFFF"/>
      </a:lt1>
      <a:dk2>
        <a:srgbClr val="44546A"/>
      </a:dk2>
      <a:lt2>
        <a:srgbClr val="E7E6E6"/>
      </a:lt2>
      <a:accent1>
        <a:srgbClr val="25F88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rmalmente">
      <a:majorFont>
        <a:latin typeface="Open Sans Condensed"/>
        <a:ea typeface=""/>
        <a:cs typeface="Noto Serif Bengali"/>
      </a:majorFont>
      <a:minorFont>
        <a:latin typeface="Open Sans Condensed"/>
        <a:ea typeface=""/>
        <a:cs typeface="Noto Serif Bengali"/>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BGLowFOREHigh(text)</Template>
  <TotalTime>289</TotalTime>
  <Words>1945</Words>
  <Application>Microsoft Office PowerPoint</Application>
  <PresentationFormat>Widescreen</PresentationFormat>
  <Paragraphs>179</Paragraphs>
  <Slides>60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Arial</vt:lpstr>
      <vt:lpstr>Open Sans Condensed</vt:lpstr>
      <vt:lpstr>Times New Roman</vt:lpstr>
      <vt:lpstr>BGLowFOREHigh(text)</vt:lpstr>
      <vt:lpstr>PowerPoint Presentation</vt:lpstr>
      <vt:lpstr>PowerPoint Presentation</vt:lpstr>
      <vt:lpstr>PowerPoint Presentation</vt:lpstr>
      <vt:lpstr>PowerPoint Presentation</vt:lpstr>
      <vt:lpstr>Univariate Data Analysis</vt:lpstr>
      <vt:lpstr>Bi-variate Analysis</vt:lpstr>
      <vt:lpstr>Bivariate analysis techniques</vt:lpstr>
      <vt:lpstr>Scatter Plot</vt:lpstr>
      <vt:lpstr>Scatter Plot Cont..</vt:lpstr>
      <vt:lpstr>Correlation coefficient</vt:lpstr>
      <vt:lpstr>Cross Tabulation </vt:lpstr>
      <vt:lpstr>Line Graph</vt:lpstr>
      <vt:lpstr>Covariance</vt:lpstr>
      <vt:lpstr>Multivariate Analysis</vt:lpstr>
      <vt:lpstr>Multivariate Analysis Techniques</vt:lpstr>
      <vt:lpstr>Pair Plot</vt:lpstr>
      <vt:lpstr>Principal Component Analysis</vt:lpstr>
      <vt:lpstr>Spatial Analysis</vt:lpstr>
      <vt:lpstr>Time Series Analysis</vt:lpstr>
      <vt:lpstr>Violin Plots</vt:lpstr>
      <vt:lpstr>Pearson’s correlation coefficients</vt:lpstr>
      <vt:lpstr>Spearman’s rank correlation</vt:lpstr>
      <vt:lpstr>Lab 05</vt:lpstr>
      <vt:lpstr>What is a Perceptron?</vt:lpstr>
      <vt:lpstr>Single Layer Perceptron</vt:lpstr>
      <vt:lpstr>Mathematical Model of Perceptron</vt:lpstr>
      <vt:lpstr>A Multilayer Perceptron (MLP)</vt:lpstr>
      <vt:lpstr>PowerPoint Presentation</vt:lpstr>
      <vt:lpstr>Key components of MLP</vt:lpstr>
      <vt:lpstr>Input Layer</vt:lpstr>
      <vt:lpstr>Weighted Connections and Biases</vt:lpstr>
      <vt:lpstr>Hidden Layers</vt:lpstr>
      <vt:lpstr>PowerPoint Presentation</vt:lpstr>
      <vt:lpstr>Activation Function</vt:lpstr>
      <vt:lpstr>Forward Propagation</vt:lpstr>
      <vt:lpstr>PowerPoint Presentation</vt:lpstr>
      <vt:lpstr>Output Layer</vt:lpstr>
      <vt:lpstr>Backpropagation and Learning</vt:lpstr>
      <vt:lpstr>PowerPoint Presentation</vt:lpstr>
      <vt:lpstr>Iteration and Convergence</vt:lpstr>
      <vt:lpstr>Applications of MLP</vt:lpstr>
      <vt:lpstr>Source</vt:lpstr>
      <vt:lpstr>What are outlier?</vt:lpstr>
      <vt:lpstr>What are outlier?</vt:lpstr>
      <vt:lpstr>Why Outliers Occur?</vt:lpstr>
      <vt:lpstr>Why Removing Outliers is Necessary?</vt:lpstr>
      <vt:lpstr>Why Removing Outliers Is Necessary?</vt:lpstr>
      <vt:lpstr>Why Removing Outliers Is Necessary?</vt:lpstr>
      <vt:lpstr>Outliers Identification using Statistical Methods</vt:lpstr>
      <vt:lpstr>Types of outliers</vt:lpstr>
      <vt:lpstr>What is Global Outliers?</vt:lpstr>
      <vt:lpstr>Collective Outliers</vt:lpstr>
      <vt:lpstr>Contextual Outliers</vt:lpstr>
      <vt:lpstr>Box Plots</vt:lpstr>
      <vt:lpstr>Z-Score</vt:lpstr>
      <vt:lpstr>IQR Method</vt:lpstr>
      <vt:lpstr>How to handle Outliers in data?</vt:lpstr>
      <vt:lpstr>When to Drop of Keep Outliers</vt:lpstr>
      <vt:lpstr>When you should drop outliers</vt:lpstr>
      <vt:lpstr>When you should not drop outliers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Exploratory Data Analysis?</dc:title>
  <dc:subject/>
  <dc:creator>iamsabbir</dc:creator>
  <dc:description/>
  <cp:lastModifiedBy>Sabbir Hasan</cp:lastModifiedBy>
  <cp:revision>102</cp:revision>
  <dcterms:created xsi:type="dcterms:W3CDTF">2025-10-18T03:23:16Z</dcterms:created>
  <dcterms:modified xsi:type="dcterms:W3CDTF">2026-01-20T02:15:16Z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23</vt:i4>
  </property>
</Properties>
</file>