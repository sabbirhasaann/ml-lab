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331" r:id="rId20"/>
    <p:sldId id="332" r:id="rId21"/>
    <p:sldId id="333" r:id="rId22"/>
    <p:sldId id="334" r:id="rId23"/>
    <p:sldId id="335" r:id="rId24"/>
    <p:sldId id="336" r:id="rId25"/>
    <p:sldId id="337" r:id="rId26"/>
    <p:sldId id="341" r:id="rId27"/>
    <p:sldId id="338"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9" r:id="rId82"/>
    <p:sldId id="330" r:id="rId83"/>
    <p:sldId id="328" r:id="rId84"/>
    <p:sldId id="339" r:id="rId85"/>
    <p:sldId id="340" r:id="rId86"/>
    <p:sldId id="342" r:id="rId87"/>
    <p:sldId id="343" r:id="rId88"/>
    <p:sldId id="344" r:id="rId89"/>
    <p:sldId id="345" r:id="rId90"/>
    <p:sldId id="346" r:id="rId91"/>
    <p:sldId id="347" r:id="rId92"/>
    <p:sldId id="348"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87D191-AEAF-43D4-B7CB-ABFDF953F465}" type="datetimeFigureOut">
              <a:rPr lang="en-US" smtClean="0"/>
              <a:t>1/21/2026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6268E6-9F9C-4FEC-92E9-3909DA8B6ED7}" type="slidenum">
              <a:rPr lang="en-US" smtClean="0"/>
              <a:t>‹#›</a:t>
            </a:fld>
            <a:endParaRPr lang="en-US"/>
          </a:p>
        </p:txBody>
      </p:sp>
    </p:spTree>
    <p:extLst>
      <p:ext uri="{BB962C8B-B14F-4D97-AF65-F5344CB8AC3E}">
        <p14:creationId xmlns:p14="http://schemas.microsoft.com/office/powerpoint/2010/main" val="2140974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6268E6-9F9C-4FEC-92E9-3909DA8B6ED7}" type="slidenum">
              <a:rPr lang="en-US" smtClean="0"/>
              <a:t>12</a:t>
            </a:fld>
            <a:endParaRPr lang="en-US"/>
          </a:p>
        </p:txBody>
      </p:sp>
    </p:spTree>
    <p:extLst>
      <p:ext uri="{BB962C8B-B14F-4D97-AF65-F5344CB8AC3E}">
        <p14:creationId xmlns:p14="http://schemas.microsoft.com/office/powerpoint/2010/main" val="4075465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2FB0E-A9C6-60D3-EF11-A91C68FCD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A25F8B-1D99-CFFE-D88A-CE565BEAB0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A32B78-A10B-D32B-1D01-36685CA45E5E}"/>
              </a:ext>
            </a:extLst>
          </p:cNvPr>
          <p:cNvSpPr>
            <a:spLocks noGrp="1"/>
          </p:cNvSpPr>
          <p:nvPr>
            <p:ph type="dt" sz="half" idx="10"/>
          </p:nvPr>
        </p:nvSpPr>
        <p:spPr/>
        <p:txBody>
          <a:bodyPr/>
          <a:lstStyle/>
          <a:p>
            <a:fld id="{48286CC0-6554-4CA2-8F84-7AA0440F57D0}" type="datetimeFigureOut">
              <a:rPr lang="en-US" smtClean="0"/>
              <a:t>1/21/2026</a:t>
            </a:fld>
            <a:endParaRPr lang="en-US"/>
          </a:p>
        </p:txBody>
      </p:sp>
      <p:sp>
        <p:nvSpPr>
          <p:cNvPr id="5" name="Footer Placeholder 4">
            <a:extLst>
              <a:ext uri="{FF2B5EF4-FFF2-40B4-BE49-F238E27FC236}">
                <a16:creationId xmlns:a16="http://schemas.microsoft.com/office/drawing/2014/main" id="{32FB887E-D5DF-35D9-7B69-7BBF109762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4395B-A99D-C39E-6AA0-D935D03ADAA2}"/>
              </a:ext>
            </a:extLst>
          </p:cNvPr>
          <p:cNvSpPr>
            <a:spLocks noGrp="1"/>
          </p:cNvSpPr>
          <p:nvPr>
            <p:ph type="sldNum" sz="quarter" idx="12"/>
          </p:nvPr>
        </p:nvSpPr>
        <p:spPr/>
        <p:txBody>
          <a:bodyPr/>
          <a:lstStyle/>
          <a:p>
            <a:fld id="{DCC62649-9A63-4665-B556-DDA9FBB942EF}" type="slidenum">
              <a:rPr lang="en-US" smtClean="0"/>
              <a:t>‹#›</a:t>
            </a:fld>
            <a:endParaRPr lang="en-US"/>
          </a:p>
        </p:txBody>
      </p:sp>
    </p:spTree>
    <p:extLst>
      <p:ext uri="{BB962C8B-B14F-4D97-AF65-F5344CB8AC3E}">
        <p14:creationId xmlns:p14="http://schemas.microsoft.com/office/powerpoint/2010/main" val="4117724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91DFD-5E76-5E15-E606-14DFC1C3A2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6E6F29-49AD-C9F6-2DEE-4DAE6B590B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11C2A3-80D3-403A-88DD-8CDB6436A55C}"/>
              </a:ext>
            </a:extLst>
          </p:cNvPr>
          <p:cNvSpPr>
            <a:spLocks noGrp="1"/>
          </p:cNvSpPr>
          <p:nvPr>
            <p:ph type="dt" sz="half" idx="10"/>
          </p:nvPr>
        </p:nvSpPr>
        <p:spPr/>
        <p:txBody>
          <a:bodyPr/>
          <a:lstStyle/>
          <a:p>
            <a:fld id="{48286CC0-6554-4CA2-8F84-7AA0440F57D0}" type="datetimeFigureOut">
              <a:rPr lang="en-US" smtClean="0"/>
              <a:t>1/21/2026</a:t>
            </a:fld>
            <a:endParaRPr lang="en-US"/>
          </a:p>
        </p:txBody>
      </p:sp>
      <p:sp>
        <p:nvSpPr>
          <p:cNvPr id="5" name="Footer Placeholder 4">
            <a:extLst>
              <a:ext uri="{FF2B5EF4-FFF2-40B4-BE49-F238E27FC236}">
                <a16:creationId xmlns:a16="http://schemas.microsoft.com/office/drawing/2014/main" id="{B13ADC3F-88A4-A30C-CFFF-E0E22B1ADD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7FBCB4-11A9-D458-87F5-468BC00BC486}"/>
              </a:ext>
            </a:extLst>
          </p:cNvPr>
          <p:cNvSpPr>
            <a:spLocks noGrp="1"/>
          </p:cNvSpPr>
          <p:nvPr>
            <p:ph type="sldNum" sz="quarter" idx="12"/>
          </p:nvPr>
        </p:nvSpPr>
        <p:spPr/>
        <p:txBody>
          <a:bodyPr/>
          <a:lstStyle/>
          <a:p>
            <a:fld id="{DCC62649-9A63-4665-B556-DDA9FBB942EF}" type="slidenum">
              <a:rPr lang="en-US" smtClean="0"/>
              <a:t>‹#›</a:t>
            </a:fld>
            <a:endParaRPr lang="en-US"/>
          </a:p>
        </p:txBody>
      </p:sp>
    </p:spTree>
    <p:extLst>
      <p:ext uri="{BB962C8B-B14F-4D97-AF65-F5344CB8AC3E}">
        <p14:creationId xmlns:p14="http://schemas.microsoft.com/office/powerpoint/2010/main" val="3329419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2E397-B47C-504B-FD2C-7BF8C3424A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67235B-9F46-34D1-DADE-1A7CE90DB6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FC6E3E-D025-C15D-B4E1-6E10976E4B08}"/>
              </a:ext>
            </a:extLst>
          </p:cNvPr>
          <p:cNvSpPr>
            <a:spLocks noGrp="1"/>
          </p:cNvSpPr>
          <p:nvPr>
            <p:ph type="dt" sz="half" idx="10"/>
          </p:nvPr>
        </p:nvSpPr>
        <p:spPr/>
        <p:txBody>
          <a:bodyPr/>
          <a:lstStyle/>
          <a:p>
            <a:fld id="{48286CC0-6554-4CA2-8F84-7AA0440F57D0}" type="datetimeFigureOut">
              <a:rPr lang="en-US" smtClean="0"/>
              <a:t>1/21/2026</a:t>
            </a:fld>
            <a:endParaRPr lang="en-US"/>
          </a:p>
        </p:txBody>
      </p:sp>
      <p:sp>
        <p:nvSpPr>
          <p:cNvPr id="5" name="Footer Placeholder 4">
            <a:extLst>
              <a:ext uri="{FF2B5EF4-FFF2-40B4-BE49-F238E27FC236}">
                <a16:creationId xmlns:a16="http://schemas.microsoft.com/office/drawing/2014/main" id="{C36FD384-0A90-79CF-025B-22AB76E241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20A088-C97A-8D61-256D-E60DF2AD2943}"/>
              </a:ext>
            </a:extLst>
          </p:cNvPr>
          <p:cNvSpPr>
            <a:spLocks noGrp="1"/>
          </p:cNvSpPr>
          <p:nvPr>
            <p:ph type="sldNum" sz="quarter" idx="12"/>
          </p:nvPr>
        </p:nvSpPr>
        <p:spPr/>
        <p:txBody>
          <a:bodyPr/>
          <a:lstStyle/>
          <a:p>
            <a:fld id="{DCC62649-9A63-4665-B556-DDA9FBB942EF}" type="slidenum">
              <a:rPr lang="en-US" smtClean="0"/>
              <a:t>‹#›</a:t>
            </a:fld>
            <a:endParaRPr lang="en-US"/>
          </a:p>
        </p:txBody>
      </p:sp>
    </p:spTree>
    <p:extLst>
      <p:ext uri="{BB962C8B-B14F-4D97-AF65-F5344CB8AC3E}">
        <p14:creationId xmlns:p14="http://schemas.microsoft.com/office/powerpoint/2010/main" val="3941436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1DAF7-7E4B-3DA1-53D5-E304893205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96013B-6674-63F2-88C1-B63DAB0376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50232E-F821-BAF2-C08B-8F4BC3EBBC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C09FE8-512A-42A4-A8DA-B817AFFEBD21}"/>
              </a:ext>
            </a:extLst>
          </p:cNvPr>
          <p:cNvSpPr>
            <a:spLocks noGrp="1"/>
          </p:cNvSpPr>
          <p:nvPr>
            <p:ph type="dt" sz="half" idx="10"/>
          </p:nvPr>
        </p:nvSpPr>
        <p:spPr/>
        <p:txBody>
          <a:bodyPr/>
          <a:lstStyle/>
          <a:p>
            <a:fld id="{48286CC0-6554-4CA2-8F84-7AA0440F57D0}" type="datetimeFigureOut">
              <a:rPr lang="en-US" smtClean="0"/>
              <a:t>1/21/2026</a:t>
            </a:fld>
            <a:endParaRPr lang="en-US"/>
          </a:p>
        </p:txBody>
      </p:sp>
      <p:sp>
        <p:nvSpPr>
          <p:cNvPr id="6" name="Footer Placeholder 5">
            <a:extLst>
              <a:ext uri="{FF2B5EF4-FFF2-40B4-BE49-F238E27FC236}">
                <a16:creationId xmlns:a16="http://schemas.microsoft.com/office/drawing/2014/main" id="{1EB4572F-28EE-A1CD-7932-5BE569A499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D0D331-72DA-0631-CBDA-4A5A2545048C}"/>
              </a:ext>
            </a:extLst>
          </p:cNvPr>
          <p:cNvSpPr>
            <a:spLocks noGrp="1"/>
          </p:cNvSpPr>
          <p:nvPr>
            <p:ph type="sldNum" sz="quarter" idx="12"/>
          </p:nvPr>
        </p:nvSpPr>
        <p:spPr/>
        <p:txBody>
          <a:bodyPr/>
          <a:lstStyle/>
          <a:p>
            <a:fld id="{DCC62649-9A63-4665-B556-DDA9FBB942EF}" type="slidenum">
              <a:rPr lang="en-US" smtClean="0"/>
              <a:t>‹#›</a:t>
            </a:fld>
            <a:endParaRPr lang="en-US"/>
          </a:p>
        </p:txBody>
      </p:sp>
    </p:spTree>
    <p:extLst>
      <p:ext uri="{BB962C8B-B14F-4D97-AF65-F5344CB8AC3E}">
        <p14:creationId xmlns:p14="http://schemas.microsoft.com/office/powerpoint/2010/main" val="805813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4889-7BBA-4BFA-D330-460B1DFCF4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736DD4-A0E0-1882-34D7-0A3647DDEE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BFDF36-C2A4-45D3-D616-5C16C3D48B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FC4B05-E125-5B86-5C33-121492E372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870F6C-A5D1-72F9-1CD9-6813CF4455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D350EE-BBDC-75DA-82A7-0F91B1744F56}"/>
              </a:ext>
            </a:extLst>
          </p:cNvPr>
          <p:cNvSpPr>
            <a:spLocks noGrp="1"/>
          </p:cNvSpPr>
          <p:nvPr>
            <p:ph type="dt" sz="half" idx="10"/>
          </p:nvPr>
        </p:nvSpPr>
        <p:spPr/>
        <p:txBody>
          <a:bodyPr/>
          <a:lstStyle/>
          <a:p>
            <a:fld id="{48286CC0-6554-4CA2-8F84-7AA0440F57D0}" type="datetimeFigureOut">
              <a:rPr lang="en-US" smtClean="0"/>
              <a:t>1/21/2026</a:t>
            </a:fld>
            <a:endParaRPr lang="en-US"/>
          </a:p>
        </p:txBody>
      </p:sp>
      <p:sp>
        <p:nvSpPr>
          <p:cNvPr id="8" name="Footer Placeholder 7">
            <a:extLst>
              <a:ext uri="{FF2B5EF4-FFF2-40B4-BE49-F238E27FC236}">
                <a16:creationId xmlns:a16="http://schemas.microsoft.com/office/drawing/2014/main" id="{D45AFF6C-B3BE-11F7-12F2-B001D7EF55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33AC55-7D8C-65A4-7B32-49C547E499E6}"/>
              </a:ext>
            </a:extLst>
          </p:cNvPr>
          <p:cNvSpPr>
            <a:spLocks noGrp="1"/>
          </p:cNvSpPr>
          <p:nvPr>
            <p:ph type="sldNum" sz="quarter" idx="12"/>
          </p:nvPr>
        </p:nvSpPr>
        <p:spPr/>
        <p:txBody>
          <a:bodyPr/>
          <a:lstStyle/>
          <a:p>
            <a:fld id="{DCC62649-9A63-4665-B556-DDA9FBB942EF}" type="slidenum">
              <a:rPr lang="en-US" smtClean="0"/>
              <a:t>‹#›</a:t>
            </a:fld>
            <a:endParaRPr lang="en-US"/>
          </a:p>
        </p:txBody>
      </p:sp>
    </p:spTree>
    <p:extLst>
      <p:ext uri="{BB962C8B-B14F-4D97-AF65-F5344CB8AC3E}">
        <p14:creationId xmlns:p14="http://schemas.microsoft.com/office/powerpoint/2010/main" val="1318097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D424-707A-BEC0-9977-15D27D13AC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56832E-8E07-8FFC-7910-4ECDD7AA1AF2}"/>
              </a:ext>
            </a:extLst>
          </p:cNvPr>
          <p:cNvSpPr>
            <a:spLocks noGrp="1"/>
          </p:cNvSpPr>
          <p:nvPr>
            <p:ph type="dt" sz="half" idx="10"/>
          </p:nvPr>
        </p:nvSpPr>
        <p:spPr/>
        <p:txBody>
          <a:bodyPr/>
          <a:lstStyle/>
          <a:p>
            <a:fld id="{48286CC0-6554-4CA2-8F84-7AA0440F57D0}" type="datetimeFigureOut">
              <a:rPr lang="en-US" smtClean="0"/>
              <a:t>1/21/2026</a:t>
            </a:fld>
            <a:endParaRPr lang="en-US"/>
          </a:p>
        </p:txBody>
      </p:sp>
      <p:sp>
        <p:nvSpPr>
          <p:cNvPr id="4" name="Footer Placeholder 3">
            <a:extLst>
              <a:ext uri="{FF2B5EF4-FFF2-40B4-BE49-F238E27FC236}">
                <a16:creationId xmlns:a16="http://schemas.microsoft.com/office/drawing/2014/main" id="{705B343B-8CEE-6CD2-2983-7869BB67AC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15A491-D52F-95E1-21B7-BD66CE145EBB}"/>
              </a:ext>
            </a:extLst>
          </p:cNvPr>
          <p:cNvSpPr>
            <a:spLocks noGrp="1"/>
          </p:cNvSpPr>
          <p:nvPr>
            <p:ph type="sldNum" sz="quarter" idx="12"/>
          </p:nvPr>
        </p:nvSpPr>
        <p:spPr/>
        <p:txBody>
          <a:bodyPr/>
          <a:lstStyle/>
          <a:p>
            <a:fld id="{DCC62649-9A63-4665-B556-DDA9FBB942EF}" type="slidenum">
              <a:rPr lang="en-US" smtClean="0"/>
              <a:t>‹#›</a:t>
            </a:fld>
            <a:endParaRPr lang="en-US"/>
          </a:p>
        </p:txBody>
      </p:sp>
    </p:spTree>
    <p:extLst>
      <p:ext uri="{BB962C8B-B14F-4D97-AF65-F5344CB8AC3E}">
        <p14:creationId xmlns:p14="http://schemas.microsoft.com/office/powerpoint/2010/main" val="116607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2F1E39-8C76-8DE8-7A67-A21D4F83A0D6}"/>
              </a:ext>
            </a:extLst>
          </p:cNvPr>
          <p:cNvSpPr>
            <a:spLocks noGrp="1"/>
          </p:cNvSpPr>
          <p:nvPr>
            <p:ph type="dt" sz="half" idx="10"/>
          </p:nvPr>
        </p:nvSpPr>
        <p:spPr/>
        <p:txBody>
          <a:bodyPr/>
          <a:lstStyle/>
          <a:p>
            <a:fld id="{48286CC0-6554-4CA2-8F84-7AA0440F57D0}" type="datetimeFigureOut">
              <a:rPr lang="en-US" smtClean="0"/>
              <a:t>1/21/2026</a:t>
            </a:fld>
            <a:endParaRPr lang="en-US"/>
          </a:p>
        </p:txBody>
      </p:sp>
      <p:sp>
        <p:nvSpPr>
          <p:cNvPr id="3" name="Footer Placeholder 2">
            <a:extLst>
              <a:ext uri="{FF2B5EF4-FFF2-40B4-BE49-F238E27FC236}">
                <a16:creationId xmlns:a16="http://schemas.microsoft.com/office/drawing/2014/main" id="{05CA6905-4142-FAAF-06F6-722EB27FFA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1D6F86-E0A3-6FFE-9FE9-D2B656E309C2}"/>
              </a:ext>
            </a:extLst>
          </p:cNvPr>
          <p:cNvSpPr>
            <a:spLocks noGrp="1"/>
          </p:cNvSpPr>
          <p:nvPr>
            <p:ph type="sldNum" sz="quarter" idx="12"/>
          </p:nvPr>
        </p:nvSpPr>
        <p:spPr/>
        <p:txBody>
          <a:bodyPr/>
          <a:lstStyle/>
          <a:p>
            <a:fld id="{DCC62649-9A63-4665-B556-DDA9FBB942EF}" type="slidenum">
              <a:rPr lang="en-US" smtClean="0"/>
              <a:t>‹#›</a:t>
            </a:fld>
            <a:endParaRPr lang="en-US"/>
          </a:p>
        </p:txBody>
      </p:sp>
    </p:spTree>
    <p:extLst>
      <p:ext uri="{BB962C8B-B14F-4D97-AF65-F5344CB8AC3E}">
        <p14:creationId xmlns:p14="http://schemas.microsoft.com/office/powerpoint/2010/main" val="3344115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EFED8-36A3-F45D-B709-0D25844FD3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68B25F-DA20-CE36-754B-4217F82887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0F8ECF-6B31-7DD2-7754-BF4E40D8FD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224682-7050-4DD5-C5A0-4918459D4E65}"/>
              </a:ext>
            </a:extLst>
          </p:cNvPr>
          <p:cNvSpPr>
            <a:spLocks noGrp="1"/>
          </p:cNvSpPr>
          <p:nvPr>
            <p:ph type="dt" sz="half" idx="10"/>
          </p:nvPr>
        </p:nvSpPr>
        <p:spPr/>
        <p:txBody>
          <a:bodyPr/>
          <a:lstStyle/>
          <a:p>
            <a:fld id="{48286CC0-6554-4CA2-8F84-7AA0440F57D0}" type="datetimeFigureOut">
              <a:rPr lang="en-US" smtClean="0"/>
              <a:t>1/21/2026</a:t>
            </a:fld>
            <a:endParaRPr lang="en-US"/>
          </a:p>
        </p:txBody>
      </p:sp>
      <p:sp>
        <p:nvSpPr>
          <p:cNvPr id="6" name="Footer Placeholder 5">
            <a:extLst>
              <a:ext uri="{FF2B5EF4-FFF2-40B4-BE49-F238E27FC236}">
                <a16:creationId xmlns:a16="http://schemas.microsoft.com/office/drawing/2014/main" id="{10C90246-0EF8-36F9-37E5-7A31F145C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B57E3E-36F9-3604-6699-071A9AB9ABB5}"/>
              </a:ext>
            </a:extLst>
          </p:cNvPr>
          <p:cNvSpPr>
            <a:spLocks noGrp="1"/>
          </p:cNvSpPr>
          <p:nvPr>
            <p:ph type="sldNum" sz="quarter" idx="12"/>
          </p:nvPr>
        </p:nvSpPr>
        <p:spPr/>
        <p:txBody>
          <a:bodyPr/>
          <a:lstStyle/>
          <a:p>
            <a:fld id="{DCC62649-9A63-4665-B556-DDA9FBB942EF}" type="slidenum">
              <a:rPr lang="en-US" smtClean="0"/>
              <a:t>‹#›</a:t>
            </a:fld>
            <a:endParaRPr lang="en-US"/>
          </a:p>
        </p:txBody>
      </p:sp>
    </p:spTree>
    <p:extLst>
      <p:ext uri="{BB962C8B-B14F-4D97-AF65-F5344CB8AC3E}">
        <p14:creationId xmlns:p14="http://schemas.microsoft.com/office/powerpoint/2010/main" val="1447219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94362-1014-67E9-7D76-6636EFC78B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226385-BAF6-9A32-DF02-E3813651FD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A9F68D-3A61-5DFF-4CCB-262DF87020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476721-7F5A-0A05-4B4E-ADBEEACE11B4}"/>
              </a:ext>
            </a:extLst>
          </p:cNvPr>
          <p:cNvSpPr>
            <a:spLocks noGrp="1"/>
          </p:cNvSpPr>
          <p:nvPr>
            <p:ph type="dt" sz="half" idx="10"/>
          </p:nvPr>
        </p:nvSpPr>
        <p:spPr/>
        <p:txBody>
          <a:bodyPr/>
          <a:lstStyle/>
          <a:p>
            <a:fld id="{48286CC0-6554-4CA2-8F84-7AA0440F57D0}" type="datetimeFigureOut">
              <a:rPr lang="en-US" smtClean="0"/>
              <a:t>1/21/2026</a:t>
            </a:fld>
            <a:endParaRPr lang="en-US"/>
          </a:p>
        </p:txBody>
      </p:sp>
      <p:sp>
        <p:nvSpPr>
          <p:cNvPr id="6" name="Footer Placeholder 5">
            <a:extLst>
              <a:ext uri="{FF2B5EF4-FFF2-40B4-BE49-F238E27FC236}">
                <a16:creationId xmlns:a16="http://schemas.microsoft.com/office/drawing/2014/main" id="{48C90DA6-60CC-62B8-B720-2B11B547AB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12EF10-3E98-E070-F9A0-64AA50F041B9}"/>
              </a:ext>
            </a:extLst>
          </p:cNvPr>
          <p:cNvSpPr>
            <a:spLocks noGrp="1"/>
          </p:cNvSpPr>
          <p:nvPr>
            <p:ph type="sldNum" sz="quarter" idx="12"/>
          </p:nvPr>
        </p:nvSpPr>
        <p:spPr/>
        <p:txBody>
          <a:bodyPr/>
          <a:lstStyle/>
          <a:p>
            <a:fld id="{DCC62649-9A63-4665-B556-DDA9FBB942EF}" type="slidenum">
              <a:rPr lang="en-US" smtClean="0"/>
              <a:t>‹#›</a:t>
            </a:fld>
            <a:endParaRPr lang="en-US"/>
          </a:p>
        </p:txBody>
      </p:sp>
    </p:spTree>
    <p:extLst>
      <p:ext uri="{BB962C8B-B14F-4D97-AF65-F5344CB8AC3E}">
        <p14:creationId xmlns:p14="http://schemas.microsoft.com/office/powerpoint/2010/main" val="4195788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13385-4DA7-795C-2636-02A61EB268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61B877-C49B-F9E5-AA80-49E4408DC0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AF8C0F-4C9C-BD8D-329E-CF7DC37A4AE8}"/>
              </a:ext>
            </a:extLst>
          </p:cNvPr>
          <p:cNvSpPr>
            <a:spLocks noGrp="1"/>
          </p:cNvSpPr>
          <p:nvPr>
            <p:ph type="dt" sz="half" idx="10"/>
          </p:nvPr>
        </p:nvSpPr>
        <p:spPr/>
        <p:txBody>
          <a:bodyPr/>
          <a:lstStyle/>
          <a:p>
            <a:fld id="{48286CC0-6554-4CA2-8F84-7AA0440F57D0}" type="datetimeFigureOut">
              <a:rPr lang="en-US" smtClean="0"/>
              <a:t>1/21/2026</a:t>
            </a:fld>
            <a:endParaRPr lang="en-US"/>
          </a:p>
        </p:txBody>
      </p:sp>
      <p:sp>
        <p:nvSpPr>
          <p:cNvPr id="5" name="Footer Placeholder 4">
            <a:extLst>
              <a:ext uri="{FF2B5EF4-FFF2-40B4-BE49-F238E27FC236}">
                <a16:creationId xmlns:a16="http://schemas.microsoft.com/office/drawing/2014/main" id="{23461F22-B700-D6D7-4BA0-E842CAA331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0E73F-4249-EF36-7497-1B9B7D5C07F6}"/>
              </a:ext>
            </a:extLst>
          </p:cNvPr>
          <p:cNvSpPr>
            <a:spLocks noGrp="1"/>
          </p:cNvSpPr>
          <p:nvPr>
            <p:ph type="sldNum" sz="quarter" idx="12"/>
          </p:nvPr>
        </p:nvSpPr>
        <p:spPr/>
        <p:txBody>
          <a:bodyPr/>
          <a:lstStyle/>
          <a:p>
            <a:fld id="{DCC62649-9A63-4665-B556-DDA9FBB942EF}" type="slidenum">
              <a:rPr lang="en-US" smtClean="0"/>
              <a:t>‹#›</a:t>
            </a:fld>
            <a:endParaRPr lang="en-US"/>
          </a:p>
        </p:txBody>
      </p:sp>
    </p:spTree>
    <p:extLst>
      <p:ext uri="{BB962C8B-B14F-4D97-AF65-F5344CB8AC3E}">
        <p14:creationId xmlns:p14="http://schemas.microsoft.com/office/powerpoint/2010/main" val="2414705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24DD07-1D21-81AE-449B-0F66C2E526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2AF703-BCF1-E870-E85D-DF64048BF0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489059-EF4A-3FDA-37DC-B3CA722C6420}"/>
              </a:ext>
            </a:extLst>
          </p:cNvPr>
          <p:cNvSpPr>
            <a:spLocks noGrp="1"/>
          </p:cNvSpPr>
          <p:nvPr>
            <p:ph type="dt" sz="half" idx="10"/>
          </p:nvPr>
        </p:nvSpPr>
        <p:spPr/>
        <p:txBody>
          <a:bodyPr/>
          <a:lstStyle/>
          <a:p>
            <a:fld id="{48286CC0-6554-4CA2-8F84-7AA0440F57D0}" type="datetimeFigureOut">
              <a:rPr lang="en-US" smtClean="0"/>
              <a:t>1/21/2026</a:t>
            </a:fld>
            <a:endParaRPr lang="en-US"/>
          </a:p>
        </p:txBody>
      </p:sp>
      <p:sp>
        <p:nvSpPr>
          <p:cNvPr id="5" name="Footer Placeholder 4">
            <a:extLst>
              <a:ext uri="{FF2B5EF4-FFF2-40B4-BE49-F238E27FC236}">
                <a16:creationId xmlns:a16="http://schemas.microsoft.com/office/drawing/2014/main" id="{26282566-C6AE-ACF7-06C9-60827A9952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B5203B-EA53-8E62-C30F-528A9B17453E}"/>
              </a:ext>
            </a:extLst>
          </p:cNvPr>
          <p:cNvSpPr>
            <a:spLocks noGrp="1"/>
          </p:cNvSpPr>
          <p:nvPr>
            <p:ph type="sldNum" sz="quarter" idx="12"/>
          </p:nvPr>
        </p:nvSpPr>
        <p:spPr/>
        <p:txBody>
          <a:bodyPr/>
          <a:lstStyle/>
          <a:p>
            <a:fld id="{DCC62649-9A63-4665-B556-DDA9FBB942EF}" type="slidenum">
              <a:rPr lang="en-US" smtClean="0"/>
              <a:t>‹#›</a:t>
            </a:fld>
            <a:endParaRPr lang="en-US"/>
          </a:p>
        </p:txBody>
      </p:sp>
    </p:spTree>
    <p:extLst>
      <p:ext uri="{BB962C8B-B14F-4D97-AF65-F5344CB8AC3E}">
        <p14:creationId xmlns:p14="http://schemas.microsoft.com/office/powerpoint/2010/main" val="787852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4A918A-D703-01E0-336B-61B1DD9064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B623F2-1677-BD95-204E-72DBE98192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ACC009-8650-C77B-99F2-44ACFB7365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286CC0-6554-4CA2-8F84-7AA0440F57D0}" type="datetimeFigureOut">
              <a:rPr lang="en-US" smtClean="0"/>
              <a:t>1/21/2026</a:t>
            </a:fld>
            <a:endParaRPr lang="en-US"/>
          </a:p>
        </p:txBody>
      </p:sp>
      <p:sp>
        <p:nvSpPr>
          <p:cNvPr id="5" name="Footer Placeholder 4">
            <a:extLst>
              <a:ext uri="{FF2B5EF4-FFF2-40B4-BE49-F238E27FC236}">
                <a16:creationId xmlns:a16="http://schemas.microsoft.com/office/drawing/2014/main" id="{D98E26C9-95B6-1C54-D7E3-405AD31A8B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F50C52C-DABC-10F1-7108-344826FFE3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C62649-9A63-4665-B556-DDA9FBB942EF}" type="slidenum">
              <a:rPr lang="en-US" smtClean="0"/>
              <a:t>‹#›</a:t>
            </a:fld>
            <a:endParaRPr lang="en-US"/>
          </a:p>
        </p:txBody>
      </p:sp>
    </p:spTree>
    <p:extLst>
      <p:ext uri="{BB962C8B-B14F-4D97-AF65-F5344CB8AC3E}">
        <p14:creationId xmlns:p14="http://schemas.microsoft.com/office/powerpoint/2010/main" val="2714778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894C1-FD72-40D8-69CF-01325C0D24C6}"/>
              </a:ext>
            </a:extLst>
          </p:cNvPr>
          <p:cNvSpPr>
            <a:spLocks noGrp="1"/>
          </p:cNvSpPr>
          <p:nvPr>
            <p:ph type="ctrTitle"/>
          </p:nvPr>
        </p:nvSpPr>
        <p:spPr/>
        <p:txBody>
          <a:bodyPr/>
          <a:lstStyle/>
          <a:p>
            <a:r>
              <a:rPr lang="en-US" dirty="0"/>
              <a:t>NN and ML Lab</a:t>
            </a:r>
          </a:p>
        </p:txBody>
      </p:sp>
      <p:sp>
        <p:nvSpPr>
          <p:cNvPr id="3" name="Subtitle 2">
            <a:extLst>
              <a:ext uri="{FF2B5EF4-FFF2-40B4-BE49-F238E27FC236}">
                <a16:creationId xmlns:a16="http://schemas.microsoft.com/office/drawing/2014/main" id="{79B705B7-911A-5F34-ED67-8BC62FCEFCC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26310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C2036-4BF1-92BD-28DD-2A82DCB07F76}"/>
              </a:ext>
            </a:extLst>
          </p:cNvPr>
          <p:cNvSpPr>
            <a:spLocks noGrp="1"/>
          </p:cNvSpPr>
          <p:nvPr>
            <p:ph type="title"/>
          </p:nvPr>
        </p:nvSpPr>
        <p:spPr/>
        <p:txBody>
          <a:bodyPr/>
          <a:lstStyle/>
          <a:p>
            <a:r>
              <a:rPr lang="en-US" dirty="0"/>
              <a:t>What is Exploratory Data Analysis?</a:t>
            </a:r>
          </a:p>
        </p:txBody>
      </p:sp>
      <p:sp>
        <p:nvSpPr>
          <p:cNvPr id="3" name="Content Placeholder 2">
            <a:extLst>
              <a:ext uri="{FF2B5EF4-FFF2-40B4-BE49-F238E27FC236}">
                <a16:creationId xmlns:a16="http://schemas.microsoft.com/office/drawing/2014/main" id="{C1060C7F-93DC-D6FE-BC2E-A7612FC5CE92}"/>
              </a:ext>
            </a:extLst>
          </p:cNvPr>
          <p:cNvSpPr>
            <a:spLocks noGrp="1"/>
          </p:cNvSpPr>
          <p:nvPr>
            <p:ph idx="1"/>
          </p:nvPr>
        </p:nvSpPr>
        <p:spPr/>
        <p:txBody>
          <a:bodyPr/>
          <a:lstStyle/>
          <a:p>
            <a:r>
              <a:rPr lang="en-US" dirty="0"/>
              <a:t>Exploratory Data Analysis (EDA) is an important step in data science and data analytics as it visualize data to understand its main features, find and discover how different parts of the data are connected.</a:t>
            </a:r>
          </a:p>
          <a:p>
            <a:endParaRPr lang="en-US" dirty="0"/>
          </a:p>
        </p:txBody>
      </p:sp>
    </p:spTree>
    <p:extLst>
      <p:ext uri="{BB962C8B-B14F-4D97-AF65-F5344CB8AC3E}">
        <p14:creationId xmlns:p14="http://schemas.microsoft.com/office/powerpoint/2010/main" val="1441103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2D991-EAB0-AF8B-C335-F14A3D3AAAF2}"/>
              </a:ext>
            </a:extLst>
          </p:cNvPr>
          <p:cNvSpPr>
            <a:spLocks noGrp="1"/>
          </p:cNvSpPr>
          <p:nvPr>
            <p:ph type="title"/>
          </p:nvPr>
        </p:nvSpPr>
        <p:spPr/>
        <p:txBody>
          <a:bodyPr/>
          <a:lstStyle/>
          <a:p>
            <a:r>
              <a:rPr lang="en-US" dirty="0"/>
              <a:t>Why Exploratory Data Analysis Important?</a:t>
            </a:r>
          </a:p>
        </p:txBody>
      </p:sp>
      <p:sp>
        <p:nvSpPr>
          <p:cNvPr id="3" name="Content Placeholder 2">
            <a:extLst>
              <a:ext uri="{FF2B5EF4-FFF2-40B4-BE49-F238E27FC236}">
                <a16:creationId xmlns:a16="http://schemas.microsoft.com/office/drawing/2014/main" id="{E87A928E-3CD4-CCC1-9B0E-C4B5CF74CA5A}"/>
              </a:ext>
            </a:extLst>
          </p:cNvPr>
          <p:cNvSpPr>
            <a:spLocks noGrp="1"/>
          </p:cNvSpPr>
          <p:nvPr>
            <p:ph idx="1"/>
          </p:nvPr>
        </p:nvSpPr>
        <p:spPr/>
        <p:txBody>
          <a:bodyPr/>
          <a:lstStyle/>
          <a:p>
            <a:pPr marL="514350" indent="-514350">
              <a:buFont typeface="+mj-lt"/>
              <a:buAutoNum type="arabicPeriod"/>
            </a:pPr>
            <a:r>
              <a:rPr lang="en-US" dirty="0"/>
              <a:t>Helps to understand dataset</a:t>
            </a:r>
          </a:p>
          <a:p>
            <a:pPr marL="514350" indent="-514350">
              <a:buFont typeface="+mj-lt"/>
              <a:buAutoNum type="arabicPeriod"/>
            </a:pPr>
            <a:r>
              <a:rPr lang="en-US" dirty="0"/>
              <a:t>Helps to identify hidden patterns and  relationship between different data points</a:t>
            </a:r>
          </a:p>
          <a:p>
            <a:pPr marL="514350" indent="-514350">
              <a:buFont typeface="+mj-lt"/>
              <a:buAutoNum type="arabicPeriod"/>
            </a:pPr>
            <a:r>
              <a:rPr lang="en-US" dirty="0"/>
              <a:t>Allows to identify errors or unusual data points (outliers)</a:t>
            </a:r>
          </a:p>
          <a:p>
            <a:pPr marL="514350" indent="-514350">
              <a:buFont typeface="+mj-lt"/>
              <a:buAutoNum type="arabicPeriod"/>
            </a:pPr>
            <a:r>
              <a:rPr lang="en-US" dirty="0"/>
              <a:t>Help us to identify most important feature</a:t>
            </a:r>
          </a:p>
          <a:p>
            <a:pPr marL="514350" indent="-514350">
              <a:buFont typeface="+mj-lt"/>
              <a:buAutoNum type="arabicPeriod"/>
            </a:pPr>
            <a:r>
              <a:rPr lang="en-US" dirty="0"/>
              <a:t>Help us choosing best modeling techniques</a:t>
            </a:r>
          </a:p>
          <a:p>
            <a:pPr marL="514350" indent="-514350">
              <a:buFont typeface="+mj-lt"/>
              <a:buAutoNum type="arabicPeriod"/>
            </a:pPr>
            <a:endParaRPr lang="en-US" dirty="0"/>
          </a:p>
        </p:txBody>
      </p:sp>
    </p:spTree>
    <p:extLst>
      <p:ext uri="{BB962C8B-B14F-4D97-AF65-F5344CB8AC3E}">
        <p14:creationId xmlns:p14="http://schemas.microsoft.com/office/powerpoint/2010/main" val="4183527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B756D-996F-9F08-4724-222AF2B8A148}"/>
              </a:ext>
            </a:extLst>
          </p:cNvPr>
          <p:cNvSpPr>
            <a:spLocks noGrp="1"/>
          </p:cNvSpPr>
          <p:nvPr>
            <p:ph type="title"/>
          </p:nvPr>
        </p:nvSpPr>
        <p:spPr/>
        <p:txBody>
          <a:bodyPr/>
          <a:lstStyle/>
          <a:p>
            <a:r>
              <a:rPr lang="en-US" dirty="0"/>
              <a:t>Types of Exploratory Data Analysis?</a:t>
            </a:r>
          </a:p>
        </p:txBody>
      </p:sp>
      <p:sp>
        <p:nvSpPr>
          <p:cNvPr id="3" name="Content Placeholder 2">
            <a:extLst>
              <a:ext uri="{FF2B5EF4-FFF2-40B4-BE49-F238E27FC236}">
                <a16:creationId xmlns:a16="http://schemas.microsoft.com/office/drawing/2014/main" id="{5F9F8EA3-1A02-27FC-609E-265125D8A4B7}"/>
              </a:ext>
            </a:extLst>
          </p:cNvPr>
          <p:cNvSpPr>
            <a:spLocks noGrp="1"/>
          </p:cNvSpPr>
          <p:nvPr>
            <p:ph idx="1"/>
          </p:nvPr>
        </p:nvSpPr>
        <p:spPr/>
        <p:txBody>
          <a:bodyPr/>
          <a:lstStyle/>
          <a:p>
            <a:pPr marL="514350" indent="-514350">
              <a:buFont typeface="+mj-lt"/>
              <a:buAutoNum type="arabicPeriod"/>
            </a:pPr>
            <a:r>
              <a:rPr lang="nn-NO" dirty="0"/>
              <a:t>Univariate Analysis</a:t>
            </a:r>
          </a:p>
          <a:p>
            <a:pPr marL="514350" indent="-514350">
              <a:buFont typeface="+mj-lt"/>
              <a:buAutoNum type="arabicPeriod"/>
            </a:pPr>
            <a:r>
              <a:rPr lang="nn-NO" dirty="0"/>
              <a:t>Bivariate Analysis</a:t>
            </a:r>
          </a:p>
          <a:p>
            <a:pPr marL="514350" indent="-514350">
              <a:buFont typeface="+mj-lt"/>
              <a:buAutoNum type="arabicPeriod"/>
            </a:pPr>
            <a:r>
              <a:rPr lang="nn-NO" dirty="0"/>
              <a:t>Multivariate Analysis</a:t>
            </a:r>
          </a:p>
          <a:p>
            <a:pPr marL="514350" indent="-514350">
              <a:buFont typeface="+mj-lt"/>
              <a:buAutoNum type="arabicPeriod"/>
            </a:pPr>
            <a:endParaRPr lang="en-US" dirty="0"/>
          </a:p>
        </p:txBody>
      </p:sp>
    </p:spTree>
    <p:extLst>
      <p:ext uri="{BB962C8B-B14F-4D97-AF65-F5344CB8AC3E}">
        <p14:creationId xmlns:p14="http://schemas.microsoft.com/office/powerpoint/2010/main" val="2677802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87965-F0B3-3C5C-4DB0-199AF603289C}"/>
              </a:ext>
            </a:extLst>
          </p:cNvPr>
          <p:cNvSpPr>
            <a:spLocks noGrp="1"/>
          </p:cNvSpPr>
          <p:nvPr>
            <p:ph type="title"/>
          </p:nvPr>
        </p:nvSpPr>
        <p:spPr/>
        <p:txBody>
          <a:bodyPr/>
          <a:lstStyle/>
          <a:p>
            <a:r>
              <a:rPr lang="en-US" dirty="0"/>
              <a:t>What is Univariate Analysis?</a:t>
            </a:r>
          </a:p>
        </p:txBody>
      </p:sp>
      <p:sp>
        <p:nvSpPr>
          <p:cNvPr id="3" name="Content Placeholder 2">
            <a:extLst>
              <a:ext uri="{FF2B5EF4-FFF2-40B4-BE49-F238E27FC236}">
                <a16:creationId xmlns:a16="http://schemas.microsoft.com/office/drawing/2014/main" id="{B41ABA3A-EBA6-12AB-23F5-67F0F8C38AE8}"/>
              </a:ext>
            </a:extLst>
          </p:cNvPr>
          <p:cNvSpPr>
            <a:spLocks noGrp="1"/>
          </p:cNvSpPr>
          <p:nvPr>
            <p:ph idx="1"/>
          </p:nvPr>
        </p:nvSpPr>
        <p:spPr/>
        <p:txBody>
          <a:bodyPr>
            <a:normAutofit lnSpcReduction="10000"/>
          </a:bodyPr>
          <a:lstStyle/>
          <a:p>
            <a:r>
              <a:rPr lang="en-US" dirty="0"/>
              <a:t>The main purpose of univariate analysis is to describe the data and find patterns that exist within it.</a:t>
            </a:r>
          </a:p>
          <a:p>
            <a:r>
              <a:rPr lang="en-US" dirty="0"/>
              <a:t>it doesn’t deal with causes or relationships</a:t>
            </a:r>
          </a:p>
          <a:p>
            <a:r>
              <a:rPr lang="en-US" dirty="0"/>
              <a:t>Stem-and-leaf plots, which show all data values and the shape of the distribution.</a:t>
            </a:r>
          </a:p>
          <a:p>
            <a:r>
              <a:rPr lang="en-US" dirty="0"/>
              <a:t>Histograms, a bar plot in which each bar represents the frequency (count) or proportion (count/total count) of cases for a range of values.</a:t>
            </a:r>
          </a:p>
          <a:p>
            <a:r>
              <a:rPr lang="en-US" dirty="0"/>
              <a:t>Box plots, which graphically depict the five-number summary of minimum, first quartile, median, third quartile, and maximum.</a:t>
            </a:r>
          </a:p>
          <a:p>
            <a:endParaRPr lang="en-US" dirty="0"/>
          </a:p>
        </p:txBody>
      </p:sp>
    </p:spTree>
    <p:extLst>
      <p:ext uri="{BB962C8B-B14F-4D97-AF65-F5344CB8AC3E}">
        <p14:creationId xmlns:p14="http://schemas.microsoft.com/office/powerpoint/2010/main" val="2527561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75A2C-BCB1-F297-357F-27B138F73D42}"/>
              </a:ext>
            </a:extLst>
          </p:cNvPr>
          <p:cNvSpPr>
            <a:spLocks noGrp="1"/>
          </p:cNvSpPr>
          <p:nvPr>
            <p:ph type="title"/>
          </p:nvPr>
        </p:nvSpPr>
        <p:spPr/>
        <p:txBody>
          <a:bodyPr/>
          <a:lstStyle/>
          <a:p>
            <a:r>
              <a:rPr lang="en-US" dirty="0"/>
              <a:t>Univariate Data Analysis</a:t>
            </a:r>
          </a:p>
        </p:txBody>
      </p:sp>
      <p:sp>
        <p:nvSpPr>
          <p:cNvPr id="3" name="Content Placeholder 2">
            <a:extLst>
              <a:ext uri="{FF2B5EF4-FFF2-40B4-BE49-F238E27FC236}">
                <a16:creationId xmlns:a16="http://schemas.microsoft.com/office/drawing/2014/main" id="{23C987D4-7AA9-06EA-A613-F7DC5767BF36}"/>
              </a:ext>
            </a:extLst>
          </p:cNvPr>
          <p:cNvSpPr>
            <a:spLocks noGrp="1"/>
          </p:cNvSpPr>
          <p:nvPr>
            <p:ph idx="1"/>
          </p:nvPr>
        </p:nvSpPr>
        <p:spPr/>
        <p:txBody>
          <a:bodyPr/>
          <a:lstStyle/>
          <a:p>
            <a:r>
              <a:rPr lang="en-US" dirty="0"/>
              <a:t>Univariate analysis focuses on studying one variable to understand its characteristics</a:t>
            </a:r>
          </a:p>
          <a:p>
            <a:r>
              <a:rPr lang="en-US" dirty="0"/>
              <a:t>It helps to describe data and find patterns within a single feature.</a:t>
            </a:r>
          </a:p>
          <a:p>
            <a:r>
              <a:rPr lang="en-US" dirty="0"/>
              <a:t> Various common methods like histograms are used to show data distribution, box plots to detect outliers and understand data spread and bar charts for categorical data.</a:t>
            </a:r>
          </a:p>
          <a:p>
            <a:r>
              <a:rPr lang="en-US" dirty="0"/>
              <a:t>Summary statistics like mean, median, mode, variance and standard deviation helps in describing the central tendency and spread of the data</a:t>
            </a:r>
          </a:p>
          <a:p>
            <a:endParaRPr lang="en-US" dirty="0"/>
          </a:p>
        </p:txBody>
      </p:sp>
    </p:spTree>
    <p:extLst>
      <p:ext uri="{BB962C8B-B14F-4D97-AF65-F5344CB8AC3E}">
        <p14:creationId xmlns:p14="http://schemas.microsoft.com/office/powerpoint/2010/main" val="1005573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09186-456C-40D4-D7E1-F67AEC5F8BD1}"/>
              </a:ext>
            </a:extLst>
          </p:cNvPr>
          <p:cNvSpPr>
            <a:spLocks noGrp="1"/>
          </p:cNvSpPr>
          <p:nvPr>
            <p:ph type="title"/>
          </p:nvPr>
        </p:nvSpPr>
        <p:spPr/>
        <p:txBody>
          <a:bodyPr/>
          <a:lstStyle/>
          <a:p>
            <a:r>
              <a:rPr lang="en-US" dirty="0"/>
              <a:t>Bi-variate Analysis</a:t>
            </a:r>
          </a:p>
        </p:txBody>
      </p:sp>
      <p:sp>
        <p:nvSpPr>
          <p:cNvPr id="3" name="Content Placeholder 2">
            <a:extLst>
              <a:ext uri="{FF2B5EF4-FFF2-40B4-BE49-F238E27FC236}">
                <a16:creationId xmlns:a16="http://schemas.microsoft.com/office/drawing/2014/main" id="{5546AEB5-817C-8E98-946E-830FBC0FB71F}"/>
              </a:ext>
            </a:extLst>
          </p:cNvPr>
          <p:cNvSpPr>
            <a:spLocks noGrp="1"/>
          </p:cNvSpPr>
          <p:nvPr>
            <p:ph idx="1"/>
          </p:nvPr>
        </p:nvSpPr>
        <p:spPr/>
        <p:txBody>
          <a:bodyPr/>
          <a:lstStyle/>
          <a:p>
            <a:r>
              <a:rPr lang="en-US" dirty="0"/>
              <a:t>Bivariate Analysis focuses on identifying relationship between two variables to find connections, correlations and dependencies</a:t>
            </a:r>
          </a:p>
          <a:p>
            <a:r>
              <a:rPr lang="en-US" dirty="0"/>
              <a:t>It helps to understand how two variables interact with each other.</a:t>
            </a:r>
          </a:p>
          <a:p>
            <a:endParaRPr lang="en-US" dirty="0"/>
          </a:p>
        </p:txBody>
      </p:sp>
    </p:spTree>
    <p:extLst>
      <p:ext uri="{BB962C8B-B14F-4D97-AF65-F5344CB8AC3E}">
        <p14:creationId xmlns:p14="http://schemas.microsoft.com/office/powerpoint/2010/main" val="1077613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84EDB-2BAC-635F-07AF-AFC76D9B0060}"/>
              </a:ext>
            </a:extLst>
          </p:cNvPr>
          <p:cNvSpPr>
            <a:spLocks noGrp="1"/>
          </p:cNvSpPr>
          <p:nvPr>
            <p:ph type="title"/>
          </p:nvPr>
        </p:nvSpPr>
        <p:spPr/>
        <p:txBody>
          <a:bodyPr/>
          <a:lstStyle/>
          <a:p>
            <a:r>
              <a:rPr lang="en-US" dirty="0"/>
              <a:t>Bivariate analysis techniques</a:t>
            </a:r>
          </a:p>
        </p:txBody>
      </p:sp>
      <p:sp>
        <p:nvSpPr>
          <p:cNvPr id="3" name="Content Placeholder 2">
            <a:extLst>
              <a:ext uri="{FF2B5EF4-FFF2-40B4-BE49-F238E27FC236}">
                <a16:creationId xmlns:a16="http://schemas.microsoft.com/office/drawing/2014/main" id="{B7B4FF04-2B61-2995-34FE-4BC2128D5818}"/>
              </a:ext>
            </a:extLst>
          </p:cNvPr>
          <p:cNvSpPr>
            <a:spLocks noGrp="1"/>
          </p:cNvSpPr>
          <p:nvPr>
            <p:ph idx="1"/>
          </p:nvPr>
        </p:nvSpPr>
        <p:spPr/>
        <p:txBody>
          <a:bodyPr/>
          <a:lstStyle/>
          <a:p>
            <a:r>
              <a:rPr lang="en-US" dirty="0"/>
              <a:t>Scatter Plots</a:t>
            </a:r>
          </a:p>
          <a:p>
            <a:r>
              <a:rPr lang="en-US" dirty="0"/>
              <a:t>Correlation coefficient</a:t>
            </a:r>
          </a:p>
          <a:p>
            <a:r>
              <a:rPr lang="en-US" dirty="0"/>
              <a:t>Cross tabulation or contingency tables</a:t>
            </a:r>
          </a:p>
          <a:p>
            <a:r>
              <a:rPr lang="en-US" dirty="0"/>
              <a:t>Line graph</a:t>
            </a:r>
          </a:p>
          <a:p>
            <a:r>
              <a:rPr lang="en-US" dirty="0"/>
              <a:t>Covariance</a:t>
            </a:r>
          </a:p>
          <a:p>
            <a:endParaRPr lang="en-US" dirty="0"/>
          </a:p>
        </p:txBody>
      </p:sp>
    </p:spTree>
    <p:extLst>
      <p:ext uri="{BB962C8B-B14F-4D97-AF65-F5344CB8AC3E}">
        <p14:creationId xmlns:p14="http://schemas.microsoft.com/office/powerpoint/2010/main" val="3107088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0F29-DA4E-6275-7F8B-9BBA441D8206}"/>
              </a:ext>
            </a:extLst>
          </p:cNvPr>
          <p:cNvSpPr>
            <a:spLocks noGrp="1"/>
          </p:cNvSpPr>
          <p:nvPr>
            <p:ph type="title"/>
          </p:nvPr>
        </p:nvSpPr>
        <p:spPr/>
        <p:txBody>
          <a:bodyPr/>
          <a:lstStyle/>
          <a:p>
            <a:r>
              <a:rPr lang="en-US" dirty="0"/>
              <a:t>Scatter Plot</a:t>
            </a:r>
          </a:p>
        </p:txBody>
      </p:sp>
      <p:sp>
        <p:nvSpPr>
          <p:cNvPr id="3" name="Content Placeholder 2">
            <a:extLst>
              <a:ext uri="{FF2B5EF4-FFF2-40B4-BE49-F238E27FC236}">
                <a16:creationId xmlns:a16="http://schemas.microsoft.com/office/drawing/2014/main" id="{4B4AF063-C2D2-206D-CC3F-7A5875C41016}"/>
              </a:ext>
            </a:extLst>
          </p:cNvPr>
          <p:cNvSpPr>
            <a:spLocks noGrp="1"/>
          </p:cNvSpPr>
          <p:nvPr>
            <p:ph idx="1"/>
          </p:nvPr>
        </p:nvSpPr>
        <p:spPr/>
        <p:txBody>
          <a:bodyPr/>
          <a:lstStyle/>
          <a:p>
            <a:r>
              <a:rPr lang="en-US" dirty="0"/>
              <a:t>These visualizations plot person facts points as dots on a graph, with one variable represented on each axis.</a:t>
            </a:r>
          </a:p>
          <a:p>
            <a:r>
              <a:rPr lang="en-US" dirty="0"/>
              <a:t>Scatter plots which visualize the relationship between two continuous variables.</a:t>
            </a:r>
          </a:p>
          <a:p>
            <a:endParaRPr lang="en-US" dirty="0"/>
          </a:p>
        </p:txBody>
      </p:sp>
    </p:spTree>
    <p:extLst>
      <p:ext uri="{BB962C8B-B14F-4D97-AF65-F5344CB8AC3E}">
        <p14:creationId xmlns:p14="http://schemas.microsoft.com/office/powerpoint/2010/main" val="2691457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5835F-88D4-E733-4F4B-93FC11A5FD50}"/>
              </a:ext>
            </a:extLst>
          </p:cNvPr>
          <p:cNvSpPr>
            <a:spLocks noGrp="1"/>
          </p:cNvSpPr>
          <p:nvPr>
            <p:ph type="title"/>
          </p:nvPr>
        </p:nvSpPr>
        <p:spPr/>
        <p:txBody>
          <a:bodyPr/>
          <a:lstStyle/>
          <a:p>
            <a:r>
              <a:rPr lang="en-US" dirty="0"/>
              <a:t>Scatter Plot Cont..</a:t>
            </a:r>
          </a:p>
        </p:txBody>
      </p:sp>
      <p:sp>
        <p:nvSpPr>
          <p:cNvPr id="3" name="Content Placeholder 2">
            <a:extLst>
              <a:ext uri="{FF2B5EF4-FFF2-40B4-BE49-F238E27FC236}">
                <a16:creationId xmlns:a16="http://schemas.microsoft.com/office/drawing/2014/main" id="{DF21B6CF-92DE-7CA3-05FD-1D2065215E32}"/>
              </a:ext>
            </a:extLst>
          </p:cNvPr>
          <p:cNvSpPr>
            <a:spLocks noGrp="1"/>
          </p:cNvSpPr>
          <p:nvPr>
            <p:ph idx="1"/>
          </p:nvPr>
        </p:nvSpPr>
        <p:spPr/>
        <p:txBody>
          <a:bodyPr/>
          <a:lstStyle/>
          <a:p>
            <a:r>
              <a:rPr lang="en-US" dirty="0"/>
              <a:t>This scatter plot shows most IQ values clustered around 95–110 while the points near 72 and 150 stand out clearly as outliers compared to the rest of the data.</a:t>
            </a:r>
          </a:p>
          <a:p>
            <a:endParaRPr lang="en-US" dirty="0"/>
          </a:p>
        </p:txBody>
      </p:sp>
      <p:pic>
        <p:nvPicPr>
          <p:cNvPr id="4" name="Picture 2" descr="Scatter_plot_outlier">
            <a:extLst>
              <a:ext uri="{FF2B5EF4-FFF2-40B4-BE49-F238E27FC236}">
                <a16:creationId xmlns:a16="http://schemas.microsoft.com/office/drawing/2014/main" id="{970C3E29-30B1-BDBD-8143-D1B84AD38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0053" y="3135165"/>
            <a:ext cx="4149212" cy="3281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312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5D37-3AA4-12EE-62A8-6DBC28ED124B}"/>
              </a:ext>
            </a:extLst>
          </p:cNvPr>
          <p:cNvSpPr>
            <a:spLocks noGrp="1"/>
          </p:cNvSpPr>
          <p:nvPr>
            <p:ph type="title"/>
          </p:nvPr>
        </p:nvSpPr>
        <p:spPr/>
        <p:txBody>
          <a:bodyPr/>
          <a:lstStyle/>
          <a:p>
            <a:r>
              <a:rPr lang="en-US" dirty="0"/>
              <a:t>Correlation coefficient</a:t>
            </a:r>
          </a:p>
        </p:txBody>
      </p:sp>
      <p:sp>
        <p:nvSpPr>
          <p:cNvPr id="3" name="Content Placeholder 2">
            <a:extLst>
              <a:ext uri="{FF2B5EF4-FFF2-40B4-BE49-F238E27FC236}">
                <a16:creationId xmlns:a16="http://schemas.microsoft.com/office/drawing/2014/main" id="{6BF3FD3B-97D5-39A6-4685-2B2C09A6CE5D}"/>
              </a:ext>
            </a:extLst>
          </p:cNvPr>
          <p:cNvSpPr>
            <a:spLocks noGrp="1"/>
          </p:cNvSpPr>
          <p:nvPr>
            <p:ph idx="1"/>
          </p:nvPr>
        </p:nvSpPr>
        <p:spPr/>
        <p:txBody>
          <a:bodyPr/>
          <a:lstStyle/>
          <a:p>
            <a:r>
              <a:rPr lang="en-US" dirty="0"/>
              <a:t>Correlation coefficient measures how strongly two variables are related which commonly use Pearson's correlation for linear relationships.</a:t>
            </a:r>
          </a:p>
          <a:p>
            <a:endParaRPr lang="en-US" dirty="0"/>
          </a:p>
        </p:txBody>
      </p:sp>
    </p:spTree>
    <p:extLst>
      <p:ext uri="{BB962C8B-B14F-4D97-AF65-F5344CB8AC3E}">
        <p14:creationId xmlns:p14="http://schemas.microsoft.com/office/powerpoint/2010/main" val="3204512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A23C-978C-6C13-97F9-F5D4B5C614C6}"/>
              </a:ext>
            </a:extLst>
          </p:cNvPr>
          <p:cNvSpPr>
            <a:spLocks noGrp="1"/>
          </p:cNvSpPr>
          <p:nvPr>
            <p:ph type="title"/>
          </p:nvPr>
        </p:nvSpPr>
        <p:spPr/>
        <p:txBody>
          <a:bodyPr/>
          <a:lstStyle/>
          <a:p>
            <a:r>
              <a:rPr lang="en-US" dirty="0"/>
              <a:t>Cross Tabulation </a:t>
            </a:r>
          </a:p>
        </p:txBody>
      </p:sp>
      <p:sp>
        <p:nvSpPr>
          <p:cNvPr id="3" name="Content Placeholder 2">
            <a:extLst>
              <a:ext uri="{FF2B5EF4-FFF2-40B4-BE49-F238E27FC236}">
                <a16:creationId xmlns:a16="http://schemas.microsoft.com/office/drawing/2014/main" id="{4FD1F262-0ED7-BDCC-28D9-65BFD0298422}"/>
              </a:ext>
            </a:extLst>
          </p:cNvPr>
          <p:cNvSpPr>
            <a:spLocks noGrp="1"/>
          </p:cNvSpPr>
          <p:nvPr>
            <p:ph idx="1"/>
          </p:nvPr>
        </p:nvSpPr>
        <p:spPr/>
        <p:txBody>
          <a:bodyPr/>
          <a:lstStyle/>
          <a:p>
            <a:r>
              <a:rPr lang="en-US" dirty="0"/>
              <a:t>Cross-tabulation or contingency tables shows the frequency distribution of two categorical variables and help to understand their relationship.</a:t>
            </a:r>
          </a:p>
          <a:p>
            <a:endParaRPr lang="en-US" dirty="0"/>
          </a:p>
        </p:txBody>
      </p:sp>
    </p:spTree>
    <p:extLst>
      <p:ext uri="{BB962C8B-B14F-4D97-AF65-F5344CB8AC3E}">
        <p14:creationId xmlns:p14="http://schemas.microsoft.com/office/powerpoint/2010/main" val="4085147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0EA56-01A4-A84B-40EE-98E06EEA0907}"/>
              </a:ext>
            </a:extLst>
          </p:cNvPr>
          <p:cNvSpPr>
            <a:spLocks noGrp="1"/>
          </p:cNvSpPr>
          <p:nvPr>
            <p:ph type="title"/>
          </p:nvPr>
        </p:nvSpPr>
        <p:spPr/>
        <p:txBody>
          <a:bodyPr/>
          <a:lstStyle/>
          <a:p>
            <a:r>
              <a:rPr lang="en-US" dirty="0"/>
              <a:t>Line Graph</a:t>
            </a:r>
          </a:p>
        </p:txBody>
      </p:sp>
      <p:sp>
        <p:nvSpPr>
          <p:cNvPr id="3" name="Content Placeholder 2">
            <a:extLst>
              <a:ext uri="{FF2B5EF4-FFF2-40B4-BE49-F238E27FC236}">
                <a16:creationId xmlns:a16="http://schemas.microsoft.com/office/drawing/2014/main" id="{88A37469-D9CE-164C-E4E0-E8350580F745}"/>
              </a:ext>
            </a:extLst>
          </p:cNvPr>
          <p:cNvSpPr>
            <a:spLocks noGrp="1"/>
          </p:cNvSpPr>
          <p:nvPr>
            <p:ph idx="1"/>
          </p:nvPr>
        </p:nvSpPr>
        <p:spPr/>
        <p:txBody>
          <a:bodyPr/>
          <a:lstStyle/>
          <a:p>
            <a:r>
              <a:rPr lang="en-US" dirty="0"/>
              <a:t>Line graphs are useful for comparing two variables over time in time series data to identify trends or patterns.</a:t>
            </a:r>
          </a:p>
          <a:p>
            <a:endParaRPr lang="en-US" dirty="0"/>
          </a:p>
        </p:txBody>
      </p:sp>
    </p:spTree>
    <p:extLst>
      <p:ext uri="{BB962C8B-B14F-4D97-AF65-F5344CB8AC3E}">
        <p14:creationId xmlns:p14="http://schemas.microsoft.com/office/powerpoint/2010/main" val="132701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0EB41-4F98-7AA4-69F8-D5091509C314}"/>
              </a:ext>
            </a:extLst>
          </p:cNvPr>
          <p:cNvSpPr>
            <a:spLocks noGrp="1"/>
          </p:cNvSpPr>
          <p:nvPr>
            <p:ph type="title"/>
          </p:nvPr>
        </p:nvSpPr>
        <p:spPr/>
        <p:txBody>
          <a:bodyPr/>
          <a:lstStyle/>
          <a:p>
            <a:r>
              <a:rPr lang="en-US" dirty="0"/>
              <a:t>Covariance</a:t>
            </a:r>
          </a:p>
        </p:txBody>
      </p:sp>
      <p:sp>
        <p:nvSpPr>
          <p:cNvPr id="3" name="Content Placeholder 2">
            <a:extLst>
              <a:ext uri="{FF2B5EF4-FFF2-40B4-BE49-F238E27FC236}">
                <a16:creationId xmlns:a16="http://schemas.microsoft.com/office/drawing/2014/main" id="{25D1C911-C9E3-DC46-DA9E-B0856497349E}"/>
              </a:ext>
            </a:extLst>
          </p:cNvPr>
          <p:cNvSpPr>
            <a:spLocks noGrp="1"/>
          </p:cNvSpPr>
          <p:nvPr>
            <p:ph idx="1"/>
          </p:nvPr>
        </p:nvSpPr>
        <p:spPr/>
        <p:txBody>
          <a:bodyPr/>
          <a:lstStyle/>
          <a:p>
            <a:r>
              <a:rPr lang="en-US" dirty="0"/>
              <a:t>Covariance measures how two variables change together but it is paired with the correlation coefficient for a clearer and more standardized understanding of the relationship.</a:t>
            </a:r>
          </a:p>
          <a:p>
            <a:endParaRPr lang="en-US" dirty="0"/>
          </a:p>
        </p:txBody>
      </p:sp>
    </p:spTree>
    <p:extLst>
      <p:ext uri="{BB962C8B-B14F-4D97-AF65-F5344CB8AC3E}">
        <p14:creationId xmlns:p14="http://schemas.microsoft.com/office/powerpoint/2010/main" val="3193827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5FDD1-05C1-4587-804A-7C5660D5A72F}"/>
              </a:ext>
            </a:extLst>
          </p:cNvPr>
          <p:cNvSpPr>
            <a:spLocks noGrp="1"/>
          </p:cNvSpPr>
          <p:nvPr>
            <p:ph type="title"/>
          </p:nvPr>
        </p:nvSpPr>
        <p:spPr/>
        <p:txBody>
          <a:bodyPr/>
          <a:lstStyle/>
          <a:p>
            <a:r>
              <a:rPr lang="en-US" dirty="0"/>
              <a:t>Multivariate Analysis</a:t>
            </a:r>
          </a:p>
        </p:txBody>
      </p:sp>
      <p:sp>
        <p:nvSpPr>
          <p:cNvPr id="3" name="Content Placeholder 2">
            <a:extLst>
              <a:ext uri="{FF2B5EF4-FFF2-40B4-BE49-F238E27FC236}">
                <a16:creationId xmlns:a16="http://schemas.microsoft.com/office/drawing/2014/main" id="{51600F09-7BF3-5667-6122-2E0C5A01E3B4}"/>
              </a:ext>
            </a:extLst>
          </p:cNvPr>
          <p:cNvSpPr>
            <a:spLocks noGrp="1"/>
          </p:cNvSpPr>
          <p:nvPr>
            <p:ph idx="1"/>
          </p:nvPr>
        </p:nvSpPr>
        <p:spPr/>
        <p:txBody>
          <a:bodyPr/>
          <a:lstStyle/>
          <a:p>
            <a:r>
              <a:rPr lang="en-US" dirty="0"/>
              <a:t>Multivariate Analysis identify relationships between two or more variables in the dataset and aims to understand how variables interact with one another which is important for statistical modeling techniques.</a:t>
            </a:r>
          </a:p>
          <a:p>
            <a:endParaRPr lang="en-US" dirty="0"/>
          </a:p>
        </p:txBody>
      </p:sp>
    </p:spTree>
    <p:extLst>
      <p:ext uri="{BB962C8B-B14F-4D97-AF65-F5344CB8AC3E}">
        <p14:creationId xmlns:p14="http://schemas.microsoft.com/office/powerpoint/2010/main" val="863170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22BA5-06CC-0094-B55D-467BD097376A}"/>
              </a:ext>
            </a:extLst>
          </p:cNvPr>
          <p:cNvSpPr>
            <a:spLocks noGrp="1"/>
          </p:cNvSpPr>
          <p:nvPr>
            <p:ph type="title"/>
          </p:nvPr>
        </p:nvSpPr>
        <p:spPr/>
        <p:txBody>
          <a:bodyPr/>
          <a:lstStyle/>
          <a:p>
            <a:r>
              <a:rPr lang="en-US" dirty="0"/>
              <a:t>Multivariate Analysis Techniques</a:t>
            </a:r>
          </a:p>
        </p:txBody>
      </p:sp>
      <p:sp>
        <p:nvSpPr>
          <p:cNvPr id="3" name="Content Placeholder 2">
            <a:extLst>
              <a:ext uri="{FF2B5EF4-FFF2-40B4-BE49-F238E27FC236}">
                <a16:creationId xmlns:a16="http://schemas.microsoft.com/office/drawing/2014/main" id="{245C13F9-076B-B443-7829-BC776AF4833D}"/>
              </a:ext>
            </a:extLst>
          </p:cNvPr>
          <p:cNvSpPr>
            <a:spLocks noGrp="1"/>
          </p:cNvSpPr>
          <p:nvPr>
            <p:ph idx="1"/>
          </p:nvPr>
        </p:nvSpPr>
        <p:spPr/>
        <p:txBody>
          <a:bodyPr/>
          <a:lstStyle/>
          <a:p>
            <a:r>
              <a:rPr lang="en-US" dirty="0"/>
              <a:t>Pair Plot</a:t>
            </a:r>
          </a:p>
          <a:p>
            <a:r>
              <a:rPr lang="en-US" dirty="0"/>
              <a:t>Principal Component Analysis</a:t>
            </a:r>
          </a:p>
          <a:p>
            <a:r>
              <a:rPr lang="en-US" dirty="0"/>
              <a:t>Spatial Analysis</a:t>
            </a:r>
          </a:p>
          <a:p>
            <a:r>
              <a:rPr lang="en-US" dirty="0"/>
              <a:t>Time Series Analysis</a:t>
            </a:r>
          </a:p>
          <a:p>
            <a:endParaRPr lang="en-US" dirty="0"/>
          </a:p>
        </p:txBody>
      </p:sp>
    </p:spTree>
    <p:extLst>
      <p:ext uri="{BB962C8B-B14F-4D97-AF65-F5344CB8AC3E}">
        <p14:creationId xmlns:p14="http://schemas.microsoft.com/office/powerpoint/2010/main" val="2430920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CC4C0-4712-527C-662F-D6E45F6F116E}"/>
              </a:ext>
            </a:extLst>
          </p:cNvPr>
          <p:cNvSpPr>
            <a:spLocks noGrp="1"/>
          </p:cNvSpPr>
          <p:nvPr>
            <p:ph type="title"/>
          </p:nvPr>
        </p:nvSpPr>
        <p:spPr/>
        <p:txBody>
          <a:bodyPr/>
          <a:lstStyle/>
          <a:p>
            <a:r>
              <a:rPr lang="en-US" dirty="0"/>
              <a:t>Pair Plot</a:t>
            </a:r>
          </a:p>
        </p:txBody>
      </p:sp>
      <p:sp>
        <p:nvSpPr>
          <p:cNvPr id="3" name="Content Placeholder 2">
            <a:extLst>
              <a:ext uri="{FF2B5EF4-FFF2-40B4-BE49-F238E27FC236}">
                <a16:creationId xmlns:a16="http://schemas.microsoft.com/office/drawing/2014/main" id="{E39E0741-F53E-4CE5-A1B8-97EC65EEDB96}"/>
              </a:ext>
            </a:extLst>
          </p:cNvPr>
          <p:cNvSpPr>
            <a:spLocks noGrp="1"/>
          </p:cNvSpPr>
          <p:nvPr>
            <p:ph idx="1"/>
          </p:nvPr>
        </p:nvSpPr>
        <p:spPr/>
        <p:txBody>
          <a:bodyPr/>
          <a:lstStyle/>
          <a:p>
            <a:r>
              <a:rPr lang="en-US" dirty="0"/>
              <a:t>shows the relationships between multiple variables at once and helps in understanding how they interact</a:t>
            </a:r>
          </a:p>
          <a:p>
            <a:endParaRPr lang="en-US" dirty="0"/>
          </a:p>
        </p:txBody>
      </p:sp>
    </p:spTree>
    <p:extLst>
      <p:ext uri="{BB962C8B-B14F-4D97-AF65-F5344CB8AC3E}">
        <p14:creationId xmlns:p14="http://schemas.microsoft.com/office/powerpoint/2010/main" val="567913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729E3-64F2-DB35-1A30-87DA40976879}"/>
              </a:ext>
            </a:extLst>
          </p:cNvPr>
          <p:cNvSpPr>
            <a:spLocks noGrp="1"/>
          </p:cNvSpPr>
          <p:nvPr>
            <p:ph type="title"/>
          </p:nvPr>
        </p:nvSpPr>
        <p:spPr/>
        <p:txBody>
          <a:bodyPr/>
          <a:lstStyle/>
          <a:p>
            <a:r>
              <a:rPr lang="en-US" dirty="0"/>
              <a:t>Principal Component Analysis</a:t>
            </a:r>
          </a:p>
        </p:txBody>
      </p:sp>
      <p:sp>
        <p:nvSpPr>
          <p:cNvPr id="3" name="Content Placeholder 2">
            <a:extLst>
              <a:ext uri="{FF2B5EF4-FFF2-40B4-BE49-F238E27FC236}">
                <a16:creationId xmlns:a16="http://schemas.microsoft.com/office/drawing/2014/main" id="{6379CEDC-62F6-52E3-B60C-047A4D611DF2}"/>
              </a:ext>
            </a:extLst>
          </p:cNvPr>
          <p:cNvSpPr>
            <a:spLocks noGrp="1"/>
          </p:cNvSpPr>
          <p:nvPr>
            <p:ph idx="1"/>
          </p:nvPr>
        </p:nvSpPr>
        <p:spPr/>
        <p:txBody>
          <a:bodyPr>
            <a:normAutofit lnSpcReduction="10000"/>
          </a:bodyPr>
          <a:lstStyle/>
          <a:p>
            <a:r>
              <a:rPr lang="en-US" dirty="0"/>
              <a:t>Reduces the complexity of large datasets by simplifying them while keeping the most important information</a:t>
            </a:r>
          </a:p>
          <a:p>
            <a:r>
              <a:rPr lang="en-US" dirty="0"/>
              <a:t>It works by calculating the covariance matrix of the features and finding its eigenvectors and eigenvalues. The top k eigenvectors with the largest eigenvalues define the new axes that capture the most variance in the data.</a:t>
            </a:r>
          </a:p>
          <a:p>
            <a:r>
              <a:rPr lang="en-US" dirty="0"/>
              <a:t>By projecting the original data onto these axes, PCA reduces the number of features while retaining as much information as possible. It’s fast, robust and especially effective when the dataset has linearly correlated features. However, it cannot capture complex non linear relationships.</a:t>
            </a:r>
          </a:p>
          <a:p>
            <a:endParaRPr lang="en-US" dirty="0"/>
          </a:p>
        </p:txBody>
      </p:sp>
    </p:spTree>
    <p:extLst>
      <p:ext uri="{BB962C8B-B14F-4D97-AF65-F5344CB8AC3E}">
        <p14:creationId xmlns:p14="http://schemas.microsoft.com/office/powerpoint/2010/main" val="2005506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930A5-A2F4-203A-19D6-D07F34FC05AF}"/>
              </a:ext>
            </a:extLst>
          </p:cNvPr>
          <p:cNvSpPr>
            <a:spLocks noGrp="1"/>
          </p:cNvSpPr>
          <p:nvPr>
            <p:ph type="title"/>
          </p:nvPr>
        </p:nvSpPr>
        <p:spPr/>
        <p:txBody>
          <a:bodyPr/>
          <a:lstStyle/>
          <a:p>
            <a:r>
              <a:rPr lang="en-US" dirty="0"/>
              <a:t>Can one feature belong to multiple component?</a:t>
            </a:r>
          </a:p>
        </p:txBody>
      </p:sp>
      <p:sp>
        <p:nvSpPr>
          <p:cNvPr id="3" name="Content Placeholder 2">
            <a:extLst>
              <a:ext uri="{FF2B5EF4-FFF2-40B4-BE49-F238E27FC236}">
                <a16:creationId xmlns:a16="http://schemas.microsoft.com/office/drawing/2014/main" id="{FE810BEF-D687-A7F7-814F-FE3A373A82EB}"/>
              </a:ext>
            </a:extLst>
          </p:cNvPr>
          <p:cNvSpPr>
            <a:spLocks noGrp="1"/>
          </p:cNvSpPr>
          <p:nvPr>
            <p:ph idx="1"/>
          </p:nvPr>
        </p:nvSpPr>
        <p:spPr/>
        <p:txBody>
          <a:bodyPr/>
          <a:lstStyle/>
          <a:p>
            <a:r>
              <a:rPr lang="en-US" dirty="0"/>
              <a:t>Yes, absolutely. In fact, mathematically, every single feature contributes to every single principal </a:t>
            </a:r>
            <a:r>
              <a:rPr lang="en-US" dirty="0" err="1"/>
              <a:t>component.Think</a:t>
            </a:r>
            <a:r>
              <a:rPr lang="en-US" dirty="0"/>
              <a:t> of a Principal Component (PC) as a recipe. To make PC1, you might need a lot of "Feature A," a little bit of "Feature B," and almost no "Feature C." To make PC2, you might need a lot of "Feature C" but also a medium amount of "Feature A."</a:t>
            </a:r>
          </a:p>
        </p:txBody>
      </p:sp>
    </p:spTree>
    <p:extLst>
      <p:ext uri="{BB962C8B-B14F-4D97-AF65-F5344CB8AC3E}">
        <p14:creationId xmlns:p14="http://schemas.microsoft.com/office/powerpoint/2010/main" val="921719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AC1E8-5762-F36E-BF65-95EAF704F114}"/>
              </a:ext>
            </a:extLst>
          </p:cNvPr>
          <p:cNvSpPr>
            <a:spLocks noGrp="1"/>
          </p:cNvSpPr>
          <p:nvPr>
            <p:ph type="title"/>
          </p:nvPr>
        </p:nvSpPr>
        <p:spPr/>
        <p:txBody>
          <a:bodyPr/>
          <a:lstStyle/>
          <a:p>
            <a:r>
              <a:rPr lang="en-US" dirty="0"/>
              <a:t>Classification Report Parameters</a:t>
            </a:r>
          </a:p>
        </p:txBody>
      </p:sp>
      <p:sp>
        <p:nvSpPr>
          <p:cNvPr id="3" name="Content Placeholder 2">
            <a:extLst>
              <a:ext uri="{FF2B5EF4-FFF2-40B4-BE49-F238E27FC236}">
                <a16:creationId xmlns:a16="http://schemas.microsoft.com/office/drawing/2014/main" id="{C524E6B1-833D-7B5A-7167-58AA07B78327}"/>
              </a:ext>
            </a:extLst>
          </p:cNvPr>
          <p:cNvSpPr>
            <a:spLocks noGrp="1"/>
          </p:cNvSpPr>
          <p:nvPr>
            <p:ph idx="1"/>
          </p:nvPr>
        </p:nvSpPr>
        <p:spPr/>
        <p:txBody>
          <a:bodyPr/>
          <a:lstStyle/>
          <a:p>
            <a:pPr marL="514350" indent="-514350">
              <a:buFont typeface="+mj-lt"/>
              <a:buAutoNum type="arabicPeriod"/>
            </a:pPr>
            <a:r>
              <a:rPr lang="en-US" dirty="0"/>
              <a:t>Precision</a:t>
            </a:r>
          </a:p>
          <a:p>
            <a:pPr marL="514350" indent="-514350">
              <a:buFont typeface="+mj-lt"/>
              <a:buAutoNum type="arabicPeriod"/>
            </a:pPr>
            <a:r>
              <a:rPr lang="en-US" dirty="0"/>
              <a:t>Recall (Sensitivity)</a:t>
            </a:r>
          </a:p>
          <a:p>
            <a:pPr marL="514350" indent="-514350">
              <a:buFont typeface="+mj-lt"/>
              <a:buAutoNum type="arabicPeriod"/>
            </a:pPr>
            <a:r>
              <a:rPr lang="en-US" dirty="0"/>
              <a:t>F1-Score</a:t>
            </a:r>
          </a:p>
          <a:p>
            <a:pPr marL="514350" indent="-514350">
              <a:buFont typeface="+mj-lt"/>
              <a:buAutoNum type="arabicPeriod"/>
            </a:pPr>
            <a:r>
              <a:rPr lang="en-US" dirty="0"/>
              <a:t>Support</a:t>
            </a:r>
          </a:p>
          <a:p>
            <a:pPr marL="514350" indent="-514350">
              <a:buFont typeface="+mj-lt"/>
              <a:buAutoNum type="arabicPeriod"/>
            </a:pPr>
            <a:r>
              <a:rPr lang="en-US" dirty="0"/>
              <a:t>Averaging Metrics (The Bottom Rows)</a:t>
            </a:r>
          </a:p>
        </p:txBody>
      </p:sp>
    </p:spTree>
    <p:extLst>
      <p:ext uri="{BB962C8B-B14F-4D97-AF65-F5344CB8AC3E}">
        <p14:creationId xmlns:p14="http://schemas.microsoft.com/office/powerpoint/2010/main" val="3387993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02DE7-6F17-08D2-829A-8E9CC8560D1F}"/>
              </a:ext>
            </a:extLst>
          </p:cNvPr>
          <p:cNvSpPr>
            <a:spLocks noGrp="1"/>
          </p:cNvSpPr>
          <p:nvPr>
            <p:ph type="title"/>
          </p:nvPr>
        </p:nvSpPr>
        <p:spPr/>
        <p:txBody>
          <a:bodyPr/>
          <a:lstStyle/>
          <a:p>
            <a:r>
              <a:rPr lang="en-US" dirty="0"/>
              <a:t>Precision</a:t>
            </a:r>
          </a:p>
        </p:txBody>
      </p:sp>
      <p:sp>
        <p:nvSpPr>
          <p:cNvPr id="3" name="Content Placeholder 2">
            <a:extLst>
              <a:ext uri="{FF2B5EF4-FFF2-40B4-BE49-F238E27FC236}">
                <a16:creationId xmlns:a16="http://schemas.microsoft.com/office/drawing/2014/main" id="{46DEDD71-E807-F124-8A7A-8A5A10BD5D2A}"/>
              </a:ext>
            </a:extLst>
          </p:cNvPr>
          <p:cNvSpPr>
            <a:spLocks noGrp="1"/>
          </p:cNvSpPr>
          <p:nvPr>
            <p:ph idx="1"/>
          </p:nvPr>
        </p:nvSpPr>
        <p:spPr/>
        <p:txBody>
          <a:bodyPr/>
          <a:lstStyle/>
          <a:p>
            <a:r>
              <a:rPr lang="en-US" dirty="0"/>
              <a:t>The "Quality" Metric. Precision answers the question: “Of all the instances the model predicted as positive, how many were actually positive?”</a:t>
            </a:r>
          </a:p>
          <a:p>
            <a:r>
              <a:rPr lang="en-US" dirty="0"/>
              <a:t>High Precision: Means the model doesn't label many negative samples as positive (low "False Positive" rate).</a:t>
            </a:r>
          </a:p>
          <a:p>
            <a:r>
              <a:rPr lang="en-US" dirty="0"/>
              <a:t>Formula:</a:t>
            </a:r>
          </a:p>
          <a:p>
            <a:pPr lvl="1"/>
            <a:r>
              <a:rPr lang="en-US" dirty="0"/>
              <a:t>Precision = True Positive / (True Positives + False Positive)</a:t>
            </a:r>
          </a:p>
        </p:txBody>
      </p:sp>
    </p:spTree>
    <p:extLst>
      <p:ext uri="{BB962C8B-B14F-4D97-AF65-F5344CB8AC3E}">
        <p14:creationId xmlns:p14="http://schemas.microsoft.com/office/powerpoint/2010/main" val="89689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9A304-D2D3-3063-3ABD-BF933E66E50C}"/>
              </a:ext>
            </a:extLst>
          </p:cNvPr>
          <p:cNvSpPr>
            <a:spLocks noGrp="1"/>
          </p:cNvSpPr>
          <p:nvPr>
            <p:ph type="title"/>
          </p:nvPr>
        </p:nvSpPr>
        <p:spPr/>
        <p:txBody>
          <a:bodyPr/>
          <a:lstStyle/>
          <a:p>
            <a:r>
              <a:rPr lang="en-US" dirty="0"/>
              <a:t>Recall (Sensitivity)</a:t>
            </a:r>
          </a:p>
        </p:txBody>
      </p:sp>
      <p:sp>
        <p:nvSpPr>
          <p:cNvPr id="3" name="Content Placeholder 2">
            <a:extLst>
              <a:ext uri="{FF2B5EF4-FFF2-40B4-BE49-F238E27FC236}">
                <a16:creationId xmlns:a16="http://schemas.microsoft.com/office/drawing/2014/main" id="{01176A82-A447-E048-5628-E8FB047A439F}"/>
              </a:ext>
            </a:extLst>
          </p:cNvPr>
          <p:cNvSpPr>
            <a:spLocks noGrp="1"/>
          </p:cNvSpPr>
          <p:nvPr>
            <p:ph idx="1"/>
          </p:nvPr>
        </p:nvSpPr>
        <p:spPr/>
        <p:txBody>
          <a:bodyPr/>
          <a:lstStyle/>
          <a:p>
            <a:r>
              <a:rPr lang="en-US" dirty="0"/>
              <a:t>The "Quantity" Metric. Recall answers the question: “Of all the instances that were actually positive, how many did the model identify?”</a:t>
            </a:r>
          </a:p>
          <a:p>
            <a:r>
              <a:rPr lang="en-US" dirty="0"/>
              <a:t>High Recall: Means the model is good at finding all the positive cases (low "False Negative" rate).</a:t>
            </a:r>
          </a:p>
          <a:p>
            <a:r>
              <a:rPr lang="en-US" dirty="0"/>
              <a:t>Formula:</a:t>
            </a:r>
          </a:p>
          <a:p>
            <a:pPr lvl="1"/>
            <a:r>
              <a:rPr lang="en-US" dirty="0"/>
              <a:t>Recall = True Positives / (True Positives + False Negatives)</a:t>
            </a:r>
          </a:p>
        </p:txBody>
      </p:sp>
    </p:spTree>
    <p:extLst>
      <p:ext uri="{BB962C8B-B14F-4D97-AF65-F5344CB8AC3E}">
        <p14:creationId xmlns:p14="http://schemas.microsoft.com/office/powerpoint/2010/main" val="1784370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F71DC-E0F9-B45D-DAEB-F6FAEE6F35A4}"/>
              </a:ext>
            </a:extLst>
          </p:cNvPr>
          <p:cNvSpPr>
            <a:spLocks noGrp="1"/>
          </p:cNvSpPr>
          <p:nvPr>
            <p:ph type="title"/>
          </p:nvPr>
        </p:nvSpPr>
        <p:spPr/>
        <p:txBody>
          <a:bodyPr/>
          <a:lstStyle/>
          <a:p>
            <a:r>
              <a:rPr lang="en-US" dirty="0"/>
              <a:t>F1-Score</a:t>
            </a:r>
          </a:p>
        </p:txBody>
      </p:sp>
      <p:sp>
        <p:nvSpPr>
          <p:cNvPr id="3" name="Content Placeholder 2">
            <a:extLst>
              <a:ext uri="{FF2B5EF4-FFF2-40B4-BE49-F238E27FC236}">
                <a16:creationId xmlns:a16="http://schemas.microsoft.com/office/drawing/2014/main" id="{7F06A975-8DC3-5DA2-91FC-2831C2181304}"/>
              </a:ext>
            </a:extLst>
          </p:cNvPr>
          <p:cNvSpPr>
            <a:spLocks noGrp="1"/>
          </p:cNvSpPr>
          <p:nvPr>
            <p:ph idx="1"/>
          </p:nvPr>
        </p:nvSpPr>
        <p:spPr/>
        <p:txBody>
          <a:bodyPr/>
          <a:lstStyle/>
          <a:p>
            <a:r>
              <a:rPr lang="en-US" dirty="0"/>
              <a:t>The "Balance" </a:t>
            </a:r>
            <a:r>
              <a:rPr lang="en-US" dirty="0" err="1"/>
              <a:t>Metric.The</a:t>
            </a:r>
            <a:r>
              <a:rPr lang="en-US" dirty="0"/>
              <a:t> F1-Score is the harmonic mean of Precision and Recall. It is particularly useful when you have an imbalanced dataset (e.g., 95% of your data is Class A and 5% is Class B).</a:t>
            </a:r>
          </a:p>
          <a:p>
            <a:r>
              <a:rPr lang="en-US" dirty="0"/>
              <a:t>It penalizes extreme values. If your Precision is $1.0$ but your Recall is $0.0$, your F1-Score will be $0$.</a:t>
            </a:r>
          </a:p>
          <a:p>
            <a:r>
              <a:rPr lang="en-US" dirty="0"/>
              <a:t>Formula:</a:t>
            </a:r>
          </a:p>
          <a:p>
            <a:pPr lvl="1"/>
            <a:r>
              <a:rPr lang="en-US" dirty="0"/>
              <a:t>F1= 2 * (Precision * Recall) / (Precision + Recall)</a:t>
            </a:r>
          </a:p>
        </p:txBody>
      </p:sp>
    </p:spTree>
    <p:extLst>
      <p:ext uri="{BB962C8B-B14F-4D97-AF65-F5344CB8AC3E}">
        <p14:creationId xmlns:p14="http://schemas.microsoft.com/office/powerpoint/2010/main" val="3514980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26289-7345-E7E3-A0D2-E4C6DF6B7900}"/>
              </a:ext>
            </a:extLst>
          </p:cNvPr>
          <p:cNvSpPr>
            <a:spLocks noGrp="1"/>
          </p:cNvSpPr>
          <p:nvPr>
            <p:ph type="title"/>
          </p:nvPr>
        </p:nvSpPr>
        <p:spPr/>
        <p:txBody>
          <a:bodyPr/>
          <a:lstStyle/>
          <a:p>
            <a:r>
              <a:rPr lang="en-US" dirty="0"/>
              <a:t>Support</a:t>
            </a:r>
          </a:p>
        </p:txBody>
      </p:sp>
      <p:sp>
        <p:nvSpPr>
          <p:cNvPr id="3" name="Content Placeholder 2">
            <a:extLst>
              <a:ext uri="{FF2B5EF4-FFF2-40B4-BE49-F238E27FC236}">
                <a16:creationId xmlns:a16="http://schemas.microsoft.com/office/drawing/2014/main" id="{8635C338-FBA2-4284-F37A-5678AD446CC4}"/>
              </a:ext>
            </a:extLst>
          </p:cNvPr>
          <p:cNvSpPr>
            <a:spLocks noGrp="1"/>
          </p:cNvSpPr>
          <p:nvPr>
            <p:ph idx="1"/>
          </p:nvPr>
        </p:nvSpPr>
        <p:spPr/>
        <p:txBody>
          <a:bodyPr/>
          <a:lstStyle/>
          <a:p>
            <a:r>
              <a:rPr lang="en-US" dirty="0"/>
              <a:t>The "Reality Check" Metric. Support is simply the number of actual occurrences of the class in your specified dataset. It doesn't tell you about model performance; it tells you how much data you have for that class.</a:t>
            </a:r>
          </a:p>
          <a:p>
            <a:r>
              <a:rPr lang="en-US" dirty="0"/>
              <a:t>If the support for one class is 10 and another is 1,000, your metrics for the smaller class might not be statistically significant.</a:t>
            </a:r>
          </a:p>
        </p:txBody>
      </p:sp>
    </p:spTree>
    <p:extLst>
      <p:ext uri="{BB962C8B-B14F-4D97-AF65-F5344CB8AC3E}">
        <p14:creationId xmlns:p14="http://schemas.microsoft.com/office/powerpoint/2010/main" val="1121807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DEAEC-D5E3-EF95-CABD-8F62A7BA54CA}"/>
              </a:ext>
            </a:extLst>
          </p:cNvPr>
          <p:cNvSpPr>
            <a:spLocks noGrp="1"/>
          </p:cNvSpPr>
          <p:nvPr>
            <p:ph type="title"/>
          </p:nvPr>
        </p:nvSpPr>
        <p:spPr/>
        <p:txBody>
          <a:bodyPr/>
          <a:lstStyle/>
          <a:p>
            <a:r>
              <a:rPr lang="en-US" dirty="0"/>
              <a:t>Averaging Metrics (The Bottom Rows)</a:t>
            </a:r>
          </a:p>
        </p:txBody>
      </p:sp>
      <p:sp>
        <p:nvSpPr>
          <p:cNvPr id="3" name="Content Placeholder 2">
            <a:extLst>
              <a:ext uri="{FF2B5EF4-FFF2-40B4-BE49-F238E27FC236}">
                <a16:creationId xmlns:a16="http://schemas.microsoft.com/office/drawing/2014/main" id="{31AECB16-215E-185B-5142-02BF5A3D2433}"/>
              </a:ext>
            </a:extLst>
          </p:cNvPr>
          <p:cNvSpPr>
            <a:spLocks noGrp="1"/>
          </p:cNvSpPr>
          <p:nvPr>
            <p:ph idx="1"/>
          </p:nvPr>
        </p:nvSpPr>
        <p:spPr/>
        <p:txBody>
          <a:bodyPr/>
          <a:lstStyle/>
          <a:p>
            <a:r>
              <a:rPr lang="en-US" dirty="0"/>
              <a:t>Accuracy	</a:t>
            </a:r>
          </a:p>
          <a:p>
            <a:pPr lvl="1"/>
            <a:r>
              <a:rPr lang="en-US" dirty="0"/>
              <a:t>The fraction of total predictions that were correct.</a:t>
            </a:r>
          </a:p>
          <a:p>
            <a:r>
              <a:rPr lang="en-US" dirty="0"/>
              <a:t>Macro Avg	</a:t>
            </a:r>
          </a:p>
          <a:p>
            <a:pPr lvl="1"/>
            <a:r>
              <a:rPr lang="en-US" dirty="0"/>
              <a:t>The arithmetic mean of the metric (e.g., Precision) across all classes. It treats all classes equally, regardless of their size.</a:t>
            </a:r>
          </a:p>
          <a:p>
            <a:r>
              <a:rPr lang="en-US" dirty="0"/>
              <a:t>Weighted Avg	</a:t>
            </a:r>
          </a:p>
          <a:p>
            <a:pPr lvl="1"/>
            <a:r>
              <a:rPr lang="en-US" dirty="0"/>
              <a:t>The mean of the metric, but weighted by the Support of each class. This reflects how well the model performs on the "typical" sample.</a:t>
            </a:r>
          </a:p>
        </p:txBody>
      </p:sp>
    </p:spTree>
    <p:extLst>
      <p:ext uri="{BB962C8B-B14F-4D97-AF65-F5344CB8AC3E}">
        <p14:creationId xmlns:p14="http://schemas.microsoft.com/office/powerpoint/2010/main" val="436216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3BEED-E5E7-82CB-27B5-186A55EF89FF}"/>
              </a:ext>
            </a:extLst>
          </p:cNvPr>
          <p:cNvSpPr>
            <a:spLocks noGrp="1"/>
          </p:cNvSpPr>
          <p:nvPr>
            <p:ph type="title"/>
          </p:nvPr>
        </p:nvSpPr>
        <p:spPr/>
        <p:txBody>
          <a:bodyPr/>
          <a:lstStyle/>
          <a:p>
            <a:r>
              <a:rPr lang="en-US" dirty="0"/>
              <a:t>Specificity</a:t>
            </a:r>
          </a:p>
        </p:txBody>
      </p:sp>
      <p:sp>
        <p:nvSpPr>
          <p:cNvPr id="3" name="Content Placeholder 2">
            <a:extLst>
              <a:ext uri="{FF2B5EF4-FFF2-40B4-BE49-F238E27FC236}">
                <a16:creationId xmlns:a16="http://schemas.microsoft.com/office/drawing/2014/main" id="{39FA5976-C50A-C0CB-E54C-F46AC138EB86}"/>
              </a:ext>
            </a:extLst>
          </p:cNvPr>
          <p:cNvSpPr>
            <a:spLocks noGrp="1"/>
          </p:cNvSpPr>
          <p:nvPr>
            <p:ph idx="1"/>
          </p:nvPr>
        </p:nvSpPr>
        <p:spPr/>
        <p:txBody>
          <a:bodyPr/>
          <a:lstStyle/>
          <a:p>
            <a:r>
              <a:rPr lang="en-US" dirty="0"/>
              <a:t>Specificity: Of all actual negatives, how many did we find?</a:t>
            </a:r>
          </a:p>
          <a:p>
            <a:r>
              <a:rPr lang="en-US" dirty="0"/>
              <a:t>TN / (TN + FP)</a:t>
            </a:r>
          </a:p>
        </p:txBody>
      </p:sp>
    </p:spTree>
    <p:extLst>
      <p:ext uri="{BB962C8B-B14F-4D97-AF65-F5344CB8AC3E}">
        <p14:creationId xmlns:p14="http://schemas.microsoft.com/office/powerpoint/2010/main" val="9980800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FBE0A-AABC-97E8-9681-B9264D8BB9BF}"/>
              </a:ext>
            </a:extLst>
          </p:cNvPr>
          <p:cNvSpPr>
            <a:spLocks noGrp="1"/>
          </p:cNvSpPr>
          <p:nvPr>
            <p:ph type="title"/>
          </p:nvPr>
        </p:nvSpPr>
        <p:spPr/>
        <p:txBody>
          <a:bodyPr/>
          <a:lstStyle/>
          <a:p>
            <a:r>
              <a:rPr lang="en-US" dirty="0"/>
              <a:t>Example Interpretation</a:t>
            </a:r>
          </a:p>
        </p:txBody>
      </p:sp>
      <p:sp>
        <p:nvSpPr>
          <p:cNvPr id="3" name="Content Placeholder 2">
            <a:extLst>
              <a:ext uri="{FF2B5EF4-FFF2-40B4-BE49-F238E27FC236}">
                <a16:creationId xmlns:a16="http://schemas.microsoft.com/office/drawing/2014/main" id="{16B06932-7CCB-85E6-E1DC-96B5C2DB2F4B}"/>
              </a:ext>
            </a:extLst>
          </p:cNvPr>
          <p:cNvSpPr>
            <a:spLocks noGrp="1"/>
          </p:cNvSpPr>
          <p:nvPr>
            <p:ph idx="1"/>
          </p:nvPr>
        </p:nvSpPr>
        <p:spPr/>
        <p:txBody>
          <a:bodyPr/>
          <a:lstStyle/>
          <a:p>
            <a:r>
              <a:rPr lang="en-US" dirty="0"/>
              <a:t>High Recall is vital: You don't want to miss a sick person (False Negative).</a:t>
            </a:r>
          </a:p>
          <a:p>
            <a:r>
              <a:rPr lang="en-US" dirty="0"/>
              <a:t>High Precision is nice, but less critical: It’s okay if a healthy person gets a "false alarm" (False Positive) as long as they get a follow-up test.</a:t>
            </a:r>
          </a:p>
        </p:txBody>
      </p:sp>
    </p:spTree>
    <p:extLst>
      <p:ext uri="{BB962C8B-B14F-4D97-AF65-F5344CB8AC3E}">
        <p14:creationId xmlns:p14="http://schemas.microsoft.com/office/powerpoint/2010/main" val="22507083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2D589-0448-EDAB-B08B-FF7596690CD9}"/>
              </a:ext>
            </a:extLst>
          </p:cNvPr>
          <p:cNvSpPr>
            <a:spLocks noGrp="1"/>
          </p:cNvSpPr>
          <p:nvPr>
            <p:ph type="title"/>
          </p:nvPr>
        </p:nvSpPr>
        <p:spPr/>
        <p:txBody>
          <a:bodyPr/>
          <a:lstStyle/>
          <a:p>
            <a:r>
              <a:rPr lang="en-US" dirty="0"/>
              <a:t>Spatial Analysis</a:t>
            </a:r>
          </a:p>
        </p:txBody>
      </p:sp>
      <p:sp>
        <p:nvSpPr>
          <p:cNvPr id="3" name="Content Placeholder 2">
            <a:extLst>
              <a:ext uri="{FF2B5EF4-FFF2-40B4-BE49-F238E27FC236}">
                <a16:creationId xmlns:a16="http://schemas.microsoft.com/office/drawing/2014/main" id="{3F6762E4-40D9-CD6F-0692-9D03746DA1D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733406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31897-DE59-45CB-B2AB-CAF9924D34C7}"/>
              </a:ext>
            </a:extLst>
          </p:cNvPr>
          <p:cNvSpPr>
            <a:spLocks noGrp="1"/>
          </p:cNvSpPr>
          <p:nvPr>
            <p:ph type="title"/>
          </p:nvPr>
        </p:nvSpPr>
        <p:spPr/>
        <p:txBody>
          <a:bodyPr/>
          <a:lstStyle/>
          <a:p>
            <a:r>
              <a:rPr lang="en-US" dirty="0"/>
              <a:t>Time Series Analysis</a:t>
            </a:r>
          </a:p>
        </p:txBody>
      </p:sp>
      <p:sp>
        <p:nvSpPr>
          <p:cNvPr id="3" name="Content Placeholder 2">
            <a:extLst>
              <a:ext uri="{FF2B5EF4-FFF2-40B4-BE49-F238E27FC236}">
                <a16:creationId xmlns:a16="http://schemas.microsoft.com/office/drawing/2014/main" id="{D4DF4FA4-2650-8D99-37DC-57B9DDF1D4AD}"/>
              </a:ext>
            </a:extLst>
          </p:cNvPr>
          <p:cNvSpPr>
            <a:spLocks noGrp="1"/>
          </p:cNvSpPr>
          <p:nvPr>
            <p:ph idx="1"/>
          </p:nvPr>
        </p:nvSpPr>
        <p:spPr/>
        <p:txBody>
          <a:bodyPr/>
          <a:lstStyle/>
          <a:p>
            <a:r>
              <a:rPr lang="en-US" dirty="0"/>
              <a:t>used for datasets that involve time-based data and it involves understanding and modeling patterns and trends over time. Common techniques include line plots, autocorrelation analysis, moving averages and ARIMA models.</a:t>
            </a:r>
          </a:p>
          <a:p>
            <a:endParaRPr lang="en-US" dirty="0"/>
          </a:p>
        </p:txBody>
      </p:sp>
    </p:spTree>
    <p:extLst>
      <p:ext uri="{BB962C8B-B14F-4D97-AF65-F5344CB8AC3E}">
        <p14:creationId xmlns:p14="http://schemas.microsoft.com/office/powerpoint/2010/main" val="1818162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B102-32B4-6051-A35C-F0C5AA902F90}"/>
              </a:ext>
            </a:extLst>
          </p:cNvPr>
          <p:cNvSpPr>
            <a:spLocks noGrp="1"/>
          </p:cNvSpPr>
          <p:nvPr>
            <p:ph type="title"/>
          </p:nvPr>
        </p:nvSpPr>
        <p:spPr/>
        <p:txBody>
          <a:bodyPr/>
          <a:lstStyle/>
          <a:p>
            <a:r>
              <a:rPr lang="en-US" dirty="0"/>
              <a:t>Violin Plots</a:t>
            </a:r>
          </a:p>
        </p:txBody>
      </p:sp>
      <p:sp>
        <p:nvSpPr>
          <p:cNvPr id="3" name="Content Placeholder 2">
            <a:extLst>
              <a:ext uri="{FF2B5EF4-FFF2-40B4-BE49-F238E27FC236}">
                <a16:creationId xmlns:a16="http://schemas.microsoft.com/office/drawing/2014/main" id="{1A138A0C-6C70-8E0E-9364-2EEA1AE6190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18462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43E0-C9EF-5618-15BD-B48EF4167FB5}"/>
              </a:ext>
            </a:extLst>
          </p:cNvPr>
          <p:cNvSpPr>
            <a:spLocks noGrp="1"/>
          </p:cNvSpPr>
          <p:nvPr>
            <p:ph type="title"/>
          </p:nvPr>
        </p:nvSpPr>
        <p:spPr/>
        <p:txBody>
          <a:bodyPr/>
          <a:lstStyle/>
          <a:p>
            <a:r>
              <a:rPr lang="en-US" dirty="0"/>
              <a:t>Pearson’s correlation coefficients</a:t>
            </a:r>
          </a:p>
        </p:txBody>
      </p:sp>
      <p:sp>
        <p:nvSpPr>
          <p:cNvPr id="3" name="Content Placeholder 2">
            <a:extLst>
              <a:ext uri="{FF2B5EF4-FFF2-40B4-BE49-F238E27FC236}">
                <a16:creationId xmlns:a16="http://schemas.microsoft.com/office/drawing/2014/main" id="{9E1E5466-EE2C-422E-18B9-33AAC86F402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559924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6E115-E626-0E06-B15D-2082B6F0D477}"/>
              </a:ext>
            </a:extLst>
          </p:cNvPr>
          <p:cNvSpPr>
            <a:spLocks noGrp="1"/>
          </p:cNvSpPr>
          <p:nvPr>
            <p:ph type="title"/>
          </p:nvPr>
        </p:nvSpPr>
        <p:spPr/>
        <p:txBody>
          <a:bodyPr/>
          <a:lstStyle/>
          <a:p>
            <a:r>
              <a:rPr lang="en-US" dirty="0"/>
              <a:t>Spearman’s rank correlation</a:t>
            </a:r>
          </a:p>
        </p:txBody>
      </p:sp>
      <p:sp>
        <p:nvSpPr>
          <p:cNvPr id="3" name="Content Placeholder 2">
            <a:extLst>
              <a:ext uri="{FF2B5EF4-FFF2-40B4-BE49-F238E27FC236}">
                <a16:creationId xmlns:a16="http://schemas.microsoft.com/office/drawing/2014/main" id="{C695E7F9-9C92-2D7F-A6DC-9F3EB41FB4D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0525426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243C9-0152-CE9D-B161-B1A75623C6CA}"/>
              </a:ext>
            </a:extLst>
          </p:cNvPr>
          <p:cNvSpPr>
            <a:spLocks noGrp="1"/>
          </p:cNvSpPr>
          <p:nvPr>
            <p:ph type="title"/>
          </p:nvPr>
        </p:nvSpPr>
        <p:spPr/>
        <p:txBody>
          <a:bodyPr/>
          <a:lstStyle/>
          <a:p>
            <a:r>
              <a:rPr lang="en-US" dirty="0"/>
              <a:t>Lab 05</a:t>
            </a:r>
          </a:p>
        </p:txBody>
      </p:sp>
      <p:sp>
        <p:nvSpPr>
          <p:cNvPr id="3" name="Content Placeholder 2">
            <a:extLst>
              <a:ext uri="{FF2B5EF4-FFF2-40B4-BE49-F238E27FC236}">
                <a16:creationId xmlns:a16="http://schemas.microsoft.com/office/drawing/2014/main" id="{735185F1-8509-F1A5-3E71-21876FE3895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40870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D4471-DDCD-742E-668E-FD22F627F7B8}"/>
              </a:ext>
            </a:extLst>
          </p:cNvPr>
          <p:cNvSpPr>
            <a:spLocks noGrp="1"/>
          </p:cNvSpPr>
          <p:nvPr>
            <p:ph type="title"/>
          </p:nvPr>
        </p:nvSpPr>
        <p:spPr/>
        <p:txBody>
          <a:bodyPr/>
          <a:lstStyle/>
          <a:p>
            <a:r>
              <a:rPr lang="en-US" dirty="0"/>
              <a:t>What is a Perceptron?</a:t>
            </a:r>
          </a:p>
        </p:txBody>
      </p:sp>
      <p:sp>
        <p:nvSpPr>
          <p:cNvPr id="3" name="Content Placeholder 2">
            <a:extLst>
              <a:ext uri="{FF2B5EF4-FFF2-40B4-BE49-F238E27FC236}">
                <a16:creationId xmlns:a16="http://schemas.microsoft.com/office/drawing/2014/main" id="{36C2876A-3256-3042-8496-31F725F93F5F}"/>
              </a:ext>
            </a:extLst>
          </p:cNvPr>
          <p:cNvSpPr>
            <a:spLocks noGrp="1"/>
          </p:cNvSpPr>
          <p:nvPr>
            <p:ph idx="1"/>
          </p:nvPr>
        </p:nvSpPr>
        <p:spPr/>
        <p:txBody>
          <a:bodyPr/>
          <a:lstStyle/>
          <a:p>
            <a:r>
              <a:rPr lang="en-US" dirty="0"/>
              <a:t>A Perceptron is the simplest type of artificial neuron and the foundation of neural networks. It takes multiple inputs, applies weights, sums them, and passes the result through an activation function to produce an output (0 or 1). </a:t>
            </a:r>
          </a:p>
          <a:p>
            <a:endParaRPr lang="en-US" dirty="0"/>
          </a:p>
          <a:p>
            <a:endParaRPr lang="en-US" dirty="0"/>
          </a:p>
        </p:txBody>
      </p:sp>
    </p:spTree>
    <p:extLst>
      <p:ext uri="{BB962C8B-B14F-4D97-AF65-F5344CB8AC3E}">
        <p14:creationId xmlns:p14="http://schemas.microsoft.com/office/powerpoint/2010/main" val="1435758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B8E9-8F8B-E8A4-DC7C-878CA3FBCDB6}"/>
              </a:ext>
            </a:extLst>
          </p:cNvPr>
          <p:cNvSpPr>
            <a:spLocks noGrp="1"/>
          </p:cNvSpPr>
          <p:nvPr>
            <p:ph type="title"/>
          </p:nvPr>
        </p:nvSpPr>
        <p:spPr/>
        <p:txBody>
          <a:bodyPr/>
          <a:lstStyle/>
          <a:p>
            <a:r>
              <a:rPr lang="en-US" dirty="0"/>
              <a:t>Single Layer Perceptron</a:t>
            </a:r>
          </a:p>
        </p:txBody>
      </p:sp>
      <p:sp>
        <p:nvSpPr>
          <p:cNvPr id="3" name="Content Placeholder 2">
            <a:extLst>
              <a:ext uri="{FF2B5EF4-FFF2-40B4-BE49-F238E27FC236}">
                <a16:creationId xmlns:a16="http://schemas.microsoft.com/office/drawing/2014/main" id="{71D10596-E370-2809-B40C-8B37B10C4F0B}"/>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963597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6C732-C680-6DB8-AA99-BF5E3CFDD66D}"/>
              </a:ext>
            </a:extLst>
          </p:cNvPr>
          <p:cNvSpPr>
            <a:spLocks noGrp="1"/>
          </p:cNvSpPr>
          <p:nvPr>
            <p:ph type="title"/>
          </p:nvPr>
        </p:nvSpPr>
        <p:spPr/>
        <p:txBody>
          <a:bodyPr/>
          <a:lstStyle/>
          <a:p>
            <a:r>
              <a:rPr lang="en-US" dirty="0"/>
              <a:t>Mathematical Model of Perceptron</a:t>
            </a:r>
          </a:p>
        </p:txBody>
      </p:sp>
      <p:sp>
        <p:nvSpPr>
          <p:cNvPr id="3" name="Content Placeholder 2">
            <a:extLst>
              <a:ext uri="{FF2B5EF4-FFF2-40B4-BE49-F238E27FC236}">
                <a16:creationId xmlns:a16="http://schemas.microsoft.com/office/drawing/2014/main" id="{736A8CC8-A8F9-BE48-4C24-D0CE23F02CA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502735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4E94E-EC30-31A2-7AC6-D70862158F98}"/>
              </a:ext>
            </a:extLst>
          </p:cNvPr>
          <p:cNvSpPr>
            <a:spLocks noGrp="1"/>
          </p:cNvSpPr>
          <p:nvPr>
            <p:ph type="title"/>
          </p:nvPr>
        </p:nvSpPr>
        <p:spPr/>
        <p:txBody>
          <a:bodyPr/>
          <a:lstStyle/>
          <a:p>
            <a:r>
              <a:rPr lang="en-US" dirty="0"/>
              <a:t>A Multilayer Perceptron (MLP)</a:t>
            </a:r>
          </a:p>
        </p:txBody>
      </p:sp>
      <p:sp>
        <p:nvSpPr>
          <p:cNvPr id="3" name="Content Placeholder 2">
            <a:extLst>
              <a:ext uri="{FF2B5EF4-FFF2-40B4-BE49-F238E27FC236}">
                <a16:creationId xmlns:a16="http://schemas.microsoft.com/office/drawing/2014/main" id="{5ACE36C7-B77C-9633-3545-F4E49D565784}"/>
              </a:ext>
            </a:extLst>
          </p:cNvPr>
          <p:cNvSpPr>
            <a:spLocks noGrp="1"/>
          </p:cNvSpPr>
          <p:nvPr>
            <p:ph idx="1"/>
          </p:nvPr>
        </p:nvSpPr>
        <p:spPr/>
        <p:txBody>
          <a:bodyPr/>
          <a:lstStyle/>
          <a:p>
            <a:r>
              <a:rPr lang="en-US" dirty="0"/>
              <a:t>A multilayer perceptron (MLP) is a type of feedforward neural network used for tasks like image and speech recognition.</a:t>
            </a:r>
          </a:p>
          <a:p>
            <a:r>
              <a:rPr lang="en-US" dirty="0"/>
              <a:t>It consists of an input layer, one or more hidden layers and an output layer where each node in a layer is fully connected to every node in the next layer.</a:t>
            </a:r>
          </a:p>
          <a:p>
            <a:r>
              <a:rPr lang="en-US" dirty="0"/>
              <a:t>MLPs use nonlinear activation function to learn complex, non-linear relationships in data through a process called backpropagation, which adjusts connection weights to minimize errors.</a:t>
            </a:r>
          </a:p>
          <a:p>
            <a:endParaRPr lang="en-US" dirty="0"/>
          </a:p>
        </p:txBody>
      </p:sp>
    </p:spTree>
    <p:extLst>
      <p:ext uri="{BB962C8B-B14F-4D97-AF65-F5344CB8AC3E}">
        <p14:creationId xmlns:p14="http://schemas.microsoft.com/office/powerpoint/2010/main" val="2769579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FC096-CCC4-2AC7-B222-552D9194C6A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374E6AD-A9FE-DEC8-5DE0-4D39C077203E}"/>
              </a:ext>
            </a:extLst>
          </p:cNvPr>
          <p:cNvPicPr>
            <a:picLocks noGrp="1" noChangeAspect="1"/>
          </p:cNvPicPr>
          <p:nvPr>
            <p:ph idx="1"/>
          </p:nvPr>
        </p:nvPicPr>
        <p:blipFill>
          <a:blip r:embed="rId2"/>
          <a:stretch>
            <a:fillRect/>
          </a:stretch>
        </p:blipFill>
        <p:spPr>
          <a:xfrm>
            <a:off x="2280961" y="1825625"/>
            <a:ext cx="7630078" cy="4351338"/>
          </a:xfrm>
          <a:prstGeom prst="rect">
            <a:avLst/>
          </a:prstGeom>
        </p:spPr>
      </p:pic>
    </p:spTree>
    <p:extLst>
      <p:ext uri="{BB962C8B-B14F-4D97-AF65-F5344CB8AC3E}">
        <p14:creationId xmlns:p14="http://schemas.microsoft.com/office/powerpoint/2010/main" val="30796590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327F4-E647-438A-DADA-ED6E42A2D8AC}"/>
              </a:ext>
            </a:extLst>
          </p:cNvPr>
          <p:cNvSpPr>
            <a:spLocks noGrp="1"/>
          </p:cNvSpPr>
          <p:nvPr>
            <p:ph type="title"/>
          </p:nvPr>
        </p:nvSpPr>
        <p:spPr/>
        <p:txBody>
          <a:bodyPr/>
          <a:lstStyle/>
          <a:p>
            <a:r>
              <a:rPr lang="en-US" dirty="0"/>
              <a:t>Key components of MLP</a:t>
            </a:r>
          </a:p>
        </p:txBody>
      </p:sp>
      <p:sp>
        <p:nvSpPr>
          <p:cNvPr id="3" name="Content Placeholder 2">
            <a:extLst>
              <a:ext uri="{FF2B5EF4-FFF2-40B4-BE49-F238E27FC236}">
                <a16:creationId xmlns:a16="http://schemas.microsoft.com/office/drawing/2014/main" id="{E4ACF27A-3D60-8643-97FD-1708241B758B}"/>
              </a:ext>
            </a:extLst>
          </p:cNvPr>
          <p:cNvSpPr>
            <a:spLocks noGrp="1"/>
          </p:cNvSpPr>
          <p:nvPr>
            <p:ph idx="1"/>
          </p:nvPr>
        </p:nvSpPr>
        <p:spPr/>
        <p:txBody>
          <a:bodyPr/>
          <a:lstStyle/>
          <a:p>
            <a:r>
              <a:rPr lang="en-US" dirty="0"/>
              <a:t>Input Layer</a:t>
            </a:r>
          </a:p>
          <a:p>
            <a:r>
              <a:rPr lang="en-US" dirty="0"/>
              <a:t>Weighted Connection and Biases</a:t>
            </a:r>
          </a:p>
          <a:p>
            <a:r>
              <a:rPr lang="en-US" dirty="0"/>
              <a:t>Hidden Layers</a:t>
            </a:r>
          </a:p>
          <a:p>
            <a:r>
              <a:rPr lang="en-US" dirty="0"/>
              <a:t>Activation Function</a:t>
            </a:r>
          </a:p>
          <a:p>
            <a:r>
              <a:rPr lang="en-US" dirty="0"/>
              <a:t>Forward Propagation</a:t>
            </a:r>
          </a:p>
          <a:p>
            <a:r>
              <a:rPr lang="en-US" dirty="0"/>
              <a:t>Output Layer</a:t>
            </a:r>
          </a:p>
          <a:p>
            <a:r>
              <a:rPr lang="en-US" dirty="0"/>
              <a:t>Backpropagation and learning</a:t>
            </a:r>
          </a:p>
          <a:p>
            <a:r>
              <a:rPr lang="en-US" dirty="0"/>
              <a:t>Iteration and Convergence</a:t>
            </a:r>
          </a:p>
          <a:p>
            <a:endParaRPr lang="en-US" dirty="0"/>
          </a:p>
        </p:txBody>
      </p:sp>
    </p:spTree>
    <p:extLst>
      <p:ext uri="{BB962C8B-B14F-4D97-AF65-F5344CB8AC3E}">
        <p14:creationId xmlns:p14="http://schemas.microsoft.com/office/powerpoint/2010/main" val="2839396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4554B-9D45-B80C-599F-BAE0C1C6F32B}"/>
              </a:ext>
            </a:extLst>
          </p:cNvPr>
          <p:cNvSpPr>
            <a:spLocks noGrp="1"/>
          </p:cNvSpPr>
          <p:nvPr>
            <p:ph type="title"/>
          </p:nvPr>
        </p:nvSpPr>
        <p:spPr/>
        <p:txBody>
          <a:bodyPr/>
          <a:lstStyle/>
          <a:p>
            <a:r>
              <a:rPr lang="en-US" dirty="0"/>
              <a:t>Input Layer</a:t>
            </a:r>
          </a:p>
        </p:txBody>
      </p:sp>
      <p:sp>
        <p:nvSpPr>
          <p:cNvPr id="3" name="Content Placeholder 2">
            <a:extLst>
              <a:ext uri="{FF2B5EF4-FFF2-40B4-BE49-F238E27FC236}">
                <a16:creationId xmlns:a16="http://schemas.microsoft.com/office/drawing/2014/main" id="{2272B7C1-2B30-533A-9DCB-B4F245CCF969}"/>
              </a:ext>
            </a:extLst>
          </p:cNvPr>
          <p:cNvSpPr>
            <a:spLocks noGrp="1"/>
          </p:cNvSpPr>
          <p:nvPr>
            <p:ph idx="1"/>
          </p:nvPr>
        </p:nvSpPr>
        <p:spPr/>
        <p:txBody>
          <a:bodyPr/>
          <a:lstStyle/>
          <a:p>
            <a:r>
              <a:rPr lang="en-US" dirty="0"/>
              <a:t>The process starts with the input layer, which receives the input data. Each neuron in this layer represents a feature of the input data.</a:t>
            </a:r>
          </a:p>
          <a:p>
            <a:endParaRPr lang="en-US" dirty="0"/>
          </a:p>
        </p:txBody>
      </p:sp>
    </p:spTree>
    <p:extLst>
      <p:ext uri="{BB962C8B-B14F-4D97-AF65-F5344CB8AC3E}">
        <p14:creationId xmlns:p14="http://schemas.microsoft.com/office/powerpoint/2010/main" val="35231785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C23E3-ECBD-484F-AB4B-1ED4B9BEE6DF}"/>
              </a:ext>
            </a:extLst>
          </p:cNvPr>
          <p:cNvSpPr>
            <a:spLocks noGrp="1"/>
          </p:cNvSpPr>
          <p:nvPr>
            <p:ph type="title"/>
          </p:nvPr>
        </p:nvSpPr>
        <p:spPr/>
        <p:txBody>
          <a:bodyPr/>
          <a:lstStyle/>
          <a:p>
            <a:r>
              <a:rPr lang="en-US" dirty="0"/>
              <a:t>Weighted Connections and Biases</a:t>
            </a:r>
          </a:p>
        </p:txBody>
      </p:sp>
      <p:sp>
        <p:nvSpPr>
          <p:cNvPr id="3" name="Content Placeholder 2">
            <a:extLst>
              <a:ext uri="{FF2B5EF4-FFF2-40B4-BE49-F238E27FC236}">
                <a16:creationId xmlns:a16="http://schemas.microsoft.com/office/drawing/2014/main" id="{F8921C7A-009B-1D87-1FAB-58B2A4B3CB6B}"/>
              </a:ext>
            </a:extLst>
          </p:cNvPr>
          <p:cNvSpPr>
            <a:spLocks noGrp="1"/>
          </p:cNvSpPr>
          <p:nvPr>
            <p:ph idx="1"/>
          </p:nvPr>
        </p:nvSpPr>
        <p:spPr/>
        <p:txBody>
          <a:bodyPr/>
          <a:lstStyle/>
          <a:p>
            <a:r>
              <a:rPr lang="en-US" dirty="0"/>
              <a:t>Connections between neurons have associated weights, which are learned during the training process.</a:t>
            </a:r>
          </a:p>
          <a:p>
            <a:r>
              <a:rPr lang="en-US" dirty="0"/>
              <a:t>These weights determine the strength of the connections and play a crucial role in the network's ability to capture patterns in the data. </a:t>
            </a:r>
          </a:p>
          <a:p>
            <a:r>
              <a:rPr lang="en-US" dirty="0"/>
              <a:t>In addition, each neuron, in the hidden and output layers has an associated bias term, which allows for fine-tuning and shifting the activation </a:t>
            </a:r>
            <a:r>
              <a:rPr lang="en-US" dirty="0" err="1"/>
              <a:t>functionʼs</a:t>
            </a:r>
            <a:r>
              <a:rPr lang="en-US" dirty="0"/>
              <a:t> threshold. </a:t>
            </a:r>
          </a:p>
          <a:p>
            <a:r>
              <a:rPr lang="en-US" dirty="0"/>
              <a:t>These weights and biases are parameters that the neural network learns during training.</a:t>
            </a:r>
          </a:p>
          <a:p>
            <a:endParaRPr lang="en-US" dirty="0"/>
          </a:p>
        </p:txBody>
      </p:sp>
    </p:spTree>
    <p:extLst>
      <p:ext uri="{BB962C8B-B14F-4D97-AF65-F5344CB8AC3E}">
        <p14:creationId xmlns:p14="http://schemas.microsoft.com/office/powerpoint/2010/main" val="23684508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10D77-F526-61DB-D3DE-8CCBED0EB086}"/>
              </a:ext>
            </a:extLst>
          </p:cNvPr>
          <p:cNvSpPr>
            <a:spLocks noGrp="1"/>
          </p:cNvSpPr>
          <p:nvPr>
            <p:ph type="title"/>
          </p:nvPr>
        </p:nvSpPr>
        <p:spPr/>
        <p:txBody>
          <a:bodyPr/>
          <a:lstStyle/>
          <a:p>
            <a:r>
              <a:rPr lang="en-US" dirty="0"/>
              <a:t>Hidden Layers</a:t>
            </a:r>
          </a:p>
        </p:txBody>
      </p:sp>
      <p:sp>
        <p:nvSpPr>
          <p:cNvPr id="3" name="Content Placeholder 2">
            <a:extLst>
              <a:ext uri="{FF2B5EF4-FFF2-40B4-BE49-F238E27FC236}">
                <a16:creationId xmlns:a16="http://schemas.microsoft.com/office/drawing/2014/main" id="{3C9AAB9C-670E-8F3B-303A-F5437B7721C0}"/>
              </a:ext>
            </a:extLst>
          </p:cNvPr>
          <p:cNvSpPr>
            <a:spLocks noGrp="1"/>
          </p:cNvSpPr>
          <p:nvPr>
            <p:ph idx="1"/>
          </p:nvPr>
        </p:nvSpPr>
        <p:spPr/>
        <p:txBody>
          <a:bodyPr/>
          <a:lstStyle/>
          <a:p>
            <a:r>
              <a:rPr lang="en-US" dirty="0"/>
              <a:t>After the input layer, there are one or more hidden layers. </a:t>
            </a:r>
          </a:p>
          <a:p>
            <a:r>
              <a:rPr lang="en-US" dirty="0"/>
              <a:t>The neurons in these layers perform computations on the inputs. </a:t>
            </a:r>
          </a:p>
          <a:p>
            <a:r>
              <a:rPr lang="en-US" dirty="0"/>
              <a:t>The output of each neuron is calculated by applying a weighted sum of its inputs (from the previous layer), adding a bias, and then passing this sum through an activation function.</a:t>
            </a:r>
          </a:p>
          <a:p>
            <a:endParaRPr lang="en-US" dirty="0"/>
          </a:p>
          <a:p>
            <a:endParaRPr lang="en-US" dirty="0"/>
          </a:p>
        </p:txBody>
      </p:sp>
    </p:spTree>
    <p:extLst>
      <p:ext uri="{BB962C8B-B14F-4D97-AF65-F5344CB8AC3E}">
        <p14:creationId xmlns:p14="http://schemas.microsoft.com/office/powerpoint/2010/main" val="19206139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37761-34AB-A8A9-C637-BE02BBC7379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20358F2-0815-0942-91B0-9E4C192C8B22}"/>
              </a:ext>
            </a:extLst>
          </p:cNvPr>
          <p:cNvPicPr>
            <a:picLocks noGrp="1" noChangeAspect="1"/>
          </p:cNvPicPr>
          <p:nvPr>
            <p:ph idx="1"/>
          </p:nvPr>
        </p:nvPicPr>
        <p:blipFill>
          <a:blip r:embed="rId2"/>
          <a:stretch>
            <a:fillRect/>
          </a:stretch>
        </p:blipFill>
        <p:spPr>
          <a:xfrm>
            <a:off x="2689280" y="1825625"/>
            <a:ext cx="6813440" cy="4351338"/>
          </a:xfrm>
          <a:prstGeom prst="rect">
            <a:avLst/>
          </a:prstGeom>
        </p:spPr>
      </p:pic>
    </p:spTree>
    <p:extLst>
      <p:ext uri="{BB962C8B-B14F-4D97-AF65-F5344CB8AC3E}">
        <p14:creationId xmlns:p14="http://schemas.microsoft.com/office/powerpoint/2010/main" val="24127390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748EA-8620-EECD-3545-05D8F2F61B34}"/>
              </a:ext>
            </a:extLst>
          </p:cNvPr>
          <p:cNvSpPr>
            <a:spLocks noGrp="1"/>
          </p:cNvSpPr>
          <p:nvPr>
            <p:ph type="title"/>
          </p:nvPr>
        </p:nvSpPr>
        <p:spPr/>
        <p:txBody>
          <a:bodyPr/>
          <a:lstStyle/>
          <a:p>
            <a:r>
              <a:rPr lang="en-US" dirty="0"/>
              <a:t>Activation Function</a:t>
            </a:r>
          </a:p>
        </p:txBody>
      </p:sp>
      <p:sp>
        <p:nvSpPr>
          <p:cNvPr id="3" name="Content Placeholder 2">
            <a:extLst>
              <a:ext uri="{FF2B5EF4-FFF2-40B4-BE49-F238E27FC236}">
                <a16:creationId xmlns:a16="http://schemas.microsoft.com/office/drawing/2014/main" id="{C3E2530A-D8C6-67E8-2F28-0719B175193A}"/>
              </a:ext>
            </a:extLst>
          </p:cNvPr>
          <p:cNvSpPr>
            <a:spLocks noGrp="1"/>
          </p:cNvSpPr>
          <p:nvPr>
            <p:ph idx="1"/>
          </p:nvPr>
        </p:nvSpPr>
        <p:spPr/>
        <p:txBody>
          <a:bodyPr/>
          <a:lstStyle/>
          <a:p>
            <a:r>
              <a:rPr lang="en-US" dirty="0"/>
              <a:t>The activation function is crucial as it introduces non-linearity into the model, </a:t>
            </a:r>
          </a:p>
          <a:p>
            <a:r>
              <a:rPr lang="en-US" dirty="0"/>
              <a:t>allowing it to learn more complex patterns. </a:t>
            </a:r>
          </a:p>
          <a:p>
            <a:r>
              <a:rPr lang="en-US" dirty="0"/>
              <a:t>Common activation functions include sigmoid, tanh, and ReLU (Rectified Linear Unit).</a:t>
            </a:r>
          </a:p>
          <a:p>
            <a:endParaRPr lang="en-US" dirty="0"/>
          </a:p>
        </p:txBody>
      </p:sp>
    </p:spTree>
    <p:extLst>
      <p:ext uri="{BB962C8B-B14F-4D97-AF65-F5344CB8AC3E}">
        <p14:creationId xmlns:p14="http://schemas.microsoft.com/office/powerpoint/2010/main" val="13792198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BE379-C2E0-E929-CC79-20599CF3D33E}"/>
              </a:ext>
            </a:extLst>
          </p:cNvPr>
          <p:cNvSpPr>
            <a:spLocks noGrp="1"/>
          </p:cNvSpPr>
          <p:nvPr>
            <p:ph type="title"/>
          </p:nvPr>
        </p:nvSpPr>
        <p:spPr/>
        <p:txBody>
          <a:bodyPr/>
          <a:lstStyle/>
          <a:p>
            <a:r>
              <a:rPr lang="en-US" dirty="0"/>
              <a:t>Forward Propagation</a:t>
            </a:r>
          </a:p>
        </p:txBody>
      </p:sp>
      <p:sp>
        <p:nvSpPr>
          <p:cNvPr id="3" name="Content Placeholder 2">
            <a:extLst>
              <a:ext uri="{FF2B5EF4-FFF2-40B4-BE49-F238E27FC236}">
                <a16:creationId xmlns:a16="http://schemas.microsoft.com/office/drawing/2014/main" id="{B4DF6638-00E1-94B3-1D68-7E615DCC4A8F}"/>
              </a:ext>
            </a:extLst>
          </p:cNvPr>
          <p:cNvSpPr>
            <a:spLocks noGrp="1"/>
          </p:cNvSpPr>
          <p:nvPr>
            <p:ph idx="1"/>
          </p:nvPr>
        </p:nvSpPr>
        <p:spPr/>
        <p:txBody>
          <a:bodyPr/>
          <a:lstStyle/>
          <a:p>
            <a:r>
              <a:rPr lang="en-US" dirty="0"/>
              <a:t>The process from the input layer through the hidden layers to the output layer is called forward propagation. </a:t>
            </a:r>
          </a:p>
          <a:p>
            <a:r>
              <a:rPr lang="en-US" dirty="0"/>
              <a:t>In each layer, the aforementioned steps (weighted sum, bias addition, activation function) are applied to compute the layer’s output. </a:t>
            </a:r>
          </a:p>
          <a:p>
            <a:r>
              <a:rPr lang="en-US" dirty="0"/>
              <a:t>In an MLP, information flows in one direction, from the input layer through the hidden layers to the output layer. </a:t>
            </a:r>
          </a:p>
          <a:p>
            <a:r>
              <a:rPr lang="en-US" dirty="0"/>
              <a:t>There are no feedback loops or recurrent connections, hence the name feedforward architecture.</a:t>
            </a:r>
          </a:p>
          <a:p>
            <a:endParaRPr lang="en-US" dirty="0"/>
          </a:p>
        </p:txBody>
      </p:sp>
    </p:spTree>
    <p:extLst>
      <p:ext uri="{BB962C8B-B14F-4D97-AF65-F5344CB8AC3E}">
        <p14:creationId xmlns:p14="http://schemas.microsoft.com/office/powerpoint/2010/main" val="31448508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D559B-449D-9899-850F-3B6E1FA3FDAE}"/>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6F4FDB09-2FFD-002A-5586-AD27E4C8E71E}"/>
              </a:ext>
            </a:extLst>
          </p:cNvPr>
          <p:cNvPicPr>
            <a:picLocks noGrp="1" noChangeAspect="1"/>
          </p:cNvPicPr>
          <p:nvPr>
            <p:ph idx="1"/>
          </p:nvPr>
        </p:nvPicPr>
        <p:blipFill>
          <a:blip r:embed="rId2"/>
          <a:stretch>
            <a:fillRect/>
          </a:stretch>
        </p:blipFill>
        <p:spPr>
          <a:xfrm>
            <a:off x="1397286" y="1825625"/>
            <a:ext cx="9397428" cy="4351338"/>
          </a:xfrm>
          <a:prstGeom prst="rect">
            <a:avLst/>
          </a:prstGeom>
        </p:spPr>
      </p:pic>
    </p:spTree>
    <p:extLst>
      <p:ext uri="{BB962C8B-B14F-4D97-AF65-F5344CB8AC3E}">
        <p14:creationId xmlns:p14="http://schemas.microsoft.com/office/powerpoint/2010/main" val="6572086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9F33-5E10-BC76-5E3A-ECC09ACF98C7}"/>
              </a:ext>
            </a:extLst>
          </p:cNvPr>
          <p:cNvSpPr>
            <a:spLocks noGrp="1"/>
          </p:cNvSpPr>
          <p:nvPr>
            <p:ph type="title"/>
          </p:nvPr>
        </p:nvSpPr>
        <p:spPr/>
        <p:txBody>
          <a:bodyPr/>
          <a:lstStyle/>
          <a:p>
            <a:r>
              <a:rPr lang="en-US" dirty="0"/>
              <a:t>Output Layer</a:t>
            </a:r>
          </a:p>
        </p:txBody>
      </p:sp>
      <p:sp>
        <p:nvSpPr>
          <p:cNvPr id="3" name="Content Placeholder 2">
            <a:extLst>
              <a:ext uri="{FF2B5EF4-FFF2-40B4-BE49-F238E27FC236}">
                <a16:creationId xmlns:a16="http://schemas.microsoft.com/office/drawing/2014/main" id="{8EF97C5A-AEC8-86DB-BB8E-FD62E383DE0A}"/>
              </a:ext>
            </a:extLst>
          </p:cNvPr>
          <p:cNvSpPr>
            <a:spLocks noGrp="1"/>
          </p:cNvSpPr>
          <p:nvPr>
            <p:ph idx="1"/>
          </p:nvPr>
        </p:nvSpPr>
        <p:spPr/>
        <p:txBody>
          <a:bodyPr/>
          <a:lstStyle/>
          <a:p>
            <a:r>
              <a:rPr lang="en-US" dirty="0"/>
              <a:t>The final layer is the output layer. </a:t>
            </a:r>
          </a:p>
          <a:p>
            <a:r>
              <a:rPr lang="en-US" dirty="0"/>
              <a:t>In a classification task, this layer often uses a </a:t>
            </a:r>
            <a:r>
              <a:rPr lang="en-US" dirty="0" err="1"/>
              <a:t>softmax</a:t>
            </a:r>
            <a:r>
              <a:rPr lang="en-US" dirty="0"/>
              <a:t> function if the task is multi-class classification, or a sigmoid function for binary classification. </a:t>
            </a:r>
          </a:p>
          <a:p>
            <a:r>
              <a:rPr lang="en-US" dirty="0"/>
              <a:t>For regression tasks, no activation function might be applied in the output layer.</a:t>
            </a:r>
          </a:p>
          <a:p>
            <a:endParaRPr lang="en-US" dirty="0"/>
          </a:p>
          <a:p>
            <a:endParaRPr lang="en-US" dirty="0"/>
          </a:p>
        </p:txBody>
      </p:sp>
    </p:spTree>
    <p:extLst>
      <p:ext uri="{BB962C8B-B14F-4D97-AF65-F5344CB8AC3E}">
        <p14:creationId xmlns:p14="http://schemas.microsoft.com/office/powerpoint/2010/main" val="24316545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6B92B-D788-9A2B-0EC5-811D504E7BD3}"/>
              </a:ext>
            </a:extLst>
          </p:cNvPr>
          <p:cNvSpPr>
            <a:spLocks noGrp="1"/>
          </p:cNvSpPr>
          <p:nvPr>
            <p:ph type="title"/>
          </p:nvPr>
        </p:nvSpPr>
        <p:spPr/>
        <p:txBody>
          <a:bodyPr/>
          <a:lstStyle/>
          <a:p>
            <a:r>
              <a:rPr lang="en-US" dirty="0"/>
              <a:t>Backpropagation and Learning</a:t>
            </a:r>
          </a:p>
        </p:txBody>
      </p:sp>
      <p:sp>
        <p:nvSpPr>
          <p:cNvPr id="3" name="Content Placeholder 2">
            <a:extLst>
              <a:ext uri="{FF2B5EF4-FFF2-40B4-BE49-F238E27FC236}">
                <a16:creationId xmlns:a16="http://schemas.microsoft.com/office/drawing/2014/main" id="{BD66B481-E6CA-33C0-54A9-ECB9A15AF9C7}"/>
              </a:ext>
            </a:extLst>
          </p:cNvPr>
          <p:cNvSpPr>
            <a:spLocks noGrp="1"/>
          </p:cNvSpPr>
          <p:nvPr>
            <p:ph idx="1"/>
          </p:nvPr>
        </p:nvSpPr>
        <p:spPr/>
        <p:txBody>
          <a:bodyPr/>
          <a:lstStyle/>
          <a:p>
            <a:r>
              <a:rPr lang="en-US" dirty="0"/>
              <a:t> Once a forward pass through the network is completed, the output is compared to the true value to calculate the error. </a:t>
            </a:r>
          </a:p>
          <a:p>
            <a:r>
              <a:rPr lang="en-US" dirty="0"/>
              <a:t>The error is then propagated back through the network (backpropagation), adjusting the weights and biases to minimize the error. </a:t>
            </a:r>
          </a:p>
          <a:p>
            <a:r>
              <a:rPr lang="en-US" dirty="0"/>
              <a:t>Backpropagation is typically done using optimization algorithms, such as stochastic gradient descent (SGD) and its variants.</a:t>
            </a:r>
          </a:p>
          <a:p>
            <a:endParaRPr lang="en-US" dirty="0"/>
          </a:p>
        </p:txBody>
      </p:sp>
    </p:spTree>
    <p:extLst>
      <p:ext uri="{BB962C8B-B14F-4D97-AF65-F5344CB8AC3E}">
        <p14:creationId xmlns:p14="http://schemas.microsoft.com/office/powerpoint/2010/main" val="27542556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8AC72-868A-08B6-BC3B-AD374E551D47}"/>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D083F0B0-3FE0-33C7-A0C7-187480519A0D}"/>
              </a:ext>
            </a:extLst>
          </p:cNvPr>
          <p:cNvPicPr>
            <a:picLocks noGrp="1" noChangeAspect="1"/>
          </p:cNvPicPr>
          <p:nvPr>
            <p:ph idx="1"/>
          </p:nvPr>
        </p:nvPicPr>
        <p:blipFill>
          <a:blip r:embed="rId2"/>
          <a:stretch>
            <a:fillRect/>
          </a:stretch>
        </p:blipFill>
        <p:spPr>
          <a:xfrm>
            <a:off x="3262145" y="1825625"/>
            <a:ext cx="5667709" cy="4351338"/>
          </a:xfrm>
          <a:prstGeom prst="rect">
            <a:avLst/>
          </a:prstGeom>
        </p:spPr>
      </p:pic>
    </p:spTree>
    <p:extLst>
      <p:ext uri="{BB962C8B-B14F-4D97-AF65-F5344CB8AC3E}">
        <p14:creationId xmlns:p14="http://schemas.microsoft.com/office/powerpoint/2010/main" val="40541777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D5D6A-7B68-442C-630F-29B8AA855CD8}"/>
              </a:ext>
            </a:extLst>
          </p:cNvPr>
          <p:cNvSpPr>
            <a:spLocks noGrp="1"/>
          </p:cNvSpPr>
          <p:nvPr>
            <p:ph type="title"/>
          </p:nvPr>
        </p:nvSpPr>
        <p:spPr/>
        <p:txBody>
          <a:bodyPr/>
          <a:lstStyle/>
          <a:p>
            <a:r>
              <a:rPr lang="en-US" dirty="0"/>
              <a:t>Iteration and Convergence</a:t>
            </a:r>
          </a:p>
        </p:txBody>
      </p:sp>
      <p:sp>
        <p:nvSpPr>
          <p:cNvPr id="3" name="Content Placeholder 2">
            <a:extLst>
              <a:ext uri="{FF2B5EF4-FFF2-40B4-BE49-F238E27FC236}">
                <a16:creationId xmlns:a16="http://schemas.microsoft.com/office/drawing/2014/main" id="{45FA3A91-27D9-6D88-3751-6BEF52158755}"/>
              </a:ext>
            </a:extLst>
          </p:cNvPr>
          <p:cNvSpPr>
            <a:spLocks noGrp="1"/>
          </p:cNvSpPr>
          <p:nvPr>
            <p:ph idx="1"/>
          </p:nvPr>
        </p:nvSpPr>
        <p:spPr/>
        <p:txBody>
          <a:bodyPr/>
          <a:lstStyle/>
          <a:p>
            <a:r>
              <a:rPr lang="en-US" dirty="0"/>
              <a:t>The process of forward propagation, error calculation, backpropagation, and parameter update is repeated for many iterations over the training data. </a:t>
            </a:r>
          </a:p>
          <a:p>
            <a:r>
              <a:rPr lang="en-US" dirty="0"/>
              <a:t>Gradually, the network learns to reduce the error, and the weights and biases converge to values that make the network capable of making accurate predictions or approximations.</a:t>
            </a:r>
          </a:p>
          <a:p>
            <a:endParaRPr lang="en-US" dirty="0"/>
          </a:p>
        </p:txBody>
      </p:sp>
    </p:spTree>
    <p:extLst>
      <p:ext uri="{BB962C8B-B14F-4D97-AF65-F5344CB8AC3E}">
        <p14:creationId xmlns:p14="http://schemas.microsoft.com/office/powerpoint/2010/main" val="15628852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89C21-A00E-6221-45AF-B9B3C03E6B38}"/>
              </a:ext>
            </a:extLst>
          </p:cNvPr>
          <p:cNvSpPr>
            <a:spLocks noGrp="1"/>
          </p:cNvSpPr>
          <p:nvPr>
            <p:ph type="title"/>
          </p:nvPr>
        </p:nvSpPr>
        <p:spPr/>
        <p:txBody>
          <a:bodyPr/>
          <a:lstStyle/>
          <a:p>
            <a:r>
              <a:rPr lang="en-US" dirty="0"/>
              <a:t>Applications of MLP</a:t>
            </a:r>
          </a:p>
        </p:txBody>
      </p:sp>
      <p:sp>
        <p:nvSpPr>
          <p:cNvPr id="3" name="Content Placeholder 2">
            <a:extLst>
              <a:ext uri="{FF2B5EF4-FFF2-40B4-BE49-F238E27FC236}">
                <a16:creationId xmlns:a16="http://schemas.microsoft.com/office/drawing/2014/main" id="{8D929602-80EE-B029-9838-E59A09DBACBE}"/>
              </a:ext>
            </a:extLst>
          </p:cNvPr>
          <p:cNvSpPr>
            <a:spLocks noGrp="1"/>
          </p:cNvSpPr>
          <p:nvPr>
            <p:ph idx="1"/>
          </p:nvPr>
        </p:nvSpPr>
        <p:spPr/>
        <p:txBody>
          <a:bodyPr/>
          <a:lstStyle/>
          <a:p>
            <a:r>
              <a:rPr lang="en-US" dirty="0"/>
              <a:t>Classification</a:t>
            </a:r>
          </a:p>
          <a:p>
            <a:r>
              <a:rPr lang="en-US" dirty="0"/>
              <a:t>Regression</a:t>
            </a:r>
          </a:p>
          <a:p>
            <a:r>
              <a:rPr lang="en-US" dirty="0"/>
              <a:t>NLP Tasks</a:t>
            </a:r>
          </a:p>
          <a:p>
            <a:r>
              <a:rPr lang="en-US" dirty="0"/>
              <a:t>Anomaly Detection</a:t>
            </a:r>
          </a:p>
          <a:p>
            <a:r>
              <a:rPr lang="en-US" dirty="0"/>
              <a:t>Speech Recognition</a:t>
            </a:r>
          </a:p>
          <a:p>
            <a:r>
              <a:rPr lang="en-US" dirty="0"/>
              <a:t>Computer Vision</a:t>
            </a:r>
          </a:p>
          <a:p>
            <a:r>
              <a:rPr lang="en-US" dirty="0"/>
              <a:t>Data Analytics</a:t>
            </a:r>
          </a:p>
          <a:p>
            <a:endParaRPr lang="en-US" dirty="0"/>
          </a:p>
        </p:txBody>
      </p:sp>
    </p:spTree>
    <p:extLst>
      <p:ext uri="{BB962C8B-B14F-4D97-AF65-F5344CB8AC3E}">
        <p14:creationId xmlns:p14="http://schemas.microsoft.com/office/powerpoint/2010/main" val="31887897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0AA85-DBDE-1C6C-335F-444D0942093A}"/>
              </a:ext>
            </a:extLst>
          </p:cNvPr>
          <p:cNvSpPr>
            <a:spLocks noGrp="1"/>
          </p:cNvSpPr>
          <p:nvPr>
            <p:ph type="title"/>
          </p:nvPr>
        </p:nvSpPr>
        <p:spPr/>
        <p:txBody>
          <a:bodyPr/>
          <a:lstStyle/>
          <a:p>
            <a:r>
              <a:rPr lang="en-US" dirty="0"/>
              <a:t>Source</a:t>
            </a:r>
          </a:p>
        </p:txBody>
      </p:sp>
      <p:sp>
        <p:nvSpPr>
          <p:cNvPr id="3" name="Content Placeholder 2">
            <a:extLst>
              <a:ext uri="{FF2B5EF4-FFF2-40B4-BE49-F238E27FC236}">
                <a16:creationId xmlns:a16="http://schemas.microsoft.com/office/drawing/2014/main" id="{FF722CF5-D2F3-1CF3-1FDE-B62A6A18288E}"/>
              </a:ext>
            </a:extLst>
          </p:cNvPr>
          <p:cNvSpPr>
            <a:spLocks noGrp="1"/>
          </p:cNvSpPr>
          <p:nvPr>
            <p:ph idx="1"/>
          </p:nvPr>
        </p:nvSpPr>
        <p:spPr/>
        <p:txBody>
          <a:bodyPr/>
          <a:lstStyle/>
          <a:p>
            <a:r>
              <a:rPr lang="en-US" dirty="0"/>
              <a:t>https://aiml.com/what-is-a-multilayer-perceptron-mlp/</a:t>
            </a:r>
          </a:p>
        </p:txBody>
      </p:sp>
    </p:spTree>
    <p:extLst>
      <p:ext uri="{BB962C8B-B14F-4D97-AF65-F5344CB8AC3E}">
        <p14:creationId xmlns:p14="http://schemas.microsoft.com/office/powerpoint/2010/main" val="29195440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07D34-F463-D03E-8206-0786AB4B300A}"/>
              </a:ext>
            </a:extLst>
          </p:cNvPr>
          <p:cNvSpPr>
            <a:spLocks noGrp="1"/>
          </p:cNvSpPr>
          <p:nvPr>
            <p:ph type="title"/>
          </p:nvPr>
        </p:nvSpPr>
        <p:spPr/>
        <p:txBody>
          <a:bodyPr/>
          <a:lstStyle/>
          <a:p>
            <a:r>
              <a:rPr lang="en-US" dirty="0"/>
              <a:t>What are outlier?</a:t>
            </a:r>
          </a:p>
        </p:txBody>
      </p:sp>
      <p:sp>
        <p:nvSpPr>
          <p:cNvPr id="3" name="Content Placeholder 2">
            <a:extLst>
              <a:ext uri="{FF2B5EF4-FFF2-40B4-BE49-F238E27FC236}">
                <a16:creationId xmlns:a16="http://schemas.microsoft.com/office/drawing/2014/main" id="{65D20D1F-10CD-9DB8-A0EA-884699394F61}"/>
              </a:ext>
            </a:extLst>
          </p:cNvPr>
          <p:cNvSpPr>
            <a:spLocks noGrp="1"/>
          </p:cNvSpPr>
          <p:nvPr>
            <p:ph idx="1"/>
          </p:nvPr>
        </p:nvSpPr>
        <p:spPr/>
        <p:txBody>
          <a:bodyPr/>
          <a:lstStyle/>
          <a:p>
            <a:r>
              <a:rPr lang="en-US" dirty="0"/>
              <a:t>Outliers are data points that significantly differ from other observations in a dataset, appearing as unusually high or low values that don't follow the general pattern</a:t>
            </a:r>
          </a:p>
          <a:p>
            <a:endParaRPr lang="en-US" dirty="0"/>
          </a:p>
        </p:txBody>
      </p:sp>
      <p:pic>
        <p:nvPicPr>
          <p:cNvPr id="4" name="Picture 3">
            <a:extLst>
              <a:ext uri="{FF2B5EF4-FFF2-40B4-BE49-F238E27FC236}">
                <a16:creationId xmlns:a16="http://schemas.microsoft.com/office/drawing/2014/main" id="{624C5774-69ED-8163-24C0-64436EFEA28D}"/>
              </a:ext>
            </a:extLst>
          </p:cNvPr>
          <p:cNvPicPr>
            <a:picLocks noChangeAspect="1"/>
          </p:cNvPicPr>
          <p:nvPr/>
        </p:nvPicPr>
        <p:blipFill>
          <a:blip r:embed="rId2"/>
          <a:stretch>
            <a:fillRect/>
          </a:stretch>
        </p:blipFill>
        <p:spPr>
          <a:xfrm>
            <a:off x="4666364" y="3429000"/>
            <a:ext cx="2859272" cy="2334970"/>
          </a:xfrm>
          <a:prstGeom prst="rect">
            <a:avLst/>
          </a:prstGeom>
        </p:spPr>
      </p:pic>
    </p:spTree>
    <p:extLst>
      <p:ext uri="{BB962C8B-B14F-4D97-AF65-F5344CB8AC3E}">
        <p14:creationId xmlns:p14="http://schemas.microsoft.com/office/powerpoint/2010/main" val="305065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F4FA0-EBCF-C014-B830-69DB2CDD8C66}"/>
              </a:ext>
            </a:extLst>
          </p:cNvPr>
          <p:cNvSpPr>
            <a:spLocks noGrp="1"/>
          </p:cNvSpPr>
          <p:nvPr>
            <p:ph type="title"/>
          </p:nvPr>
        </p:nvSpPr>
        <p:spPr/>
        <p:txBody>
          <a:bodyPr/>
          <a:lstStyle/>
          <a:p>
            <a:r>
              <a:rPr lang="en-US" dirty="0"/>
              <a:t>What are outlier?</a:t>
            </a:r>
          </a:p>
        </p:txBody>
      </p:sp>
      <p:sp>
        <p:nvSpPr>
          <p:cNvPr id="3" name="Content Placeholder 2">
            <a:extLst>
              <a:ext uri="{FF2B5EF4-FFF2-40B4-BE49-F238E27FC236}">
                <a16:creationId xmlns:a16="http://schemas.microsoft.com/office/drawing/2014/main" id="{9F376B01-0595-159B-D0FA-A26DA202838A}"/>
              </a:ext>
            </a:extLst>
          </p:cNvPr>
          <p:cNvSpPr>
            <a:spLocks noGrp="1"/>
          </p:cNvSpPr>
          <p:nvPr>
            <p:ph idx="1"/>
          </p:nvPr>
        </p:nvSpPr>
        <p:spPr/>
        <p:txBody>
          <a:bodyPr>
            <a:normAutofit lnSpcReduction="10000"/>
          </a:bodyPr>
          <a:lstStyle/>
          <a:p>
            <a:r>
              <a:rPr lang="en-US" dirty="0"/>
              <a:t>They can be caused by measurement or execution errors</a:t>
            </a:r>
          </a:p>
          <a:p>
            <a:r>
              <a:rPr lang="en-US" dirty="0"/>
              <a:t>Outlier analysis or outlier mining</a:t>
            </a:r>
          </a:p>
          <a:p>
            <a:r>
              <a:rPr lang="en-US" dirty="0"/>
              <a:t>An outlier cannot be termed as a noise or error.</a:t>
            </a:r>
          </a:p>
          <a:p>
            <a:r>
              <a:rPr lang="en-US" dirty="0"/>
              <a:t>Outliers can skew results, but they can also highlight fraud (finance), critical patient conditions (healthcare), or new discoveries. </a:t>
            </a:r>
          </a:p>
          <a:p>
            <a:r>
              <a:rPr lang="en-US" dirty="0"/>
              <a:t>IQR Method: Points beyond \(Q3+1.5\times IQR\) or \(Q1-1.5\times IQR\) are outliers.</a:t>
            </a:r>
          </a:p>
          <a:p>
            <a:r>
              <a:rPr lang="en-US" dirty="0"/>
              <a:t>Z-Score: Points far from the mean (e.g., &gt;3 or &lt; -3 standard deviations). </a:t>
            </a:r>
          </a:p>
          <a:p>
            <a:endParaRPr lang="en-US" dirty="0"/>
          </a:p>
        </p:txBody>
      </p:sp>
    </p:spTree>
    <p:extLst>
      <p:ext uri="{BB962C8B-B14F-4D97-AF65-F5344CB8AC3E}">
        <p14:creationId xmlns:p14="http://schemas.microsoft.com/office/powerpoint/2010/main" val="22050115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CB35D-25CD-2D9F-3EA8-D3F9D464C661}"/>
              </a:ext>
            </a:extLst>
          </p:cNvPr>
          <p:cNvSpPr>
            <a:spLocks noGrp="1"/>
          </p:cNvSpPr>
          <p:nvPr>
            <p:ph type="title"/>
          </p:nvPr>
        </p:nvSpPr>
        <p:spPr/>
        <p:txBody>
          <a:bodyPr/>
          <a:lstStyle/>
          <a:p>
            <a:r>
              <a:rPr lang="en-US" dirty="0"/>
              <a:t>Why Outliers Occur?</a:t>
            </a:r>
          </a:p>
        </p:txBody>
      </p:sp>
      <p:sp>
        <p:nvSpPr>
          <p:cNvPr id="3" name="Content Placeholder 2">
            <a:extLst>
              <a:ext uri="{FF2B5EF4-FFF2-40B4-BE49-F238E27FC236}">
                <a16:creationId xmlns:a16="http://schemas.microsoft.com/office/drawing/2014/main" id="{92B6DCAB-9C0A-D6CF-34E9-B4D79F509027}"/>
              </a:ext>
            </a:extLst>
          </p:cNvPr>
          <p:cNvSpPr>
            <a:spLocks noGrp="1"/>
          </p:cNvSpPr>
          <p:nvPr>
            <p:ph idx="1"/>
          </p:nvPr>
        </p:nvSpPr>
        <p:spPr/>
        <p:txBody>
          <a:bodyPr/>
          <a:lstStyle/>
          <a:p>
            <a:r>
              <a:rPr lang="en-US" dirty="0"/>
              <a:t>Data Entry Errors</a:t>
            </a:r>
          </a:p>
          <a:p>
            <a:r>
              <a:rPr lang="en-US" dirty="0"/>
              <a:t>Measurement Errors</a:t>
            </a:r>
          </a:p>
          <a:p>
            <a:r>
              <a:rPr lang="en-US" dirty="0"/>
              <a:t>Experimental Errors</a:t>
            </a:r>
          </a:p>
          <a:p>
            <a:r>
              <a:rPr lang="en-US" dirty="0"/>
              <a:t>Intentional Outliers</a:t>
            </a:r>
          </a:p>
          <a:p>
            <a:r>
              <a:rPr lang="en-US" dirty="0"/>
              <a:t>Data Processing Errors</a:t>
            </a:r>
          </a:p>
          <a:p>
            <a:r>
              <a:rPr lang="en-US" dirty="0"/>
              <a:t>Natural Variation</a:t>
            </a:r>
          </a:p>
          <a:p>
            <a:endParaRPr lang="en-US" dirty="0"/>
          </a:p>
        </p:txBody>
      </p:sp>
    </p:spTree>
    <p:extLst>
      <p:ext uri="{BB962C8B-B14F-4D97-AF65-F5344CB8AC3E}">
        <p14:creationId xmlns:p14="http://schemas.microsoft.com/office/powerpoint/2010/main" val="2505905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D3690-3037-8F39-52FC-6D412578BBFC}"/>
              </a:ext>
            </a:extLst>
          </p:cNvPr>
          <p:cNvSpPr>
            <a:spLocks noGrp="1"/>
          </p:cNvSpPr>
          <p:nvPr>
            <p:ph type="title"/>
          </p:nvPr>
        </p:nvSpPr>
        <p:spPr/>
        <p:txBody>
          <a:bodyPr/>
          <a:lstStyle/>
          <a:p>
            <a:r>
              <a:rPr lang="en-US" dirty="0"/>
              <a:t>Why Removing Outliers is Necessary?</a:t>
            </a:r>
          </a:p>
        </p:txBody>
      </p:sp>
      <p:sp>
        <p:nvSpPr>
          <p:cNvPr id="3" name="Content Placeholder 2">
            <a:extLst>
              <a:ext uri="{FF2B5EF4-FFF2-40B4-BE49-F238E27FC236}">
                <a16:creationId xmlns:a16="http://schemas.microsoft.com/office/drawing/2014/main" id="{5A1112F2-0F70-03F2-4EFA-A0532CA25CB9}"/>
              </a:ext>
            </a:extLst>
          </p:cNvPr>
          <p:cNvSpPr>
            <a:spLocks noGrp="1"/>
          </p:cNvSpPr>
          <p:nvPr>
            <p:ph idx="1"/>
          </p:nvPr>
        </p:nvSpPr>
        <p:spPr/>
        <p:txBody>
          <a:bodyPr/>
          <a:lstStyle/>
          <a:p>
            <a:r>
              <a:rPr lang="en-US" dirty="0"/>
              <a:t>Impact On Analysis</a:t>
            </a:r>
          </a:p>
          <a:p>
            <a:r>
              <a:rPr lang="en-US" dirty="0"/>
              <a:t>Outliers can heavily distort statistical measures like the mean, variance and correlation leading to biased or misleading results.</a:t>
            </a:r>
          </a:p>
          <a:p>
            <a:r>
              <a:rPr lang="en-US" dirty="0"/>
              <a:t>Removing extreme values helps the analysis represent the central trend and typical behavior of the dataset more accurately.</a:t>
            </a:r>
          </a:p>
          <a:p>
            <a:endParaRPr lang="en-US" dirty="0"/>
          </a:p>
        </p:txBody>
      </p:sp>
    </p:spTree>
    <p:extLst>
      <p:ext uri="{BB962C8B-B14F-4D97-AF65-F5344CB8AC3E}">
        <p14:creationId xmlns:p14="http://schemas.microsoft.com/office/powerpoint/2010/main" val="3818639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3D841-379C-90FD-0148-7F95A9B4DF14}"/>
              </a:ext>
            </a:extLst>
          </p:cNvPr>
          <p:cNvSpPr>
            <a:spLocks noGrp="1"/>
          </p:cNvSpPr>
          <p:nvPr>
            <p:ph type="title"/>
          </p:nvPr>
        </p:nvSpPr>
        <p:spPr/>
        <p:txBody>
          <a:bodyPr/>
          <a:lstStyle/>
          <a:p>
            <a:r>
              <a:rPr lang="en-US" dirty="0"/>
              <a:t>Why Removing Outliers Is Necessary?</a:t>
            </a:r>
          </a:p>
        </p:txBody>
      </p:sp>
      <p:sp>
        <p:nvSpPr>
          <p:cNvPr id="3" name="Content Placeholder 2">
            <a:extLst>
              <a:ext uri="{FF2B5EF4-FFF2-40B4-BE49-F238E27FC236}">
                <a16:creationId xmlns:a16="http://schemas.microsoft.com/office/drawing/2014/main" id="{64AD1BD8-C72C-E6EC-FF3B-E0BC0B5B196F}"/>
              </a:ext>
            </a:extLst>
          </p:cNvPr>
          <p:cNvSpPr>
            <a:spLocks noGrp="1"/>
          </p:cNvSpPr>
          <p:nvPr>
            <p:ph idx="1"/>
          </p:nvPr>
        </p:nvSpPr>
        <p:spPr/>
        <p:txBody>
          <a:bodyPr/>
          <a:lstStyle/>
          <a:p>
            <a:r>
              <a:rPr lang="en-US" dirty="0"/>
              <a:t>Statistical Validity</a:t>
            </a:r>
          </a:p>
          <a:p>
            <a:r>
              <a:rPr lang="en-US" dirty="0"/>
              <a:t>Outliers can weaken the reliability of hypothesis testing and reduce the performance of predictive models.</a:t>
            </a:r>
          </a:p>
          <a:p>
            <a:r>
              <a:rPr lang="en-US" dirty="0"/>
              <a:t>Proper handling of outliers improves model stability, accuracy and the trustworthiness of statistical conclusions.</a:t>
            </a:r>
          </a:p>
          <a:p>
            <a:endParaRPr lang="en-US" dirty="0"/>
          </a:p>
        </p:txBody>
      </p:sp>
    </p:spTree>
    <p:extLst>
      <p:ext uri="{BB962C8B-B14F-4D97-AF65-F5344CB8AC3E}">
        <p14:creationId xmlns:p14="http://schemas.microsoft.com/office/powerpoint/2010/main" val="26236640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29174-17F3-4225-E0CD-A3CBFB465FA0}"/>
              </a:ext>
            </a:extLst>
          </p:cNvPr>
          <p:cNvSpPr>
            <a:spLocks noGrp="1"/>
          </p:cNvSpPr>
          <p:nvPr>
            <p:ph type="title"/>
          </p:nvPr>
        </p:nvSpPr>
        <p:spPr/>
        <p:txBody>
          <a:bodyPr/>
          <a:lstStyle/>
          <a:p>
            <a:r>
              <a:rPr lang="en-US" dirty="0"/>
              <a:t>Why Removing Outliers Is Necessary?</a:t>
            </a:r>
          </a:p>
        </p:txBody>
      </p:sp>
      <p:sp>
        <p:nvSpPr>
          <p:cNvPr id="3" name="Content Placeholder 2">
            <a:extLst>
              <a:ext uri="{FF2B5EF4-FFF2-40B4-BE49-F238E27FC236}">
                <a16:creationId xmlns:a16="http://schemas.microsoft.com/office/drawing/2014/main" id="{EEE2542F-241D-EE1E-142C-862699DCB589}"/>
              </a:ext>
            </a:extLst>
          </p:cNvPr>
          <p:cNvSpPr>
            <a:spLocks noGrp="1"/>
          </p:cNvSpPr>
          <p:nvPr>
            <p:ph idx="1"/>
          </p:nvPr>
        </p:nvSpPr>
        <p:spPr/>
        <p:txBody>
          <a:bodyPr/>
          <a:lstStyle/>
          <a:p>
            <a:r>
              <a:rPr lang="en-US" dirty="0"/>
              <a:t>Model Performance and Interpretability</a:t>
            </a:r>
          </a:p>
          <a:p>
            <a:r>
              <a:rPr lang="en-US" dirty="0"/>
              <a:t>Outliers may cause machine learning models to overfit or learn incorrect patterns from rare extreme values.</a:t>
            </a:r>
          </a:p>
          <a:p>
            <a:r>
              <a:rPr lang="en-US" dirty="0"/>
              <a:t>Eliminating irrelevant outliers makes models easier to interpret and enhances their generalization to new data.</a:t>
            </a:r>
          </a:p>
          <a:p>
            <a:endParaRPr lang="en-US" dirty="0"/>
          </a:p>
        </p:txBody>
      </p:sp>
    </p:spTree>
    <p:extLst>
      <p:ext uri="{BB962C8B-B14F-4D97-AF65-F5344CB8AC3E}">
        <p14:creationId xmlns:p14="http://schemas.microsoft.com/office/powerpoint/2010/main" val="9845789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8A6D8-29CA-8A9A-232D-BC1149CA6B65}"/>
              </a:ext>
            </a:extLst>
          </p:cNvPr>
          <p:cNvSpPr>
            <a:spLocks noGrp="1"/>
          </p:cNvSpPr>
          <p:nvPr>
            <p:ph type="title"/>
          </p:nvPr>
        </p:nvSpPr>
        <p:spPr/>
        <p:txBody>
          <a:bodyPr/>
          <a:lstStyle/>
          <a:p>
            <a:r>
              <a:rPr lang="en-US" dirty="0"/>
              <a:t>Outliers Identification using Statistical Methods</a:t>
            </a:r>
          </a:p>
        </p:txBody>
      </p:sp>
      <p:sp>
        <p:nvSpPr>
          <p:cNvPr id="3" name="Content Placeholder 2">
            <a:extLst>
              <a:ext uri="{FF2B5EF4-FFF2-40B4-BE49-F238E27FC236}">
                <a16:creationId xmlns:a16="http://schemas.microsoft.com/office/drawing/2014/main" id="{A84C5435-B335-4021-52D9-B91545B7AFE9}"/>
              </a:ext>
            </a:extLst>
          </p:cNvPr>
          <p:cNvSpPr>
            <a:spLocks noGrp="1"/>
          </p:cNvSpPr>
          <p:nvPr>
            <p:ph idx="1"/>
          </p:nvPr>
        </p:nvSpPr>
        <p:spPr/>
        <p:txBody>
          <a:bodyPr/>
          <a:lstStyle/>
          <a:p>
            <a:r>
              <a:rPr lang="en-US" dirty="0"/>
              <a:t>Statistical methods identify outliers by measuring how far data points deviate from the overall distribution using mathematical thresholds.</a:t>
            </a:r>
          </a:p>
          <a:p>
            <a:endParaRPr lang="en-US" dirty="0"/>
          </a:p>
        </p:txBody>
      </p:sp>
    </p:spTree>
    <p:extLst>
      <p:ext uri="{BB962C8B-B14F-4D97-AF65-F5344CB8AC3E}">
        <p14:creationId xmlns:p14="http://schemas.microsoft.com/office/powerpoint/2010/main" val="17954221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A11DD-FBC9-588A-5201-FF0D629DBD62}"/>
              </a:ext>
            </a:extLst>
          </p:cNvPr>
          <p:cNvSpPr>
            <a:spLocks noGrp="1"/>
          </p:cNvSpPr>
          <p:nvPr>
            <p:ph type="title"/>
          </p:nvPr>
        </p:nvSpPr>
        <p:spPr/>
        <p:txBody>
          <a:bodyPr/>
          <a:lstStyle/>
          <a:p>
            <a:r>
              <a:rPr lang="en-US" dirty="0"/>
              <a:t>Types of outliers</a:t>
            </a:r>
          </a:p>
        </p:txBody>
      </p:sp>
      <p:sp>
        <p:nvSpPr>
          <p:cNvPr id="3" name="Content Placeholder 2">
            <a:extLst>
              <a:ext uri="{FF2B5EF4-FFF2-40B4-BE49-F238E27FC236}">
                <a16:creationId xmlns:a16="http://schemas.microsoft.com/office/drawing/2014/main" id="{FBE57C86-CE16-E6BC-6062-F8FC46F64DCC}"/>
              </a:ext>
            </a:extLst>
          </p:cNvPr>
          <p:cNvSpPr>
            <a:spLocks noGrp="1"/>
          </p:cNvSpPr>
          <p:nvPr>
            <p:ph idx="1"/>
          </p:nvPr>
        </p:nvSpPr>
        <p:spPr/>
        <p:txBody>
          <a:bodyPr/>
          <a:lstStyle/>
          <a:p>
            <a:pPr marL="514350" indent="-514350">
              <a:buFont typeface="+mj-lt"/>
              <a:buAutoNum type="arabicPeriod"/>
            </a:pPr>
            <a:r>
              <a:rPr lang="en-US" dirty="0"/>
              <a:t>Global (or Point) Outliers</a:t>
            </a:r>
          </a:p>
          <a:p>
            <a:pPr marL="514350" indent="-514350">
              <a:buFont typeface="+mj-lt"/>
              <a:buAutoNum type="arabicPeriod"/>
            </a:pPr>
            <a:r>
              <a:rPr lang="en-US" dirty="0"/>
              <a:t>Collective Outliers</a:t>
            </a:r>
          </a:p>
          <a:p>
            <a:pPr marL="514350" indent="-514350">
              <a:buFont typeface="+mj-lt"/>
              <a:buAutoNum type="arabicPeriod"/>
            </a:pPr>
            <a:r>
              <a:rPr lang="en-US" dirty="0"/>
              <a:t>Contextual (or Conditional) Outliers</a:t>
            </a:r>
          </a:p>
          <a:p>
            <a:pPr marL="514350" indent="-514350">
              <a:buFont typeface="+mj-lt"/>
              <a:buAutoNum type="arabicPeriod"/>
            </a:pPr>
            <a:endParaRPr lang="en-US" dirty="0"/>
          </a:p>
        </p:txBody>
      </p:sp>
    </p:spTree>
    <p:extLst>
      <p:ext uri="{BB962C8B-B14F-4D97-AF65-F5344CB8AC3E}">
        <p14:creationId xmlns:p14="http://schemas.microsoft.com/office/powerpoint/2010/main" val="3122741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781CF-D2E7-2738-777F-F95585CE49F4}"/>
              </a:ext>
            </a:extLst>
          </p:cNvPr>
          <p:cNvSpPr>
            <a:spLocks noGrp="1"/>
          </p:cNvSpPr>
          <p:nvPr>
            <p:ph type="title"/>
          </p:nvPr>
        </p:nvSpPr>
        <p:spPr/>
        <p:txBody>
          <a:bodyPr/>
          <a:lstStyle/>
          <a:p>
            <a:r>
              <a:rPr lang="en-US" dirty="0"/>
              <a:t>What is Global Outliers?</a:t>
            </a:r>
          </a:p>
        </p:txBody>
      </p:sp>
      <p:sp>
        <p:nvSpPr>
          <p:cNvPr id="3" name="Content Placeholder 2">
            <a:extLst>
              <a:ext uri="{FF2B5EF4-FFF2-40B4-BE49-F238E27FC236}">
                <a16:creationId xmlns:a16="http://schemas.microsoft.com/office/drawing/2014/main" id="{03B7ADD3-9E95-4E63-2FFD-90D92D395C37}"/>
              </a:ext>
            </a:extLst>
          </p:cNvPr>
          <p:cNvSpPr>
            <a:spLocks noGrp="1"/>
          </p:cNvSpPr>
          <p:nvPr>
            <p:ph idx="1"/>
          </p:nvPr>
        </p:nvSpPr>
        <p:spPr/>
        <p:txBody>
          <a:bodyPr/>
          <a:lstStyle/>
          <a:p>
            <a:r>
              <a:rPr lang="en-US" dirty="0"/>
              <a:t>Global outliers are data points that deviate significantly from the overall distribution of a dataset.</a:t>
            </a:r>
          </a:p>
          <a:p>
            <a:r>
              <a:rPr lang="en-US" dirty="0"/>
              <a:t>Errors in data collection, measurement errors, or truly unusual events can result in global outliers.</a:t>
            </a:r>
          </a:p>
          <a:p>
            <a:r>
              <a:rPr lang="en-US" dirty="0"/>
              <a:t>Techniques include statistical methods (e.g., z-score, </a:t>
            </a:r>
            <a:r>
              <a:rPr lang="en-US" dirty="0" err="1"/>
              <a:t>Mahalanobis</a:t>
            </a:r>
            <a:r>
              <a:rPr lang="en-US" dirty="0"/>
              <a:t> distance), machine learning algorithms (e.g., isolation forest, one-class SVM), and data visualization techniques.</a:t>
            </a:r>
          </a:p>
          <a:p>
            <a:endParaRPr lang="en-US" dirty="0"/>
          </a:p>
        </p:txBody>
      </p:sp>
      <p:pic>
        <p:nvPicPr>
          <p:cNvPr id="4" name="Picture 2">
            <a:extLst>
              <a:ext uri="{FF2B5EF4-FFF2-40B4-BE49-F238E27FC236}">
                <a16:creationId xmlns:a16="http://schemas.microsoft.com/office/drawing/2014/main" id="{A3D8C59B-5092-AF9D-D5FA-1F21D21FFD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6919" y="4797287"/>
            <a:ext cx="2426066" cy="1981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7900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524EC-B4EF-A1C7-6BC8-F13F895A39F5}"/>
              </a:ext>
            </a:extLst>
          </p:cNvPr>
          <p:cNvSpPr>
            <a:spLocks noGrp="1"/>
          </p:cNvSpPr>
          <p:nvPr>
            <p:ph type="title"/>
          </p:nvPr>
        </p:nvSpPr>
        <p:spPr/>
        <p:txBody>
          <a:bodyPr/>
          <a:lstStyle/>
          <a:p>
            <a:r>
              <a:rPr lang="en-US" dirty="0"/>
              <a:t>Collective Outliers</a:t>
            </a:r>
          </a:p>
        </p:txBody>
      </p:sp>
      <p:sp>
        <p:nvSpPr>
          <p:cNvPr id="3" name="Content Placeholder 2">
            <a:extLst>
              <a:ext uri="{FF2B5EF4-FFF2-40B4-BE49-F238E27FC236}">
                <a16:creationId xmlns:a16="http://schemas.microsoft.com/office/drawing/2014/main" id="{5C98BBA9-9E2D-9E22-68FA-2562AA0AC2B2}"/>
              </a:ext>
            </a:extLst>
          </p:cNvPr>
          <p:cNvSpPr>
            <a:spLocks noGrp="1"/>
          </p:cNvSpPr>
          <p:nvPr>
            <p:ph idx="1"/>
          </p:nvPr>
        </p:nvSpPr>
        <p:spPr/>
        <p:txBody>
          <a:bodyPr/>
          <a:lstStyle/>
          <a:p>
            <a:r>
              <a:rPr lang="en-US" dirty="0"/>
              <a:t>Collective outliers are groups of data points that collectively deviate significantly from the overall distribution of a dataset.</a:t>
            </a:r>
          </a:p>
          <a:p>
            <a:r>
              <a:rPr lang="en-US" dirty="0"/>
              <a:t>Collective outliers may not be outliers when considered individually, but as a group, they exhibit unusual behavior.</a:t>
            </a:r>
          </a:p>
          <a:p>
            <a:r>
              <a:rPr lang="en-US" dirty="0"/>
              <a:t>Techniques for detecting collective outliers include clustering algorithms, density-based methods, and subspace-based approaches</a:t>
            </a:r>
          </a:p>
          <a:p>
            <a:endParaRPr lang="en-US" dirty="0"/>
          </a:p>
        </p:txBody>
      </p:sp>
      <p:pic>
        <p:nvPicPr>
          <p:cNvPr id="4" name="Picture 2">
            <a:extLst>
              <a:ext uri="{FF2B5EF4-FFF2-40B4-BE49-F238E27FC236}">
                <a16:creationId xmlns:a16="http://schemas.microsoft.com/office/drawing/2014/main" id="{649E0542-C0C8-3526-25BE-BF8FF24763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9469" y="4477672"/>
            <a:ext cx="2857500" cy="222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40220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5CE98-37E7-95C8-311E-2AB04630E09B}"/>
              </a:ext>
            </a:extLst>
          </p:cNvPr>
          <p:cNvSpPr>
            <a:spLocks noGrp="1"/>
          </p:cNvSpPr>
          <p:nvPr>
            <p:ph type="title"/>
          </p:nvPr>
        </p:nvSpPr>
        <p:spPr/>
        <p:txBody>
          <a:bodyPr/>
          <a:lstStyle/>
          <a:p>
            <a:r>
              <a:rPr lang="en-US" dirty="0"/>
              <a:t>Contextual Outliers</a:t>
            </a:r>
          </a:p>
        </p:txBody>
      </p:sp>
      <p:sp>
        <p:nvSpPr>
          <p:cNvPr id="3" name="Content Placeholder 2">
            <a:extLst>
              <a:ext uri="{FF2B5EF4-FFF2-40B4-BE49-F238E27FC236}">
                <a16:creationId xmlns:a16="http://schemas.microsoft.com/office/drawing/2014/main" id="{677017FB-29C5-6EB4-2A89-BA1AE7FA25C1}"/>
              </a:ext>
            </a:extLst>
          </p:cNvPr>
          <p:cNvSpPr>
            <a:spLocks noGrp="1"/>
          </p:cNvSpPr>
          <p:nvPr>
            <p:ph idx="1"/>
          </p:nvPr>
        </p:nvSpPr>
        <p:spPr/>
        <p:txBody>
          <a:bodyPr/>
          <a:lstStyle/>
          <a:p>
            <a:r>
              <a:rPr lang="en-US" dirty="0"/>
              <a:t>Contextual outliers are data points that deviate significantly from the expected behavior within a specific context or subgroup.</a:t>
            </a:r>
          </a:p>
          <a:p>
            <a:r>
              <a:rPr lang="en-US" dirty="0"/>
              <a:t>Techniques for detecting contextual outliers include contextual clustering, contextual anomaly detection, and context-aware machine learning approaches.</a:t>
            </a:r>
          </a:p>
          <a:p>
            <a:r>
              <a:rPr lang="en-US" dirty="0"/>
              <a:t>Contextual information such as time, location, or other relevant factors are crucial in identifying contextual outliers.</a:t>
            </a:r>
          </a:p>
          <a:p>
            <a:endParaRPr lang="en-US" dirty="0"/>
          </a:p>
        </p:txBody>
      </p:sp>
      <p:pic>
        <p:nvPicPr>
          <p:cNvPr id="4" name="Picture 3">
            <a:extLst>
              <a:ext uri="{FF2B5EF4-FFF2-40B4-BE49-F238E27FC236}">
                <a16:creationId xmlns:a16="http://schemas.microsoft.com/office/drawing/2014/main" id="{D15048F1-9123-4C95-1C42-6B19F5F072D8}"/>
              </a:ext>
            </a:extLst>
          </p:cNvPr>
          <p:cNvPicPr>
            <a:picLocks noChangeAspect="1"/>
          </p:cNvPicPr>
          <p:nvPr/>
        </p:nvPicPr>
        <p:blipFill>
          <a:blip r:embed="rId2"/>
          <a:stretch>
            <a:fillRect/>
          </a:stretch>
        </p:blipFill>
        <p:spPr>
          <a:xfrm>
            <a:off x="4099387" y="4937594"/>
            <a:ext cx="3993226" cy="1920406"/>
          </a:xfrm>
          <a:prstGeom prst="rect">
            <a:avLst/>
          </a:prstGeom>
        </p:spPr>
      </p:pic>
    </p:spTree>
    <p:extLst>
      <p:ext uri="{BB962C8B-B14F-4D97-AF65-F5344CB8AC3E}">
        <p14:creationId xmlns:p14="http://schemas.microsoft.com/office/powerpoint/2010/main" val="12013671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F27E4-BBB1-5C38-FC61-43BE70EC49C1}"/>
              </a:ext>
            </a:extLst>
          </p:cNvPr>
          <p:cNvSpPr>
            <a:spLocks noGrp="1"/>
          </p:cNvSpPr>
          <p:nvPr>
            <p:ph type="title"/>
          </p:nvPr>
        </p:nvSpPr>
        <p:spPr/>
        <p:txBody>
          <a:bodyPr/>
          <a:lstStyle/>
          <a:p>
            <a:r>
              <a:rPr lang="en-US" dirty="0"/>
              <a:t>Box Plots</a:t>
            </a:r>
          </a:p>
        </p:txBody>
      </p:sp>
      <p:sp>
        <p:nvSpPr>
          <p:cNvPr id="3" name="Content Placeholder 2">
            <a:extLst>
              <a:ext uri="{FF2B5EF4-FFF2-40B4-BE49-F238E27FC236}">
                <a16:creationId xmlns:a16="http://schemas.microsoft.com/office/drawing/2014/main" id="{59D8D52A-E7B2-3500-3CC2-3058F13316B9}"/>
              </a:ext>
            </a:extLst>
          </p:cNvPr>
          <p:cNvSpPr>
            <a:spLocks noGrp="1"/>
          </p:cNvSpPr>
          <p:nvPr>
            <p:ph idx="1"/>
          </p:nvPr>
        </p:nvSpPr>
        <p:spPr/>
        <p:txBody>
          <a:bodyPr/>
          <a:lstStyle/>
          <a:p>
            <a:r>
              <a:rPr lang="en-US" dirty="0"/>
              <a:t>Box plots visually summarize the distribution of a dataset using the median, quartiles and interquartile range (IQR).</a:t>
            </a:r>
          </a:p>
          <a:p>
            <a:r>
              <a:rPr lang="en-US" dirty="0"/>
              <a:t>Any data points lying beyond the whiskers typically defined as 1.5 times the IQR from the first or third quartile are considered potential outliers.</a:t>
            </a:r>
          </a:p>
          <a:p>
            <a:r>
              <a:rPr lang="en-US" dirty="0"/>
              <a:t>The box plot shows outliers as points beyond the whiskers, with 72 and 150 indicating unusually low and high IQ values.</a:t>
            </a:r>
          </a:p>
          <a:p>
            <a:endParaRPr lang="en-US" dirty="0"/>
          </a:p>
        </p:txBody>
      </p:sp>
      <p:pic>
        <p:nvPicPr>
          <p:cNvPr id="4" name="Picture 3">
            <a:extLst>
              <a:ext uri="{FF2B5EF4-FFF2-40B4-BE49-F238E27FC236}">
                <a16:creationId xmlns:a16="http://schemas.microsoft.com/office/drawing/2014/main" id="{7DB639BF-FFC5-A021-EEF2-38E632D34B55}"/>
              </a:ext>
            </a:extLst>
          </p:cNvPr>
          <p:cNvPicPr>
            <a:picLocks noChangeAspect="1"/>
          </p:cNvPicPr>
          <p:nvPr/>
        </p:nvPicPr>
        <p:blipFill>
          <a:blip r:embed="rId2"/>
          <a:stretch>
            <a:fillRect/>
          </a:stretch>
        </p:blipFill>
        <p:spPr>
          <a:xfrm>
            <a:off x="4974239" y="4901014"/>
            <a:ext cx="2243522" cy="1956986"/>
          </a:xfrm>
          <a:prstGeom prst="rect">
            <a:avLst/>
          </a:prstGeom>
        </p:spPr>
      </p:pic>
    </p:spTree>
    <p:extLst>
      <p:ext uri="{BB962C8B-B14F-4D97-AF65-F5344CB8AC3E}">
        <p14:creationId xmlns:p14="http://schemas.microsoft.com/office/powerpoint/2010/main" val="4173635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757CA-EC7C-D899-6921-08BE2B03F866}"/>
              </a:ext>
            </a:extLst>
          </p:cNvPr>
          <p:cNvSpPr>
            <a:spLocks noGrp="1"/>
          </p:cNvSpPr>
          <p:nvPr>
            <p:ph type="title"/>
          </p:nvPr>
        </p:nvSpPr>
        <p:spPr/>
        <p:txBody>
          <a:bodyPr/>
          <a:lstStyle/>
          <a:p>
            <a:r>
              <a:rPr lang="en-US" dirty="0"/>
              <a:t>Z-Score</a:t>
            </a:r>
          </a:p>
        </p:txBody>
      </p:sp>
      <p:sp>
        <p:nvSpPr>
          <p:cNvPr id="3" name="Content Placeholder 2">
            <a:extLst>
              <a:ext uri="{FF2B5EF4-FFF2-40B4-BE49-F238E27FC236}">
                <a16:creationId xmlns:a16="http://schemas.microsoft.com/office/drawing/2014/main" id="{8DB73833-1F43-3430-D196-1FB6BB8215AD}"/>
              </a:ext>
            </a:extLst>
          </p:cNvPr>
          <p:cNvSpPr>
            <a:spLocks noGrp="1"/>
          </p:cNvSpPr>
          <p:nvPr>
            <p:ph idx="1"/>
          </p:nvPr>
        </p:nvSpPr>
        <p:spPr/>
        <p:txBody>
          <a:bodyPr/>
          <a:lstStyle/>
          <a:p>
            <a:r>
              <a:rPr lang="en-US" dirty="0"/>
              <a:t>The Z-score method measures how many standard deviations a data point is from the mean of the dataset.</a:t>
            </a:r>
          </a:p>
          <a:p>
            <a:r>
              <a:rPr lang="en-US" dirty="0"/>
              <a:t>Values with Z-scores greater than +3 or less than −3 are commonly treated as outliers making this approach suitable for normally distributed data.</a:t>
            </a:r>
          </a:p>
          <a:p>
            <a:r>
              <a:rPr lang="en-US" dirty="0"/>
              <a:t>The output shows that IQ values 30 and 250 lie far from the mean with Z-scores beyond ±3.</a:t>
            </a:r>
          </a:p>
          <a:p>
            <a:r>
              <a:rPr lang="en-US" dirty="0"/>
              <a:t>This indicates they are extreme outliers significantly different from the rest of the data.</a:t>
            </a:r>
          </a:p>
          <a:p>
            <a:endParaRPr lang="en-US" dirty="0"/>
          </a:p>
        </p:txBody>
      </p:sp>
      <p:pic>
        <p:nvPicPr>
          <p:cNvPr id="4" name="Picture 3">
            <a:extLst>
              <a:ext uri="{FF2B5EF4-FFF2-40B4-BE49-F238E27FC236}">
                <a16:creationId xmlns:a16="http://schemas.microsoft.com/office/drawing/2014/main" id="{4D3AAB06-17CB-A9B9-96A1-111218CC7EF4}"/>
              </a:ext>
            </a:extLst>
          </p:cNvPr>
          <p:cNvPicPr>
            <a:picLocks noChangeAspect="1"/>
          </p:cNvPicPr>
          <p:nvPr/>
        </p:nvPicPr>
        <p:blipFill>
          <a:blip r:embed="rId2"/>
          <a:stretch>
            <a:fillRect/>
          </a:stretch>
        </p:blipFill>
        <p:spPr>
          <a:xfrm>
            <a:off x="4919201" y="5695507"/>
            <a:ext cx="2019300" cy="962025"/>
          </a:xfrm>
          <a:prstGeom prst="rect">
            <a:avLst/>
          </a:prstGeom>
        </p:spPr>
      </p:pic>
    </p:spTree>
    <p:extLst>
      <p:ext uri="{BB962C8B-B14F-4D97-AF65-F5344CB8AC3E}">
        <p14:creationId xmlns:p14="http://schemas.microsoft.com/office/powerpoint/2010/main" val="39526741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4DD09-D9CC-732A-89C0-0AD09FB16B7F}"/>
              </a:ext>
            </a:extLst>
          </p:cNvPr>
          <p:cNvSpPr>
            <a:spLocks noGrp="1"/>
          </p:cNvSpPr>
          <p:nvPr>
            <p:ph type="title"/>
          </p:nvPr>
        </p:nvSpPr>
        <p:spPr/>
        <p:txBody>
          <a:bodyPr/>
          <a:lstStyle/>
          <a:p>
            <a:r>
              <a:rPr lang="en-US" dirty="0"/>
              <a:t>IQR Method</a:t>
            </a:r>
          </a:p>
        </p:txBody>
      </p:sp>
      <p:sp>
        <p:nvSpPr>
          <p:cNvPr id="3" name="Content Placeholder 2">
            <a:extLst>
              <a:ext uri="{FF2B5EF4-FFF2-40B4-BE49-F238E27FC236}">
                <a16:creationId xmlns:a16="http://schemas.microsoft.com/office/drawing/2014/main" id="{9A4E0DEA-F4C6-A729-2106-4513904581AE}"/>
              </a:ext>
            </a:extLst>
          </p:cNvPr>
          <p:cNvSpPr>
            <a:spLocks noGrp="1"/>
          </p:cNvSpPr>
          <p:nvPr>
            <p:ph idx="1"/>
          </p:nvPr>
        </p:nvSpPr>
        <p:spPr/>
        <p:txBody>
          <a:bodyPr/>
          <a:lstStyle/>
          <a:p>
            <a:r>
              <a:rPr lang="en-US" dirty="0"/>
              <a:t>The IQR method defines outliers as values that fall below Q1 − 1.5 × IQR or above Q3 + 1.5 × IQR. Since it does not assume a normal distribution this technique is robust and widely used in real-world datasets.</a:t>
            </a:r>
          </a:p>
          <a:p>
            <a:endParaRPr lang="en-US" dirty="0"/>
          </a:p>
        </p:txBody>
      </p:sp>
      <p:pic>
        <p:nvPicPr>
          <p:cNvPr id="4" name="Picture 3">
            <a:extLst>
              <a:ext uri="{FF2B5EF4-FFF2-40B4-BE49-F238E27FC236}">
                <a16:creationId xmlns:a16="http://schemas.microsoft.com/office/drawing/2014/main" id="{FB6149BF-A338-5F05-2F96-C937EA8828DE}"/>
              </a:ext>
            </a:extLst>
          </p:cNvPr>
          <p:cNvPicPr>
            <a:picLocks noChangeAspect="1"/>
          </p:cNvPicPr>
          <p:nvPr/>
        </p:nvPicPr>
        <p:blipFill>
          <a:blip r:embed="rId2"/>
          <a:stretch>
            <a:fillRect/>
          </a:stretch>
        </p:blipFill>
        <p:spPr>
          <a:xfrm>
            <a:off x="5083976" y="3662991"/>
            <a:ext cx="2024047" cy="963251"/>
          </a:xfrm>
          <a:prstGeom prst="rect">
            <a:avLst/>
          </a:prstGeom>
        </p:spPr>
      </p:pic>
    </p:spTree>
    <p:extLst>
      <p:ext uri="{BB962C8B-B14F-4D97-AF65-F5344CB8AC3E}">
        <p14:creationId xmlns:p14="http://schemas.microsoft.com/office/powerpoint/2010/main" val="10020630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B8455-2CA0-B1FD-72D6-E9F6F146F2E5}"/>
              </a:ext>
            </a:extLst>
          </p:cNvPr>
          <p:cNvSpPr>
            <a:spLocks noGrp="1"/>
          </p:cNvSpPr>
          <p:nvPr>
            <p:ph type="title"/>
          </p:nvPr>
        </p:nvSpPr>
        <p:spPr/>
        <p:txBody>
          <a:bodyPr/>
          <a:lstStyle/>
          <a:p>
            <a:r>
              <a:rPr lang="en-US" dirty="0"/>
              <a:t>How to handle Outliers in data?</a:t>
            </a:r>
          </a:p>
        </p:txBody>
      </p:sp>
      <p:sp>
        <p:nvSpPr>
          <p:cNvPr id="3" name="Content Placeholder 2">
            <a:extLst>
              <a:ext uri="{FF2B5EF4-FFF2-40B4-BE49-F238E27FC236}">
                <a16:creationId xmlns:a16="http://schemas.microsoft.com/office/drawing/2014/main" id="{9DFD603B-59B4-F5B8-1DDD-0501F2706056}"/>
              </a:ext>
            </a:extLst>
          </p:cNvPr>
          <p:cNvSpPr>
            <a:spLocks noGrp="1"/>
          </p:cNvSpPr>
          <p:nvPr>
            <p:ph idx="1"/>
          </p:nvPr>
        </p:nvSpPr>
        <p:spPr/>
        <p:txBody>
          <a:bodyPr/>
          <a:lstStyle/>
          <a:p>
            <a:r>
              <a:rPr lang="en-US" dirty="0"/>
              <a:t>Removal (Trimming)</a:t>
            </a:r>
          </a:p>
          <a:p>
            <a:r>
              <a:rPr lang="en-US" dirty="0"/>
              <a:t>Caping or Flooring (Quantile-Based Treatment)</a:t>
            </a:r>
          </a:p>
          <a:p>
            <a:r>
              <a:rPr lang="en-US" dirty="0"/>
              <a:t>Mean/Median Imputation</a:t>
            </a:r>
          </a:p>
          <a:p>
            <a:r>
              <a:rPr lang="en-US" dirty="0"/>
              <a:t>Transformation</a:t>
            </a:r>
          </a:p>
          <a:p>
            <a:endParaRPr lang="en-US" dirty="0"/>
          </a:p>
        </p:txBody>
      </p:sp>
    </p:spTree>
    <p:extLst>
      <p:ext uri="{BB962C8B-B14F-4D97-AF65-F5344CB8AC3E}">
        <p14:creationId xmlns:p14="http://schemas.microsoft.com/office/powerpoint/2010/main" val="23762566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918DD-01FB-E6D3-9AE4-D80140A6DDCA}"/>
              </a:ext>
            </a:extLst>
          </p:cNvPr>
          <p:cNvSpPr>
            <a:spLocks noGrp="1"/>
          </p:cNvSpPr>
          <p:nvPr>
            <p:ph type="title"/>
          </p:nvPr>
        </p:nvSpPr>
        <p:spPr/>
        <p:txBody>
          <a:bodyPr/>
          <a:lstStyle/>
          <a:p>
            <a:r>
              <a:rPr lang="en-US" dirty="0"/>
              <a:t>When to Drop of Keep Outliers</a:t>
            </a:r>
          </a:p>
        </p:txBody>
      </p:sp>
      <p:sp>
        <p:nvSpPr>
          <p:cNvPr id="3" name="Content Placeholder 2">
            <a:extLst>
              <a:ext uri="{FF2B5EF4-FFF2-40B4-BE49-F238E27FC236}">
                <a16:creationId xmlns:a16="http://schemas.microsoft.com/office/drawing/2014/main" id="{CA1DC1E6-5D67-8C7B-C666-C6B0F4854F79}"/>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8505742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2678E-2664-81CC-855D-65BAB8C4AE1C}"/>
              </a:ext>
            </a:extLst>
          </p:cNvPr>
          <p:cNvSpPr>
            <a:spLocks noGrp="1"/>
          </p:cNvSpPr>
          <p:nvPr>
            <p:ph type="title"/>
          </p:nvPr>
        </p:nvSpPr>
        <p:spPr/>
        <p:txBody>
          <a:bodyPr/>
          <a:lstStyle/>
          <a:p>
            <a:r>
              <a:rPr lang="en-US" dirty="0"/>
              <a:t>When you should drop outliers</a:t>
            </a:r>
          </a:p>
        </p:txBody>
      </p:sp>
      <p:sp>
        <p:nvSpPr>
          <p:cNvPr id="3" name="Content Placeholder 2">
            <a:extLst>
              <a:ext uri="{FF2B5EF4-FFF2-40B4-BE49-F238E27FC236}">
                <a16:creationId xmlns:a16="http://schemas.microsoft.com/office/drawing/2014/main" id="{75E4B41A-C1CC-1D4C-50A7-47071ED287A7}"/>
              </a:ext>
            </a:extLst>
          </p:cNvPr>
          <p:cNvSpPr>
            <a:spLocks noGrp="1"/>
          </p:cNvSpPr>
          <p:nvPr>
            <p:ph idx="1"/>
          </p:nvPr>
        </p:nvSpPr>
        <p:spPr/>
        <p:txBody>
          <a:bodyPr/>
          <a:lstStyle/>
          <a:p>
            <a:r>
              <a:rPr lang="en-US" dirty="0"/>
              <a:t>When the values is clearly incorrect</a:t>
            </a:r>
          </a:p>
          <a:p>
            <a:r>
              <a:rPr lang="en-US" dirty="0"/>
              <a:t>When you have a large dataset</a:t>
            </a:r>
          </a:p>
          <a:p>
            <a:r>
              <a:rPr lang="en-US" dirty="0"/>
              <a:t>When verification is possible</a:t>
            </a:r>
          </a:p>
          <a:p>
            <a:endParaRPr lang="en-US" dirty="0"/>
          </a:p>
        </p:txBody>
      </p:sp>
    </p:spTree>
    <p:extLst>
      <p:ext uri="{BB962C8B-B14F-4D97-AF65-F5344CB8AC3E}">
        <p14:creationId xmlns:p14="http://schemas.microsoft.com/office/powerpoint/2010/main" val="41513068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0667A-6940-1CF1-8044-AE23277193DF}"/>
              </a:ext>
            </a:extLst>
          </p:cNvPr>
          <p:cNvSpPr>
            <a:spLocks noGrp="1"/>
          </p:cNvSpPr>
          <p:nvPr>
            <p:ph type="title"/>
          </p:nvPr>
        </p:nvSpPr>
        <p:spPr/>
        <p:txBody>
          <a:bodyPr/>
          <a:lstStyle/>
          <a:p>
            <a:r>
              <a:rPr lang="en-US" dirty="0"/>
              <a:t>When you should not drop outliers</a:t>
            </a:r>
          </a:p>
        </p:txBody>
      </p:sp>
      <p:sp>
        <p:nvSpPr>
          <p:cNvPr id="3" name="Content Placeholder 2">
            <a:extLst>
              <a:ext uri="{FF2B5EF4-FFF2-40B4-BE49-F238E27FC236}">
                <a16:creationId xmlns:a16="http://schemas.microsoft.com/office/drawing/2014/main" id="{B57564C5-078A-215B-1412-7B37EEC851CD}"/>
              </a:ext>
            </a:extLst>
          </p:cNvPr>
          <p:cNvSpPr>
            <a:spLocks noGrp="1"/>
          </p:cNvSpPr>
          <p:nvPr>
            <p:ph idx="1"/>
          </p:nvPr>
        </p:nvSpPr>
        <p:spPr/>
        <p:txBody>
          <a:bodyPr/>
          <a:lstStyle/>
          <a:p>
            <a:r>
              <a:rPr lang="en-US" dirty="0"/>
              <a:t>When results are critical or high-risk</a:t>
            </a:r>
          </a:p>
          <a:p>
            <a:r>
              <a:rPr lang="en-US" dirty="0"/>
              <a:t>When many outliers are present</a:t>
            </a:r>
          </a:p>
          <a:p>
            <a:r>
              <a:rPr lang="en-US" dirty="0"/>
              <a:t>When outliers represent real phenomena</a:t>
            </a:r>
          </a:p>
          <a:p>
            <a:endParaRPr lang="en-US" dirty="0"/>
          </a:p>
        </p:txBody>
      </p:sp>
    </p:spTree>
    <p:extLst>
      <p:ext uri="{BB962C8B-B14F-4D97-AF65-F5344CB8AC3E}">
        <p14:creationId xmlns:p14="http://schemas.microsoft.com/office/powerpoint/2010/main" val="94273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647D-BE18-313A-4E15-EED56517EB8A}"/>
              </a:ext>
            </a:extLst>
          </p:cNvPr>
          <p:cNvSpPr>
            <a:spLocks noGrp="1"/>
          </p:cNvSpPr>
          <p:nvPr>
            <p:ph type="title"/>
          </p:nvPr>
        </p:nvSpPr>
        <p:spPr/>
        <p:txBody>
          <a:bodyPr/>
          <a:lstStyle/>
          <a:p>
            <a:r>
              <a:rPr lang="en-US" dirty="0"/>
              <a:t>What is Dimension Reduction?</a:t>
            </a:r>
          </a:p>
        </p:txBody>
      </p:sp>
      <p:sp>
        <p:nvSpPr>
          <p:cNvPr id="3" name="Content Placeholder 2">
            <a:extLst>
              <a:ext uri="{FF2B5EF4-FFF2-40B4-BE49-F238E27FC236}">
                <a16:creationId xmlns:a16="http://schemas.microsoft.com/office/drawing/2014/main" id="{B6D6206B-DAAB-D2A7-80EE-7E3F9B383089}"/>
              </a:ext>
            </a:extLst>
          </p:cNvPr>
          <p:cNvSpPr>
            <a:spLocks noGrp="1"/>
          </p:cNvSpPr>
          <p:nvPr>
            <p:ph idx="1"/>
          </p:nvPr>
        </p:nvSpPr>
        <p:spPr/>
        <p:txBody>
          <a:bodyPr/>
          <a:lstStyle/>
          <a:p>
            <a:r>
              <a:rPr lang="en-US" dirty="0"/>
              <a:t>Dimension Reduction in machine learning is the process of reducing the number of features (variables) in a dataset while preserving its most important information, transforming high-dimensional data into a lower-dimensional space to simplify models, improve performance, reduce noise, speed up computation, and enable better data visualization, tackling issues like the curse of dimensionality. </a:t>
            </a:r>
          </a:p>
        </p:txBody>
      </p:sp>
    </p:spTree>
    <p:extLst>
      <p:ext uri="{BB962C8B-B14F-4D97-AF65-F5344CB8AC3E}">
        <p14:creationId xmlns:p14="http://schemas.microsoft.com/office/powerpoint/2010/main" val="37770006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3BB90-A52E-F655-CF3B-F602A8258F0A}"/>
              </a:ext>
            </a:extLst>
          </p:cNvPr>
          <p:cNvSpPr>
            <a:spLocks noGrp="1"/>
          </p:cNvSpPr>
          <p:nvPr>
            <p:ph type="title"/>
          </p:nvPr>
        </p:nvSpPr>
        <p:spPr/>
        <p:txBody>
          <a:bodyPr/>
          <a:lstStyle/>
          <a:p>
            <a:r>
              <a:rPr lang="en-US" dirty="0"/>
              <a:t>Dimensionality Reduction</a:t>
            </a:r>
          </a:p>
        </p:txBody>
      </p:sp>
      <p:pic>
        <p:nvPicPr>
          <p:cNvPr id="4" name="Content Placeholder 3">
            <a:extLst>
              <a:ext uri="{FF2B5EF4-FFF2-40B4-BE49-F238E27FC236}">
                <a16:creationId xmlns:a16="http://schemas.microsoft.com/office/drawing/2014/main" id="{2CC16504-E682-A08F-9830-A4A74CA49FAC}"/>
              </a:ext>
            </a:extLst>
          </p:cNvPr>
          <p:cNvPicPr>
            <a:picLocks noGrp="1" noChangeAspect="1"/>
          </p:cNvPicPr>
          <p:nvPr>
            <p:ph idx="1"/>
          </p:nvPr>
        </p:nvPicPr>
        <p:blipFill>
          <a:blip r:embed="rId2"/>
          <a:stretch>
            <a:fillRect/>
          </a:stretch>
        </p:blipFill>
        <p:spPr>
          <a:xfrm>
            <a:off x="1480550" y="1690689"/>
            <a:ext cx="9230900" cy="4621210"/>
          </a:xfrm>
          <a:prstGeom prst="rect">
            <a:avLst/>
          </a:prstGeom>
        </p:spPr>
      </p:pic>
    </p:spTree>
    <p:extLst>
      <p:ext uri="{BB962C8B-B14F-4D97-AF65-F5344CB8AC3E}">
        <p14:creationId xmlns:p14="http://schemas.microsoft.com/office/powerpoint/2010/main" val="16423120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BE25-37AF-B4CC-DF20-FD9775318EB2}"/>
              </a:ext>
            </a:extLst>
          </p:cNvPr>
          <p:cNvSpPr>
            <a:spLocks noGrp="1"/>
          </p:cNvSpPr>
          <p:nvPr>
            <p:ph type="title"/>
          </p:nvPr>
        </p:nvSpPr>
        <p:spPr/>
        <p:txBody>
          <a:bodyPr/>
          <a:lstStyle/>
          <a:p>
            <a:r>
              <a:rPr lang="en-US" dirty="0"/>
              <a:t>Key Goals and Benefits of Dimensionality Reduction</a:t>
            </a:r>
          </a:p>
        </p:txBody>
      </p:sp>
      <p:sp>
        <p:nvSpPr>
          <p:cNvPr id="3" name="Content Placeholder 2">
            <a:extLst>
              <a:ext uri="{FF2B5EF4-FFF2-40B4-BE49-F238E27FC236}">
                <a16:creationId xmlns:a16="http://schemas.microsoft.com/office/drawing/2014/main" id="{CFB03E33-D2EB-D575-9DF5-A29B3B985D10}"/>
              </a:ext>
            </a:extLst>
          </p:cNvPr>
          <p:cNvSpPr>
            <a:spLocks noGrp="1"/>
          </p:cNvSpPr>
          <p:nvPr>
            <p:ph idx="1"/>
          </p:nvPr>
        </p:nvSpPr>
        <p:spPr/>
        <p:txBody>
          <a:bodyPr>
            <a:normAutofit lnSpcReduction="10000"/>
          </a:bodyPr>
          <a:lstStyle/>
          <a:p>
            <a:r>
              <a:rPr lang="en-US" dirty="0"/>
              <a:t>Reduces Complexity: Makes large, complex datasets more manageable.</a:t>
            </a:r>
          </a:p>
          <a:p>
            <a:r>
              <a:rPr lang="en-US" dirty="0"/>
              <a:t>Prevents Overfitting: Fewer features lead to simpler models less prone to memorizing noise.</a:t>
            </a:r>
          </a:p>
          <a:p>
            <a:r>
              <a:rPr lang="en-US" dirty="0"/>
              <a:t>Improves Performance: Faster training and inference times for algorithms.</a:t>
            </a:r>
          </a:p>
          <a:p>
            <a:r>
              <a:rPr lang="en-US" dirty="0"/>
              <a:t>Enhances Visualization: Allows complex data to be plotted in 2D or 3D.</a:t>
            </a:r>
          </a:p>
          <a:p>
            <a:r>
              <a:rPr lang="en-US" dirty="0"/>
              <a:t>Reduces Storage: Less data means lower memory and storage requirements. </a:t>
            </a:r>
          </a:p>
        </p:txBody>
      </p:sp>
    </p:spTree>
    <p:extLst>
      <p:ext uri="{BB962C8B-B14F-4D97-AF65-F5344CB8AC3E}">
        <p14:creationId xmlns:p14="http://schemas.microsoft.com/office/powerpoint/2010/main" val="16876421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14BB0-DA52-5BBE-5001-AE9DEB9F9CA0}"/>
              </a:ext>
            </a:extLst>
          </p:cNvPr>
          <p:cNvSpPr>
            <a:spLocks noGrp="1"/>
          </p:cNvSpPr>
          <p:nvPr>
            <p:ph type="title"/>
          </p:nvPr>
        </p:nvSpPr>
        <p:spPr/>
        <p:txBody>
          <a:bodyPr/>
          <a:lstStyle/>
          <a:p>
            <a:r>
              <a:rPr lang="en-US" dirty="0"/>
              <a:t>Common Approaches of Dimensionality Reduction</a:t>
            </a:r>
          </a:p>
        </p:txBody>
      </p:sp>
      <p:sp>
        <p:nvSpPr>
          <p:cNvPr id="3" name="Content Placeholder 2">
            <a:extLst>
              <a:ext uri="{FF2B5EF4-FFF2-40B4-BE49-F238E27FC236}">
                <a16:creationId xmlns:a16="http://schemas.microsoft.com/office/drawing/2014/main" id="{0831E0A0-3463-6092-5425-7AA431AB3E02}"/>
              </a:ext>
            </a:extLst>
          </p:cNvPr>
          <p:cNvSpPr>
            <a:spLocks noGrp="1"/>
          </p:cNvSpPr>
          <p:nvPr>
            <p:ph idx="1"/>
          </p:nvPr>
        </p:nvSpPr>
        <p:spPr/>
        <p:txBody>
          <a:bodyPr/>
          <a:lstStyle/>
          <a:p>
            <a:r>
              <a:rPr lang="en-US" dirty="0"/>
              <a:t>Feature Selection: Choosing a subset of the original features.</a:t>
            </a:r>
          </a:p>
          <a:p>
            <a:r>
              <a:rPr lang="en-US" dirty="0"/>
              <a:t>Feature Extraction: Creating new, fewer features (dimensions) that capture the essence of the old ones, like PCA (Principal Component Analysis) or t-SNE. </a:t>
            </a:r>
          </a:p>
        </p:txBody>
      </p:sp>
    </p:spTree>
    <p:extLst>
      <p:ext uri="{BB962C8B-B14F-4D97-AF65-F5344CB8AC3E}">
        <p14:creationId xmlns:p14="http://schemas.microsoft.com/office/powerpoint/2010/main" val="32872638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AE1E-E941-659C-9A33-BC9C4451096F}"/>
              </a:ext>
            </a:extLst>
          </p:cNvPr>
          <p:cNvSpPr>
            <a:spLocks noGrp="1"/>
          </p:cNvSpPr>
          <p:nvPr>
            <p:ph type="title"/>
          </p:nvPr>
        </p:nvSpPr>
        <p:spPr/>
        <p:txBody>
          <a:bodyPr/>
          <a:lstStyle/>
          <a:p>
            <a:r>
              <a:rPr lang="en-US" dirty="0"/>
              <a:t>Dimensionality Reduction Techniques</a:t>
            </a:r>
          </a:p>
        </p:txBody>
      </p:sp>
      <p:sp>
        <p:nvSpPr>
          <p:cNvPr id="3" name="Content Placeholder 2">
            <a:extLst>
              <a:ext uri="{FF2B5EF4-FFF2-40B4-BE49-F238E27FC236}">
                <a16:creationId xmlns:a16="http://schemas.microsoft.com/office/drawing/2014/main" id="{608F8EF0-B788-8A0B-6FE3-90AFBBA4DD4A}"/>
              </a:ext>
            </a:extLst>
          </p:cNvPr>
          <p:cNvSpPr>
            <a:spLocks noGrp="1"/>
          </p:cNvSpPr>
          <p:nvPr>
            <p:ph idx="1"/>
          </p:nvPr>
        </p:nvSpPr>
        <p:spPr/>
        <p:txBody>
          <a:bodyPr>
            <a:normAutofit/>
          </a:bodyPr>
          <a:lstStyle/>
          <a:p>
            <a:pPr marL="514350" indent="-514350">
              <a:buFont typeface="+mj-lt"/>
              <a:buAutoNum type="arabicPeriod"/>
            </a:pPr>
            <a:r>
              <a:rPr lang="en-US" dirty="0"/>
              <a:t>Principal Component Analysis (PCA)</a:t>
            </a:r>
          </a:p>
          <a:p>
            <a:pPr marL="514350" indent="-514350">
              <a:buFont typeface="+mj-lt"/>
              <a:buAutoNum type="arabicPeriod"/>
            </a:pPr>
            <a:r>
              <a:rPr lang="en-US" dirty="0"/>
              <a:t>Linear Discriminant Analysis (LDA)</a:t>
            </a:r>
          </a:p>
          <a:p>
            <a:pPr marL="514350" indent="-514350">
              <a:buFont typeface="+mj-lt"/>
              <a:buAutoNum type="arabicPeriod"/>
            </a:pPr>
            <a:r>
              <a:rPr lang="en-US" dirty="0"/>
              <a:t>t-Distributed Stochastic Neighbor Embedding (t-SNE)</a:t>
            </a:r>
          </a:p>
          <a:p>
            <a:pPr marL="514350" indent="-514350">
              <a:buFont typeface="+mj-lt"/>
              <a:buAutoNum type="arabicPeriod"/>
            </a:pPr>
            <a:r>
              <a:rPr lang="en-US" dirty="0"/>
              <a:t>Independent Component Analysis (ICA)</a:t>
            </a:r>
          </a:p>
          <a:p>
            <a:pPr marL="514350" indent="-514350">
              <a:buFont typeface="+mj-lt"/>
              <a:buAutoNum type="arabicPeriod"/>
            </a:pPr>
            <a:r>
              <a:rPr lang="en-US" dirty="0"/>
              <a:t>Non negative Matrix Factorization (NMF)</a:t>
            </a:r>
          </a:p>
          <a:p>
            <a:pPr marL="514350" indent="-514350">
              <a:buFont typeface="+mj-lt"/>
              <a:buAutoNum type="arabicPeriod"/>
            </a:pPr>
            <a:r>
              <a:rPr lang="en-US" dirty="0" err="1"/>
              <a:t>FastICA</a:t>
            </a:r>
            <a:endParaRPr lang="en-US" dirty="0"/>
          </a:p>
        </p:txBody>
      </p:sp>
    </p:spTree>
    <p:extLst>
      <p:ext uri="{BB962C8B-B14F-4D97-AF65-F5344CB8AC3E}">
        <p14:creationId xmlns:p14="http://schemas.microsoft.com/office/powerpoint/2010/main" val="3029236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476A6-BC11-990A-4B59-D65EC0992017}"/>
              </a:ext>
            </a:extLst>
          </p:cNvPr>
          <p:cNvSpPr>
            <a:spLocks noGrp="1"/>
          </p:cNvSpPr>
          <p:nvPr>
            <p:ph type="title"/>
          </p:nvPr>
        </p:nvSpPr>
        <p:spPr/>
        <p:txBody>
          <a:bodyPr/>
          <a:lstStyle/>
          <a:p>
            <a:r>
              <a:rPr lang="en-US" dirty="0"/>
              <a:t>Dimensionality Reduction Techniques Cont..</a:t>
            </a:r>
          </a:p>
        </p:txBody>
      </p:sp>
      <p:sp>
        <p:nvSpPr>
          <p:cNvPr id="3" name="Content Placeholder 2">
            <a:extLst>
              <a:ext uri="{FF2B5EF4-FFF2-40B4-BE49-F238E27FC236}">
                <a16:creationId xmlns:a16="http://schemas.microsoft.com/office/drawing/2014/main" id="{40ABCDB6-A87E-9C65-FCBE-9907D9923E79}"/>
              </a:ext>
            </a:extLst>
          </p:cNvPr>
          <p:cNvSpPr>
            <a:spLocks noGrp="1"/>
          </p:cNvSpPr>
          <p:nvPr>
            <p:ph idx="1"/>
          </p:nvPr>
        </p:nvSpPr>
        <p:spPr/>
        <p:txBody>
          <a:bodyPr/>
          <a:lstStyle/>
          <a:p>
            <a:pPr marL="514350" indent="-514350">
              <a:buFont typeface="+mj-lt"/>
              <a:buAutoNum type="arabicPeriod" startAt="7"/>
            </a:pPr>
            <a:r>
              <a:rPr lang="en-US" dirty="0" err="1"/>
              <a:t>Isomap</a:t>
            </a:r>
            <a:r>
              <a:rPr lang="en-US" dirty="0"/>
              <a:t>(Isometric Mapping)</a:t>
            </a:r>
          </a:p>
          <a:p>
            <a:pPr marL="514350" indent="-514350">
              <a:buFont typeface="+mj-lt"/>
              <a:buAutoNum type="arabicPeriod" startAt="7"/>
            </a:pPr>
            <a:r>
              <a:rPr lang="en-US" dirty="0"/>
              <a:t>Locally Linear Embedding (LLE)</a:t>
            </a:r>
          </a:p>
          <a:p>
            <a:pPr marL="514350" indent="-514350">
              <a:buFont typeface="+mj-lt"/>
              <a:buAutoNum type="arabicPeriod" startAt="7"/>
            </a:pPr>
            <a:r>
              <a:rPr lang="en-US" dirty="0"/>
              <a:t>Manifold Learning</a:t>
            </a:r>
          </a:p>
          <a:p>
            <a:pPr marL="514350" indent="-514350">
              <a:buFont typeface="+mj-lt"/>
              <a:buAutoNum type="arabicPeriod" startAt="7"/>
            </a:pPr>
            <a:r>
              <a:rPr lang="en-US" dirty="0"/>
              <a:t>Autoencoders</a:t>
            </a:r>
          </a:p>
          <a:p>
            <a:pPr marL="514350" indent="-514350">
              <a:buFont typeface="+mj-lt"/>
              <a:buAutoNum type="arabicPeriod" startAt="7"/>
            </a:pPr>
            <a:r>
              <a:rPr lang="en-US" dirty="0"/>
              <a:t>Multidimensional Scaling (MDS)</a:t>
            </a:r>
          </a:p>
          <a:p>
            <a:endParaRPr lang="en-US" dirty="0"/>
          </a:p>
        </p:txBody>
      </p:sp>
    </p:spTree>
    <p:extLst>
      <p:ext uri="{BB962C8B-B14F-4D97-AF65-F5344CB8AC3E}">
        <p14:creationId xmlns:p14="http://schemas.microsoft.com/office/powerpoint/2010/main" val="21696688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E8217-12F5-D11B-CDF6-D045891D7D0A}"/>
              </a:ext>
            </a:extLst>
          </p:cNvPr>
          <p:cNvSpPr>
            <a:spLocks noGrp="1"/>
          </p:cNvSpPr>
          <p:nvPr>
            <p:ph type="title"/>
          </p:nvPr>
        </p:nvSpPr>
        <p:spPr/>
        <p:txBody>
          <a:bodyPr/>
          <a:lstStyle/>
          <a:p>
            <a:r>
              <a:rPr lang="en-US" dirty="0"/>
              <a:t>What is variance?</a:t>
            </a:r>
          </a:p>
        </p:txBody>
      </p:sp>
      <p:sp>
        <p:nvSpPr>
          <p:cNvPr id="3" name="Content Placeholder 2">
            <a:extLst>
              <a:ext uri="{FF2B5EF4-FFF2-40B4-BE49-F238E27FC236}">
                <a16:creationId xmlns:a16="http://schemas.microsoft.com/office/drawing/2014/main" id="{191CA03F-BCAD-7951-12FD-BFC1982D9126}"/>
              </a:ext>
            </a:extLst>
          </p:cNvPr>
          <p:cNvSpPr>
            <a:spLocks noGrp="1"/>
          </p:cNvSpPr>
          <p:nvPr>
            <p:ph idx="1"/>
          </p:nvPr>
        </p:nvSpPr>
        <p:spPr/>
        <p:txBody>
          <a:bodyPr/>
          <a:lstStyle/>
          <a:p>
            <a:r>
              <a:rPr lang="en-US" dirty="0"/>
              <a:t>variance measures how much a model's predictions change when trained on different subsets of data</a:t>
            </a:r>
          </a:p>
          <a:p>
            <a:r>
              <a:rPr lang="en-US" dirty="0"/>
              <a:t>high variance means the model is overly sensitive, learning noise and details (overfitting) rather than general patterns, leading to poor performance on new data, </a:t>
            </a:r>
          </a:p>
          <a:p>
            <a:r>
              <a:rPr lang="en-US" dirty="0"/>
              <a:t>while low variance indicates better generalization. </a:t>
            </a:r>
          </a:p>
        </p:txBody>
      </p:sp>
    </p:spTree>
    <p:extLst>
      <p:ext uri="{BB962C8B-B14F-4D97-AF65-F5344CB8AC3E}">
        <p14:creationId xmlns:p14="http://schemas.microsoft.com/office/powerpoint/2010/main" val="21327085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2A764-B745-2DF8-5DD8-343FD79DE3C2}"/>
              </a:ext>
            </a:extLst>
          </p:cNvPr>
          <p:cNvSpPr>
            <a:spLocks noGrp="1"/>
          </p:cNvSpPr>
          <p:nvPr>
            <p:ph type="title"/>
          </p:nvPr>
        </p:nvSpPr>
        <p:spPr/>
        <p:txBody>
          <a:bodyPr/>
          <a:lstStyle/>
          <a:p>
            <a:r>
              <a:rPr lang="en-US" dirty="0"/>
              <a:t>Variance Cont..</a:t>
            </a:r>
          </a:p>
        </p:txBody>
      </p:sp>
      <p:sp>
        <p:nvSpPr>
          <p:cNvPr id="3" name="Content Placeholder 2">
            <a:extLst>
              <a:ext uri="{FF2B5EF4-FFF2-40B4-BE49-F238E27FC236}">
                <a16:creationId xmlns:a16="http://schemas.microsoft.com/office/drawing/2014/main" id="{1B3A0866-99D5-9249-34B0-E65ABCE5223C}"/>
              </a:ext>
            </a:extLst>
          </p:cNvPr>
          <p:cNvSpPr>
            <a:spLocks noGrp="1"/>
          </p:cNvSpPr>
          <p:nvPr>
            <p:ph idx="1"/>
          </p:nvPr>
        </p:nvSpPr>
        <p:spPr/>
        <p:txBody>
          <a:bodyPr/>
          <a:lstStyle/>
          <a:p>
            <a:r>
              <a:rPr lang="en-US" dirty="0"/>
              <a:t>High Variance (Overfitting)</a:t>
            </a:r>
          </a:p>
          <a:p>
            <a:r>
              <a:rPr lang="en-US" dirty="0"/>
              <a:t>Definition: The model learns the training data too well, including random noise and irrelevant details.</a:t>
            </a:r>
          </a:p>
          <a:p>
            <a:r>
              <a:rPr lang="en-US" dirty="0"/>
              <a:t>Symptoms: Excellent performance on training data but poor performance (high error) on unseen test data.</a:t>
            </a:r>
          </a:p>
          <a:p>
            <a:r>
              <a:rPr lang="en-US" dirty="0"/>
              <a:t>Causes: Overly complex models (deep trees, neural networks), too many features, or insufficient training data.</a:t>
            </a:r>
          </a:p>
          <a:p>
            <a:r>
              <a:rPr lang="en-US" dirty="0"/>
              <a:t>Analogy: A squiggly line that hits every single training point perfectly but doesn't represent the true underlying trend. </a:t>
            </a:r>
          </a:p>
          <a:p>
            <a:endParaRPr lang="en-US" dirty="0"/>
          </a:p>
        </p:txBody>
      </p:sp>
    </p:spTree>
    <p:extLst>
      <p:ext uri="{BB962C8B-B14F-4D97-AF65-F5344CB8AC3E}">
        <p14:creationId xmlns:p14="http://schemas.microsoft.com/office/powerpoint/2010/main" val="3169652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46000-A76E-60D1-37AD-848F11B2A198}"/>
              </a:ext>
            </a:extLst>
          </p:cNvPr>
          <p:cNvSpPr>
            <a:spLocks noGrp="1"/>
          </p:cNvSpPr>
          <p:nvPr>
            <p:ph type="title"/>
          </p:nvPr>
        </p:nvSpPr>
        <p:spPr/>
        <p:txBody>
          <a:bodyPr/>
          <a:lstStyle/>
          <a:p>
            <a:r>
              <a:rPr lang="en-US" dirty="0"/>
              <a:t>Variance Cont..</a:t>
            </a:r>
          </a:p>
        </p:txBody>
      </p:sp>
      <p:sp>
        <p:nvSpPr>
          <p:cNvPr id="3" name="Content Placeholder 2">
            <a:extLst>
              <a:ext uri="{FF2B5EF4-FFF2-40B4-BE49-F238E27FC236}">
                <a16:creationId xmlns:a16="http://schemas.microsoft.com/office/drawing/2014/main" id="{C60E263B-5AE4-27AF-D945-B9CD38330305}"/>
              </a:ext>
            </a:extLst>
          </p:cNvPr>
          <p:cNvSpPr>
            <a:spLocks noGrp="1"/>
          </p:cNvSpPr>
          <p:nvPr>
            <p:ph idx="1"/>
          </p:nvPr>
        </p:nvSpPr>
        <p:spPr/>
        <p:txBody>
          <a:bodyPr/>
          <a:lstStyle/>
          <a:p>
            <a:r>
              <a:rPr lang="en-US" dirty="0"/>
              <a:t>Low Variance (Good Generalization)</a:t>
            </a:r>
          </a:p>
          <a:p>
            <a:r>
              <a:rPr lang="en-US" dirty="0"/>
              <a:t>Definition: The model's predictions are consistent across different training sets.</a:t>
            </a:r>
          </a:p>
          <a:p>
            <a:r>
              <a:rPr lang="en-US" dirty="0"/>
              <a:t>Symptoms: Good performance on both training and test data.</a:t>
            </a:r>
          </a:p>
          <a:p>
            <a:r>
              <a:rPr lang="en-US" dirty="0"/>
              <a:t>Causes: Simpler models or effective regularization. </a:t>
            </a:r>
          </a:p>
        </p:txBody>
      </p:sp>
    </p:spTree>
    <p:extLst>
      <p:ext uri="{BB962C8B-B14F-4D97-AF65-F5344CB8AC3E}">
        <p14:creationId xmlns:p14="http://schemas.microsoft.com/office/powerpoint/2010/main" val="34992196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1E171-1483-3327-00C9-FF69488D63DD}"/>
              </a:ext>
            </a:extLst>
          </p:cNvPr>
          <p:cNvSpPr>
            <a:spLocks noGrp="1"/>
          </p:cNvSpPr>
          <p:nvPr>
            <p:ph type="title"/>
          </p:nvPr>
        </p:nvSpPr>
        <p:spPr/>
        <p:txBody>
          <a:bodyPr/>
          <a:lstStyle/>
          <a:p>
            <a:r>
              <a:rPr lang="en-US" dirty="0"/>
              <a:t>Bias Vs Variance</a:t>
            </a:r>
          </a:p>
        </p:txBody>
      </p:sp>
      <p:pic>
        <p:nvPicPr>
          <p:cNvPr id="4" name="Content Placeholder 3">
            <a:extLst>
              <a:ext uri="{FF2B5EF4-FFF2-40B4-BE49-F238E27FC236}">
                <a16:creationId xmlns:a16="http://schemas.microsoft.com/office/drawing/2014/main" id="{83568B5C-22E7-133D-5F4E-1675C0DF1266}"/>
              </a:ext>
            </a:extLst>
          </p:cNvPr>
          <p:cNvPicPr>
            <a:picLocks noGrp="1" noChangeAspect="1"/>
          </p:cNvPicPr>
          <p:nvPr>
            <p:ph idx="1"/>
          </p:nvPr>
        </p:nvPicPr>
        <p:blipFill>
          <a:blip r:embed="rId2"/>
          <a:stretch>
            <a:fillRect/>
          </a:stretch>
        </p:blipFill>
        <p:spPr>
          <a:xfrm>
            <a:off x="2015624" y="1825625"/>
            <a:ext cx="8160751" cy="4351338"/>
          </a:xfrm>
          <a:prstGeom prst="rect">
            <a:avLst/>
          </a:prstGeom>
        </p:spPr>
      </p:pic>
    </p:spTree>
    <p:extLst>
      <p:ext uri="{BB962C8B-B14F-4D97-AF65-F5344CB8AC3E}">
        <p14:creationId xmlns:p14="http://schemas.microsoft.com/office/powerpoint/2010/main" val="5406183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D05EA-4458-447B-CE74-286988FD42BB}"/>
              </a:ext>
            </a:extLst>
          </p:cNvPr>
          <p:cNvSpPr>
            <a:spLocks noGrp="1"/>
          </p:cNvSpPr>
          <p:nvPr>
            <p:ph type="title"/>
          </p:nvPr>
        </p:nvSpPr>
        <p:spPr/>
        <p:txBody>
          <a:bodyPr/>
          <a:lstStyle/>
          <a:p>
            <a:r>
              <a:rPr lang="en-US" dirty="0"/>
              <a:t>Explain Variance</a:t>
            </a:r>
          </a:p>
        </p:txBody>
      </p:sp>
      <p:sp>
        <p:nvSpPr>
          <p:cNvPr id="3" name="Content Placeholder 2">
            <a:extLst>
              <a:ext uri="{FF2B5EF4-FFF2-40B4-BE49-F238E27FC236}">
                <a16:creationId xmlns:a16="http://schemas.microsoft.com/office/drawing/2014/main" id="{EAF2C347-7988-3659-7B99-D5FC506857AE}"/>
              </a:ext>
            </a:extLst>
          </p:cNvPr>
          <p:cNvSpPr>
            <a:spLocks noGrp="1"/>
          </p:cNvSpPr>
          <p:nvPr>
            <p:ph idx="1"/>
          </p:nvPr>
        </p:nvSpPr>
        <p:spPr/>
        <p:txBody>
          <a:bodyPr/>
          <a:lstStyle/>
          <a:p>
            <a:r>
              <a:rPr lang="en-US" dirty="0"/>
              <a:t>Explained variance is a measure of how much of the total variance in the original dataset is explained by each principal component.</a:t>
            </a:r>
          </a:p>
          <a:p>
            <a:r>
              <a:rPr lang="en-US" dirty="0"/>
              <a:t> The explained variance of a principal component is equal to the eigenvalue associated with that component.</a:t>
            </a:r>
          </a:p>
        </p:txBody>
      </p:sp>
    </p:spTree>
    <p:extLst>
      <p:ext uri="{BB962C8B-B14F-4D97-AF65-F5344CB8AC3E}">
        <p14:creationId xmlns:p14="http://schemas.microsoft.com/office/powerpoint/2010/main" val="23534445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5BD03-695B-B457-5678-66D926242B13}"/>
              </a:ext>
            </a:extLst>
          </p:cNvPr>
          <p:cNvSpPr>
            <a:spLocks noGrp="1"/>
          </p:cNvSpPr>
          <p:nvPr>
            <p:ph type="title"/>
          </p:nvPr>
        </p:nvSpPr>
        <p:spPr/>
        <p:txBody>
          <a:bodyPr/>
          <a:lstStyle/>
          <a:p>
            <a:r>
              <a:rPr lang="en-US" dirty="0"/>
              <a:t>Explained Variance Ratio</a:t>
            </a:r>
          </a:p>
        </p:txBody>
      </p:sp>
      <p:sp>
        <p:nvSpPr>
          <p:cNvPr id="3" name="Content Placeholder 2">
            <a:extLst>
              <a:ext uri="{FF2B5EF4-FFF2-40B4-BE49-F238E27FC236}">
                <a16:creationId xmlns:a16="http://schemas.microsoft.com/office/drawing/2014/main" id="{9BBB68A9-00FB-51F0-03DD-9613F632E34B}"/>
              </a:ext>
            </a:extLst>
          </p:cNvPr>
          <p:cNvSpPr>
            <a:spLocks noGrp="1"/>
          </p:cNvSpPr>
          <p:nvPr>
            <p:ph idx="1"/>
          </p:nvPr>
        </p:nvSpPr>
        <p:spPr/>
        <p:txBody>
          <a:bodyPr/>
          <a:lstStyle/>
          <a:p>
            <a:r>
              <a:rPr lang="en-US" dirty="0"/>
              <a:t>Explained variance ratio is a measure of the proportion of the total variance in the original dataset that is explained by each principal component. </a:t>
            </a:r>
          </a:p>
          <a:p>
            <a:r>
              <a:rPr lang="en-US" dirty="0"/>
              <a:t>The explained variance ratio of a principal component is equal to the ratio of its eigenvalue to the sum of the eigenvalues of all the principal components.</a:t>
            </a:r>
          </a:p>
        </p:txBody>
      </p:sp>
    </p:spTree>
    <p:extLst>
      <p:ext uri="{BB962C8B-B14F-4D97-AF65-F5344CB8AC3E}">
        <p14:creationId xmlns:p14="http://schemas.microsoft.com/office/powerpoint/2010/main" val="280433560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92F05-3338-E059-E27C-6D0B4C7A01B0}"/>
              </a:ext>
            </a:extLst>
          </p:cNvPr>
          <p:cNvSpPr>
            <a:spLocks noGrp="1"/>
          </p:cNvSpPr>
          <p:nvPr>
            <p:ph type="title"/>
          </p:nvPr>
        </p:nvSpPr>
        <p:spPr/>
        <p:txBody>
          <a:bodyPr/>
          <a:lstStyle/>
          <a:p>
            <a:r>
              <a:rPr lang="en-US" dirty="0"/>
              <a:t>Cumulative Explained Variance</a:t>
            </a:r>
          </a:p>
        </p:txBody>
      </p:sp>
      <p:sp>
        <p:nvSpPr>
          <p:cNvPr id="3" name="Content Placeholder 2">
            <a:extLst>
              <a:ext uri="{FF2B5EF4-FFF2-40B4-BE49-F238E27FC236}">
                <a16:creationId xmlns:a16="http://schemas.microsoft.com/office/drawing/2014/main" id="{6ADD2073-E7C2-6696-3215-920201AC097F}"/>
              </a:ext>
            </a:extLst>
          </p:cNvPr>
          <p:cNvSpPr>
            <a:spLocks noGrp="1"/>
          </p:cNvSpPr>
          <p:nvPr>
            <p:ph idx="1"/>
          </p:nvPr>
        </p:nvSpPr>
        <p:spPr>
          <a:xfrm>
            <a:off x="838201" y="1825625"/>
            <a:ext cx="7096432" cy="4351338"/>
          </a:xfrm>
        </p:spPr>
        <p:txBody>
          <a:bodyPr>
            <a:normAutofit lnSpcReduction="10000"/>
          </a:bodyPr>
          <a:lstStyle/>
          <a:p>
            <a:r>
              <a:rPr lang="en-US" dirty="0"/>
              <a:t>The plot above illustrates the cumulative explained variance ratio by the number of principal components. Each point on the curve represents the cumulative proportion of total variance explained as we incrementally add principal components. This visualization can help in determining the optimal number of principal components to retain, balancing the goal of dimensionality reduction with preserving a sufficient amount of information from the original dataset.</a:t>
            </a:r>
          </a:p>
        </p:txBody>
      </p:sp>
      <p:pic>
        <p:nvPicPr>
          <p:cNvPr id="5" name="Picture 4">
            <a:extLst>
              <a:ext uri="{FF2B5EF4-FFF2-40B4-BE49-F238E27FC236}">
                <a16:creationId xmlns:a16="http://schemas.microsoft.com/office/drawing/2014/main" id="{E65B254E-0394-E3CC-2307-79C3005DB110}"/>
              </a:ext>
            </a:extLst>
          </p:cNvPr>
          <p:cNvPicPr>
            <a:picLocks noChangeAspect="1"/>
          </p:cNvPicPr>
          <p:nvPr/>
        </p:nvPicPr>
        <p:blipFill>
          <a:blip r:embed="rId2"/>
          <a:stretch>
            <a:fillRect/>
          </a:stretch>
        </p:blipFill>
        <p:spPr>
          <a:xfrm>
            <a:off x="7934633" y="2306690"/>
            <a:ext cx="4079018" cy="3059262"/>
          </a:xfrm>
          <a:prstGeom prst="rect">
            <a:avLst/>
          </a:prstGeom>
        </p:spPr>
      </p:pic>
    </p:spTree>
    <p:extLst>
      <p:ext uri="{BB962C8B-B14F-4D97-AF65-F5344CB8AC3E}">
        <p14:creationId xmlns:p14="http://schemas.microsoft.com/office/powerpoint/2010/main" val="15011039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4DF46-1AC5-AF32-06D5-9DB14AF82E71}"/>
              </a:ext>
            </a:extLst>
          </p:cNvPr>
          <p:cNvSpPr>
            <a:spLocks noGrp="1"/>
          </p:cNvSpPr>
          <p:nvPr>
            <p:ph type="title"/>
          </p:nvPr>
        </p:nvSpPr>
        <p:spPr/>
        <p:txBody>
          <a:bodyPr/>
          <a:lstStyle/>
          <a:p>
            <a:r>
              <a:rPr lang="en-US" dirty="0"/>
              <a:t>What is Confusion Matrix?</a:t>
            </a:r>
          </a:p>
        </p:txBody>
      </p:sp>
      <p:sp>
        <p:nvSpPr>
          <p:cNvPr id="3" name="Content Placeholder 2">
            <a:extLst>
              <a:ext uri="{FF2B5EF4-FFF2-40B4-BE49-F238E27FC236}">
                <a16:creationId xmlns:a16="http://schemas.microsoft.com/office/drawing/2014/main" id="{297C7863-9503-B6A6-AAD4-F27BBA130D77}"/>
              </a:ext>
            </a:extLst>
          </p:cNvPr>
          <p:cNvSpPr>
            <a:spLocks noGrp="1"/>
          </p:cNvSpPr>
          <p:nvPr>
            <p:ph idx="1"/>
          </p:nvPr>
        </p:nvSpPr>
        <p:spPr/>
        <p:txBody>
          <a:bodyPr/>
          <a:lstStyle/>
          <a:p>
            <a:r>
              <a:rPr lang="en-US" dirty="0"/>
              <a:t>A Confusion Matrix is a table used to evaluate the performance of a classification model.</a:t>
            </a:r>
          </a:p>
          <a:p>
            <a:endParaRPr lang="en-US" dirty="0"/>
          </a:p>
        </p:txBody>
      </p:sp>
      <p:graphicFrame>
        <p:nvGraphicFramePr>
          <p:cNvPr id="4" name="Table 3">
            <a:extLst>
              <a:ext uri="{FF2B5EF4-FFF2-40B4-BE49-F238E27FC236}">
                <a16:creationId xmlns:a16="http://schemas.microsoft.com/office/drawing/2014/main" id="{BE02E002-7D09-03AC-102F-2B657B8F7D24}"/>
              </a:ext>
            </a:extLst>
          </p:cNvPr>
          <p:cNvGraphicFramePr>
            <a:graphicFrameLocks noGrp="1"/>
          </p:cNvGraphicFramePr>
          <p:nvPr/>
        </p:nvGraphicFramePr>
        <p:xfrm>
          <a:off x="838200" y="3406934"/>
          <a:ext cx="10515600" cy="1188720"/>
        </p:xfrm>
        <a:graphic>
          <a:graphicData uri="http://schemas.openxmlformats.org/drawingml/2006/table">
            <a:tbl>
              <a:tblPr/>
              <a:tblGrid>
                <a:gridCol w="3505200">
                  <a:extLst>
                    <a:ext uri="{9D8B030D-6E8A-4147-A177-3AD203B41FA5}">
                      <a16:colId xmlns:a16="http://schemas.microsoft.com/office/drawing/2014/main" val="2763094516"/>
                    </a:ext>
                  </a:extLst>
                </a:gridCol>
                <a:gridCol w="3505200">
                  <a:extLst>
                    <a:ext uri="{9D8B030D-6E8A-4147-A177-3AD203B41FA5}">
                      <a16:colId xmlns:a16="http://schemas.microsoft.com/office/drawing/2014/main" val="3574476849"/>
                    </a:ext>
                  </a:extLst>
                </a:gridCol>
                <a:gridCol w="3505200">
                  <a:extLst>
                    <a:ext uri="{9D8B030D-6E8A-4147-A177-3AD203B41FA5}">
                      <a16:colId xmlns:a16="http://schemas.microsoft.com/office/drawing/2014/main" val="127690514"/>
                    </a:ext>
                  </a:extLst>
                </a:gridCol>
              </a:tblGrid>
              <a:tr h="0">
                <a:tc>
                  <a:txBody>
                    <a:bodyPr/>
                    <a:lstStyle/>
                    <a:p>
                      <a:pPr rtl="0">
                        <a:buNone/>
                      </a:pP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Predicted: Positive</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Predicted: Negative</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91817396"/>
                  </a:ext>
                </a:extLst>
              </a:tr>
              <a:tr h="0">
                <a:tc>
                  <a:txBody>
                    <a:bodyPr/>
                    <a:lstStyle/>
                    <a:p>
                      <a:pPr rtl="0">
                        <a:buNone/>
                      </a:pPr>
                      <a:r>
                        <a:rPr lang="en-US" b="1">
                          <a:solidFill>
                            <a:srgbClr val="1F1F1F"/>
                          </a:solidFill>
                          <a:effectLst/>
                          <a:latin typeface="Google Sans Text"/>
                        </a:rPr>
                        <a:t>Actual: Positive</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True Positive (TP)</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False Negative (FN)</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28249413"/>
                  </a:ext>
                </a:extLst>
              </a:tr>
              <a:tr h="0">
                <a:tc>
                  <a:txBody>
                    <a:bodyPr/>
                    <a:lstStyle/>
                    <a:p>
                      <a:pPr rtl="0">
                        <a:buNone/>
                      </a:pPr>
                      <a:r>
                        <a:rPr lang="en-US" b="1" dirty="0">
                          <a:solidFill>
                            <a:srgbClr val="1F1F1F"/>
                          </a:solidFill>
                          <a:effectLst/>
                          <a:latin typeface="Google Sans Text"/>
                        </a:rPr>
                        <a:t>Actual: Negative</a:t>
                      </a:r>
                      <a:endParaRPr lang="en-US"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False Positive (FP)</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a:solidFill>
                            <a:srgbClr val="1F1F1F"/>
                          </a:solidFill>
                          <a:effectLst/>
                          <a:latin typeface="Google Sans Text"/>
                        </a:rPr>
                        <a:t>True Negative (TN)</a:t>
                      </a:r>
                      <a:endParaRPr lang="en-US"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45013810"/>
                  </a:ext>
                </a:extLst>
              </a:tr>
            </a:tbl>
          </a:graphicData>
        </a:graphic>
      </p:graphicFrame>
    </p:spTree>
    <p:extLst>
      <p:ext uri="{BB962C8B-B14F-4D97-AF65-F5344CB8AC3E}">
        <p14:creationId xmlns:p14="http://schemas.microsoft.com/office/powerpoint/2010/main" val="25390730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2200A-6E0E-F35F-CE68-8E923B2EBF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2D71BB-00DD-F63B-60AE-4DD9B889EA7C}"/>
              </a:ext>
            </a:extLst>
          </p:cNvPr>
          <p:cNvSpPr>
            <a:spLocks noGrp="1"/>
          </p:cNvSpPr>
          <p:nvPr>
            <p:ph idx="1"/>
          </p:nvPr>
        </p:nvSpPr>
        <p:spPr/>
        <p:txBody>
          <a:bodyPr/>
          <a:lstStyle/>
          <a:p>
            <a:r>
              <a:rPr lang="en-US" dirty="0"/>
              <a:t>False Positive (FP): You predicted positive, but it was negative. Also known as a Type I Error or a "False Alarm."</a:t>
            </a:r>
          </a:p>
          <a:p>
            <a:r>
              <a:rPr lang="en-US" dirty="0"/>
              <a:t>False Negative (FN): You predicted negative, but it was positive. Also known as a Type II Error or a "Miss."</a:t>
            </a:r>
          </a:p>
        </p:txBody>
      </p:sp>
    </p:spTree>
    <p:extLst>
      <p:ext uri="{BB962C8B-B14F-4D97-AF65-F5344CB8AC3E}">
        <p14:creationId xmlns:p14="http://schemas.microsoft.com/office/powerpoint/2010/main" val="69453078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E6CD3-E97E-6730-985D-7750BC2E7EF8}"/>
              </a:ext>
            </a:extLst>
          </p:cNvPr>
          <p:cNvSpPr>
            <a:spLocks noGrp="1"/>
          </p:cNvSpPr>
          <p:nvPr>
            <p:ph type="title"/>
          </p:nvPr>
        </p:nvSpPr>
        <p:spPr/>
        <p:txBody>
          <a:bodyPr/>
          <a:lstStyle/>
          <a:p>
            <a:r>
              <a:rPr lang="en-US" dirty="0"/>
              <a:t>What is Recurrent Neural Network?</a:t>
            </a:r>
          </a:p>
        </p:txBody>
      </p:sp>
      <p:sp>
        <p:nvSpPr>
          <p:cNvPr id="3" name="Content Placeholder 2">
            <a:extLst>
              <a:ext uri="{FF2B5EF4-FFF2-40B4-BE49-F238E27FC236}">
                <a16:creationId xmlns:a16="http://schemas.microsoft.com/office/drawing/2014/main" id="{5B1B61EC-ECF2-0DD6-05A9-41A96725E1C7}"/>
              </a:ext>
            </a:extLst>
          </p:cNvPr>
          <p:cNvSpPr>
            <a:spLocks noGrp="1"/>
          </p:cNvSpPr>
          <p:nvPr>
            <p:ph idx="1"/>
          </p:nvPr>
        </p:nvSpPr>
        <p:spPr/>
        <p:txBody>
          <a:bodyPr/>
          <a:lstStyle/>
          <a:p>
            <a:r>
              <a:rPr lang="en-US" dirty="0"/>
              <a:t>An RNN (Recurrent Neural Network) is a type of deep learning model designed for sequential data, like text or time series, that uses internal memory (a "hidden state") to process inputs by considering past information, allowing it to understand context and dependencies within a sequence to make predictions, such as in language translation or speech recognition.</a:t>
            </a:r>
          </a:p>
        </p:txBody>
      </p:sp>
    </p:spTree>
    <p:extLst>
      <p:ext uri="{BB962C8B-B14F-4D97-AF65-F5344CB8AC3E}">
        <p14:creationId xmlns:p14="http://schemas.microsoft.com/office/powerpoint/2010/main" val="31498476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DD0BE-5944-19B6-F240-DF9D342A3745}"/>
              </a:ext>
            </a:extLst>
          </p:cNvPr>
          <p:cNvSpPr>
            <a:spLocks noGrp="1"/>
          </p:cNvSpPr>
          <p:nvPr>
            <p:ph type="title"/>
          </p:nvPr>
        </p:nvSpPr>
        <p:spPr/>
        <p:txBody>
          <a:bodyPr/>
          <a:lstStyle/>
          <a:p>
            <a:r>
              <a:rPr lang="en-US" dirty="0"/>
              <a:t>Recurrent Neural Network</a:t>
            </a:r>
          </a:p>
        </p:txBody>
      </p:sp>
      <p:pic>
        <p:nvPicPr>
          <p:cNvPr id="4" name="Content Placeholder 3">
            <a:extLst>
              <a:ext uri="{FF2B5EF4-FFF2-40B4-BE49-F238E27FC236}">
                <a16:creationId xmlns:a16="http://schemas.microsoft.com/office/drawing/2014/main" id="{BFA52D94-DE7D-8EB3-3676-EB521A06E96B}"/>
              </a:ext>
            </a:extLst>
          </p:cNvPr>
          <p:cNvPicPr>
            <a:picLocks noGrp="1" noChangeAspect="1"/>
          </p:cNvPicPr>
          <p:nvPr>
            <p:ph idx="1"/>
          </p:nvPr>
        </p:nvPicPr>
        <p:blipFill>
          <a:blip r:embed="rId2"/>
          <a:stretch>
            <a:fillRect/>
          </a:stretch>
        </p:blipFill>
        <p:spPr>
          <a:xfrm>
            <a:off x="3156838" y="1825625"/>
            <a:ext cx="5878324" cy="4351338"/>
          </a:xfrm>
          <a:prstGeom prst="rect">
            <a:avLst/>
          </a:prstGeom>
        </p:spPr>
      </p:pic>
    </p:spTree>
    <p:extLst>
      <p:ext uri="{BB962C8B-B14F-4D97-AF65-F5344CB8AC3E}">
        <p14:creationId xmlns:p14="http://schemas.microsoft.com/office/powerpoint/2010/main" val="20904204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B0331-4CD8-E28E-85B3-01D7DCE03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E2899-2D98-18EA-0060-45F9E894AE48}"/>
              </a:ext>
            </a:extLst>
          </p:cNvPr>
          <p:cNvSpPr>
            <a:spLocks noGrp="1"/>
          </p:cNvSpPr>
          <p:nvPr>
            <p:ph type="title"/>
          </p:nvPr>
        </p:nvSpPr>
        <p:spPr/>
        <p:txBody>
          <a:bodyPr/>
          <a:lstStyle/>
          <a:p>
            <a:r>
              <a:rPr lang="en-US" dirty="0"/>
              <a:t>Recurrent Neural Network</a:t>
            </a:r>
          </a:p>
        </p:txBody>
      </p:sp>
      <p:pic>
        <p:nvPicPr>
          <p:cNvPr id="6" name="Content Placeholder 5">
            <a:extLst>
              <a:ext uri="{FF2B5EF4-FFF2-40B4-BE49-F238E27FC236}">
                <a16:creationId xmlns:a16="http://schemas.microsoft.com/office/drawing/2014/main" id="{F155F2A2-152A-7760-6665-A898AC8D3832}"/>
              </a:ext>
            </a:extLst>
          </p:cNvPr>
          <p:cNvPicPr>
            <a:picLocks noGrp="1" noChangeAspect="1"/>
          </p:cNvPicPr>
          <p:nvPr>
            <p:ph idx="1"/>
          </p:nvPr>
        </p:nvPicPr>
        <p:blipFill>
          <a:blip r:embed="rId2"/>
          <a:stretch>
            <a:fillRect/>
          </a:stretch>
        </p:blipFill>
        <p:spPr>
          <a:xfrm>
            <a:off x="1219200" y="2024856"/>
            <a:ext cx="9753600" cy="3952875"/>
          </a:xfrm>
          <a:prstGeom prst="rect">
            <a:avLst/>
          </a:prstGeom>
        </p:spPr>
      </p:pic>
    </p:spTree>
    <p:extLst>
      <p:ext uri="{BB962C8B-B14F-4D97-AF65-F5344CB8AC3E}">
        <p14:creationId xmlns:p14="http://schemas.microsoft.com/office/powerpoint/2010/main" val="42379648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9F093-B620-DB17-21E6-3B0988D32FE2}"/>
              </a:ext>
            </a:extLst>
          </p:cNvPr>
          <p:cNvSpPr>
            <a:spLocks noGrp="1"/>
          </p:cNvSpPr>
          <p:nvPr>
            <p:ph type="title"/>
          </p:nvPr>
        </p:nvSpPr>
        <p:spPr/>
        <p:txBody>
          <a:bodyPr/>
          <a:lstStyle/>
          <a:p>
            <a:r>
              <a:rPr lang="en-US" dirty="0"/>
              <a:t>Types of Recurrent Neural Network</a:t>
            </a:r>
          </a:p>
        </p:txBody>
      </p:sp>
      <p:pic>
        <p:nvPicPr>
          <p:cNvPr id="4" name="Content Placeholder 3">
            <a:extLst>
              <a:ext uri="{FF2B5EF4-FFF2-40B4-BE49-F238E27FC236}">
                <a16:creationId xmlns:a16="http://schemas.microsoft.com/office/drawing/2014/main" id="{7A1E6847-6404-2B56-6C93-AE6BB10C8B85}"/>
              </a:ext>
            </a:extLst>
          </p:cNvPr>
          <p:cNvPicPr>
            <a:picLocks noGrp="1" noChangeAspect="1"/>
          </p:cNvPicPr>
          <p:nvPr>
            <p:ph idx="1"/>
          </p:nvPr>
        </p:nvPicPr>
        <p:blipFill>
          <a:blip r:embed="rId2"/>
          <a:stretch>
            <a:fillRect/>
          </a:stretch>
        </p:blipFill>
        <p:spPr>
          <a:xfrm>
            <a:off x="3728428" y="1825625"/>
            <a:ext cx="4735143" cy="4351338"/>
          </a:xfrm>
          <a:prstGeom prst="rect">
            <a:avLst/>
          </a:prstGeom>
        </p:spPr>
      </p:pic>
    </p:spTree>
    <p:extLst>
      <p:ext uri="{BB962C8B-B14F-4D97-AF65-F5344CB8AC3E}">
        <p14:creationId xmlns:p14="http://schemas.microsoft.com/office/powerpoint/2010/main" val="293503515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D7521-27CE-B8BB-F0D9-C045CFF1E97F}"/>
              </a:ext>
            </a:extLst>
          </p:cNvPr>
          <p:cNvSpPr>
            <a:spLocks noGrp="1"/>
          </p:cNvSpPr>
          <p:nvPr>
            <p:ph type="title"/>
          </p:nvPr>
        </p:nvSpPr>
        <p:spPr/>
        <p:txBody>
          <a:bodyPr/>
          <a:lstStyle/>
          <a:p>
            <a:r>
              <a:rPr lang="en-US" dirty="0"/>
              <a:t>Recurrent Network Applications</a:t>
            </a:r>
          </a:p>
        </p:txBody>
      </p:sp>
      <p:pic>
        <p:nvPicPr>
          <p:cNvPr id="4" name="Content Placeholder 3">
            <a:extLst>
              <a:ext uri="{FF2B5EF4-FFF2-40B4-BE49-F238E27FC236}">
                <a16:creationId xmlns:a16="http://schemas.microsoft.com/office/drawing/2014/main" id="{1BEF3836-A646-EF87-C3A3-47E0F6328EEB}"/>
              </a:ext>
            </a:extLst>
          </p:cNvPr>
          <p:cNvPicPr>
            <a:picLocks noGrp="1" noChangeAspect="1"/>
          </p:cNvPicPr>
          <p:nvPr>
            <p:ph idx="1"/>
          </p:nvPr>
        </p:nvPicPr>
        <p:blipFill>
          <a:blip r:embed="rId2"/>
          <a:stretch>
            <a:fillRect/>
          </a:stretch>
        </p:blipFill>
        <p:spPr>
          <a:xfrm>
            <a:off x="2524125" y="1858169"/>
            <a:ext cx="7143750" cy="4286250"/>
          </a:xfrm>
          <a:prstGeom prst="rect">
            <a:avLst/>
          </a:prstGeom>
        </p:spPr>
      </p:pic>
    </p:spTree>
    <p:extLst>
      <p:ext uri="{BB962C8B-B14F-4D97-AF65-F5344CB8AC3E}">
        <p14:creationId xmlns:p14="http://schemas.microsoft.com/office/powerpoint/2010/main" val="18407105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5B4BB-77AA-1F1B-597C-07DD1EFD70AD}"/>
              </a:ext>
            </a:extLst>
          </p:cNvPr>
          <p:cNvSpPr>
            <a:spLocks noGrp="1"/>
          </p:cNvSpPr>
          <p:nvPr>
            <p:ph type="title"/>
          </p:nvPr>
        </p:nvSpPr>
        <p:spPr/>
        <p:txBody>
          <a:bodyPr/>
          <a:lstStyle/>
          <a:p>
            <a:r>
              <a:rPr lang="en-US" dirty="0"/>
              <a:t>What is LSTM?</a:t>
            </a:r>
          </a:p>
        </p:txBody>
      </p:sp>
      <p:sp>
        <p:nvSpPr>
          <p:cNvPr id="3" name="Content Placeholder 2">
            <a:extLst>
              <a:ext uri="{FF2B5EF4-FFF2-40B4-BE49-F238E27FC236}">
                <a16:creationId xmlns:a16="http://schemas.microsoft.com/office/drawing/2014/main" id="{C1465BB8-81FF-6E25-4443-6F9BD7AA4B4D}"/>
              </a:ext>
            </a:extLst>
          </p:cNvPr>
          <p:cNvSpPr>
            <a:spLocks noGrp="1"/>
          </p:cNvSpPr>
          <p:nvPr>
            <p:ph idx="1"/>
          </p:nvPr>
        </p:nvSpPr>
        <p:spPr/>
        <p:txBody>
          <a:bodyPr/>
          <a:lstStyle/>
          <a:p>
            <a:r>
              <a:rPr lang="en-US" dirty="0"/>
              <a:t>Long Short-Term Memory (LSTM) is an enhanced version of the Recurrent Neural Network (RNN) </a:t>
            </a:r>
          </a:p>
          <a:p>
            <a:r>
              <a:rPr lang="en-US" dirty="0"/>
              <a:t>designed by Hochreiter and </a:t>
            </a:r>
            <a:r>
              <a:rPr lang="en-US" dirty="0" err="1"/>
              <a:t>Schmidhuber</a:t>
            </a:r>
            <a:r>
              <a:rPr lang="en-US" dirty="0"/>
              <a:t>. </a:t>
            </a:r>
          </a:p>
          <a:p>
            <a:r>
              <a:rPr lang="en-US" dirty="0"/>
              <a:t>LSTMs can capture long-term dependencies in sequential data making them ideal for tasks like language translation, speech recognition and time series forecasting.</a:t>
            </a:r>
          </a:p>
          <a:p>
            <a:r>
              <a:rPr lang="en-US" dirty="0"/>
              <a:t>LSTMs introduce a memory cell that holds information over extended periods addressing the challenge of learning long-term dependencies.</a:t>
            </a:r>
          </a:p>
        </p:txBody>
      </p:sp>
    </p:spTree>
    <p:extLst>
      <p:ext uri="{BB962C8B-B14F-4D97-AF65-F5344CB8AC3E}">
        <p14:creationId xmlns:p14="http://schemas.microsoft.com/office/powerpoint/2010/main" val="389166353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2A652-434A-6C1A-6EF3-BB3D1F44EFE5}"/>
              </a:ext>
            </a:extLst>
          </p:cNvPr>
          <p:cNvSpPr>
            <a:spLocks noGrp="1"/>
          </p:cNvSpPr>
          <p:nvPr>
            <p:ph type="title"/>
          </p:nvPr>
        </p:nvSpPr>
        <p:spPr/>
        <p:txBody>
          <a:bodyPr/>
          <a:lstStyle/>
          <a:p>
            <a:r>
              <a:rPr lang="en-US" dirty="0"/>
              <a:t>LSTM </a:t>
            </a:r>
            <a:r>
              <a:rPr lang="en-US" dirty="0" err="1"/>
              <a:t>Architecutre</a:t>
            </a:r>
            <a:r>
              <a:rPr lang="en-US" dirty="0"/>
              <a:t> </a:t>
            </a:r>
          </a:p>
        </p:txBody>
      </p:sp>
      <p:sp>
        <p:nvSpPr>
          <p:cNvPr id="3" name="Content Placeholder 2">
            <a:extLst>
              <a:ext uri="{FF2B5EF4-FFF2-40B4-BE49-F238E27FC236}">
                <a16:creationId xmlns:a16="http://schemas.microsoft.com/office/drawing/2014/main" id="{D10A2C73-3CC3-2A76-1161-197397E1DAD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160382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TotalTime>
  <Words>3562</Words>
  <Application>Microsoft Office PowerPoint</Application>
  <PresentationFormat>Widescreen</PresentationFormat>
  <Paragraphs>308</Paragraphs>
  <Slides>92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Aptos</vt:lpstr>
      <vt:lpstr>Aptos Display</vt:lpstr>
      <vt:lpstr>Arial</vt:lpstr>
      <vt:lpstr>Google Sans Text</vt:lpstr>
      <vt:lpstr>Office Theme</vt:lpstr>
      <vt:lpstr>NN and ML Lab</vt:lpstr>
      <vt:lpstr>What is Exploratory Data Analysis?</vt:lpstr>
      <vt:lpstr>Why Exploratory Data Analysis Important?</vt:lpstr>
      <vt:lpstr>Types of Exploratory Data Analysis?</vt:lpstr>
      <vt:lpstr>What is Univariate Analysis?</vt:lpstr>
      <vt:lpstr>Univariate Data Analysis</vt:lpstr>
      <vt:lpstr>Bi-variate Analysis</vt:lpstr>
      <vt:lpstr>Bivariate analysis techniques</vt:lpstr>
      <vt:lpstr>Scatter Plot</vt:lpstr>
      <vt:lpstr>Scatter Plot Cont..</vt:lpstr>
      <vt:lpstr>Correlation coefficient</vt:lpstr>
      <vt:lpstr>Cross Tabulation </vt:lpstr>
      <vt:lpstr>Line Graph</vt:lpstr>
      <vt:lpstr>Covariance</vt:lpstr>
      <vt:lpstr>Multivariate Analysis</vt:lpstr>
      <vt:lpstr>Multivariate Analysis Techniques</vt:lpstr>
      <vt:lpstr>Pair Plot</vt:lpstr>
      <vt:lpstr>Principal Component Analysis</vt:lpstr>
      <vt:lpstr>Can one feature belong to multiple component?</vt:lpstr>
      <vt:lpstr>Classification Report Parameters</vt:lpstr>
      <vt:lpstr>Precision</vt:lpstr>
      <vt:lpstr>Recall (Sensitivity)</vt:lpstr>
      <vt:lpstr>F1-Score</vt:lpstr>
      <vt:lpstr>Support</vt:lpstr>
      <vt:lpstr>Averaging Metrics (The Bottom Rows)</vt:lpstr>
      <vt:lpstr>Specificity</vt:lpstr>
      <vt:lpstr>Example Interpretation</vt:lpstr>
      <vt:lpstr>Spatial Analysis</vt:lpstr>
      <vt:lpstr>Time Series Analysis</vt:lpstr>
      <vt:lpstr>Violin Plots</vt:lpstr>
      <vt:lpstr>Pearson’s correlation coefficients</vt:lpstr>
      <vt:lpstr>Spearman’s rank correlation</vt:lpstr>
      <vt:lpstr>Lab 05</vt:lpstr>
      <vt:lpstr>What is a Perceptron?</vt:lpstr>
      <vt:lpstr>Single Layer Perceptron</vt:lpstr>
      <vt:lpstr>Mathematical Model of Perceptron</vt:lpstr>
      <vt:lpstr>A Multilayer Perceptron (MLP)</vt:lpstr>
      <vt:lpstr>PowerPoint Presentation</vt:lpstr>
      <vt:lpstr>Key components of MLP</vt:lpstr>
      <vt:lpstr>Input Layer</vt:lpstr>
      <vt:lpstr>Weighted Connections and Biases</vt:lpstr>
      <vt:lpstr>Hidden Layers</vt:lpstr>
      <vt:lpstr>PowerPoint Presentation</vt:lpstr>
      <vt:lpstr>Activation Function</vt:lpstr>
      <vt:lpstr>Forward Propagation</vt:lpstr>
      <vt:lpstr>PowerPoint Presentation</vt:lpstr>
      <vt:lpstr>Output Layer</vt:lpstr>
      <vt:lpstr>Backpropagation and Learning</vt:lpstr>
      <vt:lpstr>PowerPoint Presentation</vt:lpstr>
      <vt:lpstr>Iteration and Convergence</vt:lpstr>
      <vt:lpstr>Applications of MLP</vt:lpstr>
      <vt:lpstr>Source</vt:lpstr>
      <vt:lpstr>What are outlier?</vt:lpstr>
      <vt:lpstr>What are outlier?</vt:lpstr>
      <vt:lpstr>Why Outliers Occur?</vt:lpstr>
      <vt:lpstr>Why Removing Outliers is Necessary?</vt:lpstr>
      <vt:lpstr>Why Removing Outliers Is Necessary?</vt:lpstr>
      <vt:lpstr>Why Removing Outliers Is Necessary?</vt:lpstr>
      <vt:lpstr>Outliers Identification using Statistical Methods</vt:lpstr>
      <vt:lpstr>Types of outliers</vt:lpstr>
      <vt:lpstr>What is Global Outliers?</vt:lpstr>
      <vt:lpstr>Collective Outliers</vt:lpstr>
      <vt:lpstr>Contextual Outliers</vt:lpstr>
      <vt:lpstr>Box Plots</vt:lpstr>
      <vt:lpstr>Z-Score</vt:lpstr>
      <vt:lpstr>IQR Method</vt:lpstr>
      <vt:lpstr>How to handle Outliers in data?</vt:lpstr>
      <vt:lpstr>When to Drop of Keep Outliers</vt:lpstr>
      <vt:lpstr>When you should drop outliers</vt:lpstr>
      <vt:lpstr>When you should not drop outliers</vt:lpstr>
      <vt:lpstr>What is Dimension Reduction?</vt:lpstr>
      <vt:lpstr>Dimensionality Reduction</vt:lpstr>
      <vt:lpstr>Key Goals and Benefits of Dimensionality Reduction</vt:lpstr>
      <vt:lpstr>Common Approaches of Dimensionality Reduction</vt:lpstr>
      <vt:lpstr>Dimensionality Reduction Techniques</vt:lpstr>
      <vt:lpstr>Dimensionality Reduction Techniques Cont..</vt:lpstr>
      <vt:lpstr>What is variance?</vt:lpstr>
      <vt:lpstr>Variance Cont..</vt:lpstr>
      <vt:lpstr>Variance Cont..</vt:lpstr>
      <vt:lpstr>Bias Vs Variance</vt:lpstr>
      <vt:lpstr>Explain Variance</vt:lpstr>
      <vt:lpstr>Explained Variance Ratio</vt:lpstr>
      <vt:lpstr>Cumulative Explained Variance</vt:lpstr>
      <vt:lpstr>What is Confusion Matrix?</vt:lpstr>
      <vt:lpstr>PowerPoint Presentation</vt:lpstr>
      <vt:lpstr>What is Recurrent Neural Network?</vt:lpstr>
      <vt:lpstr>Recurrent Neural Network</vt:lpstr>
      <vt:lpstr>Recurrent Neural Network</vt:lpstr>
      <vt:lpstr>Types of Recurrent Neural Network</vt:lpstr>
      <vt:lpstr>Recurrent Network Applications</vt:lpstr>
      <vt:lpstr>What is LSTM?</vt:lpstr>
      <vt:lpstr>LSTM Architecutre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Sabbir Hasan</dc:creator>
  <cp:lastModifiedBy>Sabbir Hasan</cp:lastModifiedBy>
  <cp:revision>128</cp:revision>
  <dcterms:created xsi:type="dcterms:W3CDTF">2026-01-20T02:09:13Z</dcterms:created>
  <dcterms:modified xsi:type="dcterms:W3CDTF">2026-01-20T21:00:39Z</dcterms:modified>
</cp:coreProperties>
</file>